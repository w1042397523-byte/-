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301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8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等线"/>
                <a:ea typeface="等线"/>
                <a:cs typeface="等线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等线"/>
                <a:ea typeface="等线"/>
                <a:cs typeface="等线"/>
              </a:defRPr>
            </a:lvl1pPr>
          </a:lstStyle>
          <a:p>
            <a:fld id="{5282F153-3F37-0F45-9E97-73ACFA13230C}" type="datetimeFigureOut">
              <a:rPr lang="en-US">
                <a:latin typeface="等线"/>
                <a:ea typeface="等线"/>
                <a:cs typeface="等线"/>
              </a:rPr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等线"/>
                <a:ea typeface="等线"/>
                <a:cs typeface="等线"/>
              </a:rPr>
              <a:t>Click to edit Master text styles</a:t>
            </a:r>
            <a:endParaRPr lang="en-US"/>
          </a:p>
          <a:p>
            <a:pPr lvl="1"/>
            <a:r>
              <a:rPr lang="en-US">
                <a:latin typeface="等线"/>
                <a:ea typeface="等线"/>
                <a:cs typeface="等线"/>
              </a:rPr>
              <a:t>Second level</a:t>
            </a:r>
            <a:endParaRPr lang="en-US"/>
          </a:p>
          <a:p>
            <a:pPr lvl="2"/>
            <a:r>
              <a:rPr lang="en-US">
                <a:latin typeface="等线"/>
                <a:ea typeface="等线"/>
                <a:cs typeface="等线"/>
              </a:rPr>
              <a:t>Third level</a:t>
            </a:r>
            <a:endParaRPr lang="en-US"/>
          </a:p>
          <a:p>
            <a:pPr lvl="3"/>
            <a:r>
              <a:rPr lang="en-US">
                <a:latin typeface="等线"/>
                <a:ea typeface="等线"/>
                <a:cs typeface="等线"/>
              </a:rPr>
              <a:t>Fourth level</a:t>
            </a:r>
            <a:endParaRPr lang="en-US"/>
          </a:p>
          <a:p>
            <a:pPr lvl="4"/>
            <a:r>
              <a:rPr lang="en-US">
                <a:latin typeface="等线"/>
                <a:ea typeface="等线"/>
                <a:cs typeface="等线"/>
              </a:rPr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等线"/>
                <a:ea typeface="等线"/>
                <a:cs typeface="等线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等线"/>
                <a:ea typeface="等线"/>
                <a:cs typeface="等线"/>
              </a:defRPr>
            </a:lvl1pPr>
          </a:lstStyle>
          <a:p>
            <a:fld id="{CE5E9CC1-C706-0F49-92D6-E571CC5EEA8F}" type="slidenum">
              <a:rPr lang="en-US">
                <a:latin typeface="等线"/>
                <a:ea typeface="等线"/>
                <a:cs typeface="等线"/>
              </a:r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等线"/>
        <a:ea typeface="等线"/>
        <a:cs typeface="等线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等线"/>
        <a:ea typeface="等线"/>
        <a:cs typeface="等线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等线"/>
        <a:ea typeface="等线"/>
        <a:cs typeface="等线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等线"/>
        <a:ea typeface="等线"/>
        <a:cs typeface="等线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等线"/>
        <a:ea typeface="等线"/>
        <a:cs typeface="等线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等线"/>
        <a:ea typeface="等线"/>
        <a:cs typeface="等线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等线"/>
        <a:ea typeface="等线"/>
        <a:cs typeface="等线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等线"/>
        <a:ea typeface="等线"/>
        <a:cs typeface="等线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等线"/>
        <a:ea typeface="等线"/>
        <a:cs typeface="等线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5240">
            <a:solidFill>
              <a:srgbClr val="D7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92240"/>
            <a:ext cx="4206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3A7"/>
                </a:solidFill>
                <a:latin typeface="等线"/>
                <a:ea typeface="等线"/>
                <a:cs typeface="等线"/>
              </a:rPr>
              <a:t>软件需求分析原理与实践｜第6组</a:t>
            </a:r>
            <a:endParaRPr lang="en-US" sz="9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等线"/>
          <a:ea typeface="等线"/>
          <a:cs typeface="等线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等线"/>
          <a:ea typeface="等线"/>
          <a:cs typeface="等线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等线"/>
          <a:ea typeface="等线"/>
          <a:cs typeface="等线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/>
          <a:ea typeface="等线"/>
          <a:cs typeface="等线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等线"/>
          <a:ea typeface="等线"/>
          <a:cs typeface="等线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等线"/>
          <a:ea typeface="等线"/>
          <a:cs typeface="等线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等线"/>
          <a:ea typeface="等线"/>
          <a:cs typeface="等线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等线"/>
          <a:ea typeface="等线"/>
          <a:cs typeface="等线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等线"/>
          <a:ea typeface="等线"/>
          <a:cs typeface="等线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等线"/>
          <a:ea typeface="等线"/>
          <a:cs typeface="等线"/>
        </a:defRPr>
      </a:lvl9pPr>
    </p:bodyStyle>
    <p:otherStyle>
      <a:defPPr>
        <a:defRPr lang="en-US">
          <a:latin typeface="等线"/>
          <a:ea typeface="等线"/>
          <a:cs typeface="等线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等线"/>
          <a:ea typeface="等线"/>
          <a:cs typeface="等线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等线"/>
          <a:ea typeface="等线"/>
          <a:cs typeface="等线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等线"/>
          <a:ea typeface="等线"/>
          <a:cs typeface="等线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等线"/>
          <a:ea typeface="等线"/>
          <a:cs typeface="等线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等线"/>
          <a:ea typeface="等线"/>
          <a:cs typeface="等线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等线"/>
          <a:ea typeface="等线"/>
          <a:cs typeface="等线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等线"/>
          <a:ea typeface="等线"/>
          <a:cs typeface="等线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等线"/>
          <a:ea typeface="等线"/>
          <a:cs typeface="等线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等线"/>
          <a:ea typeface="等线"/>
          <a:cs typeface="等线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ssets/bsc.jpg"/>
          <p:cNvPicPr>
            <a:picLocks noChangeAspect="1"/>
          </p:cNvPicPr>
          <p:nvPr/>
        </p:nvPicPr>
        <p:blipFill>
          <a:blip r:embed="rId2"/>
          <a:srcRect l="10495" r="1049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F">
              <a:alpha val="82000"/>
            </a:srgbClr>
          </a:solidFill>
          <a:ln w="12700">
            <a:solidFill>
              <a:srgbClr val="06182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987552"/>
            <a:ext cx="5074920" cy="3950208"/>
          </a:xfrm>
          <a:prstGeom prst="roundRect">
            <a:avLst>
              <a:gd name="adj" fmla="val 2778"/>
            </a:avLst>
          </a:prstGeom>
          <a:solidFill>
            <a:srgbClr val="0C2244">
              <a:alpha val="82000"/>
            </a:srgbClr>
          </a:solidFill>
          <a:ln w="15240">
            <a:solidFill>
              <a:srgbClr val="62B2FF">
                <a:alpha val="5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" y="1417320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超算中心运营管理门户网站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D9ECFF"/>
                </a:solidFill>
                <a:latin typeface="等线"/>
                <a:ea typeface="等线"/>
                <a:cs typeface="等线"/>
              </a:rPr>
              <a:t>需求变更管理里程碑汇报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22960" y="2487168"/>
            <a:ext cx="25603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9FF"/>
                </a:solidFill>
                <a:latin typeface="等线"/>
                <a:ea typeface="等线"/>
                <a:cs typeface="等线"/>
              </a:rPr>
              <a:t>课程：软件需求分析原理与实践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E9FF"/>
                </a:solidFill>
                <a:latin typeface="等线"/>
                <a:ea typeface="等线"/>
                <a:cs typeface="等线"/>
              </a:rPr>
              <a:t>第6组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3346704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6D6FF"/>
                </a:solidFill>
                <a:latin typeface="等线"/>
                <a:ea typeface="等线"/>
                <a:cs typeface="等线"/>
              </a:rPr>
              <a:t>关键词：SRS基线｜二次客户访谈｜RC-001｜CCB｜变更甘特图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822960" y="3730752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围绕“资源申请智能预审与排队时间预估”完成需求变更管理闭环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6400800" y="987552"/>
            <a:ext cx="2304288" cy="1426464"/>
          </a:xfrm>
          <a:prstGeom prst="roundRect">
            <a:avLst>
              <a:gd name="adj" fmla="val 641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CBE2FF"/>
            </a:solidFill>
            <a:prstDash val="solid"/>
          </a:ln>
        </p:spPr>
      </p:sp>
      <p:pic>
        <p:nvPicPr>
          <p:cNvPr id="11" name="Image 1" descr="/mnt/data/assets/tap_home.png"/>
          <p:cNvPicPr>
            <a:picLocks noChangeAspect="1"/>
          </p:cNvPicPr>
          <p:nvPr/>
        </p:nvPicPr>
        <p:blipFill>
          <a:blip r:embed="rId3"/>
          <a:srcRect l="3621" r="3621"/>
          <a:stretch>
            <a:fillRect/>
          </a:stretch>
        </p:blipFill>
        <p:spPr>
          <a:xfrm>
            <a:off x="6492240" y="1069848"/>
            <a:ext cx="2121408" cy="12618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 rot="-180000">
            <a:off x="8549640" y="196596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CBE2FF"/>
            </a:solidFill>
            <a:prstDash val="solid"/>
          </a:ln>
        </p:spPr>
      </p:sp>
      <p:pic>
        <p:nvPicPr>
          <p:cNvPr id="13" name="Image 2" descr="/mnt/data/assets/ms_dashboard.png"/>
          <p:cNvPicPr>
            <a:picLocks noChangeAspect="1"/>
          </p:cNvPicPr>
          <p:nvPr/>
        </p:nvPicPr>
        <p:blipFill>
          <a:blip r:embed="rId4"/>
          <a:srcRect t="11905" b="11905"/>
          <a:stretch>
            <a:fillRect/>
          </a:stretch>
        </p:blipFill>
        <p:spPr>
          <a:xfrm>
            <a:off x="8668512" y="2084832"/>
            <a:ext cx="2304288" cy="131673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 rot="120000">
            <a:off x="6903720" y="3154680"/>
            <a:ext cx="2395728" cy="1755648"/>
          </a:xfrm>
          <a:prstGeom prst="roundRect">
            <a:avLst>
              <a:gd name="adj" fmla="val 5208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CBE2FF"/>
            </a:solidFill>
            <a:prstDash val="solid"/>
          </a:ln>
        </p:spPr>
      </p:sp>
      <p:pic>
        <p:nvPicPr>
          <p:cNvPr id="15" name="Image 3" descr="/mnt/data/assets/xfinity_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5780" y="3291840"/>
            <a:ext cx="1162465" cy="14630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46520" y="553212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0D2A52">
              <a:alpha val="82000"/>
            </a:srgbClr>
          </a:solidFill>
          <a:ln w="10160">
            <a:solidFill>
              <a:srgbClr val="62B2FF">
                <a:alpha val="60000"/>
              </a:srgbClr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629400" y="5660136"/>
            <a:ext cx="4846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汇报重点：变更从哪里来、影响了什么、谁决策、怎么追踪、后续如何执行</a:t>
            </a:r>
            <a:endParaRPr lang="en-US" sz="980" dirty="0"/>
          </a:p>
        </p:txBody>
      </p:sp>
      <p:sp>
        <p:nvSpPr>
          <p:cNvPr id="19" name="Text 12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BFF"/>
                </a:solidFill>
                <a:latin typeface="等线"/>
                <a:ea typeface="等线"/>
                <a:cs typeface="等线"/>
              </a:rPr>
              <a:t>1</a:t>
            </a:r>
            <a:endParaRPr lang="en-US" sz="900" dirty="0"/>
          </a:p>
        </p:txBody>
      </p:sp>
      <p:sp>
        <p:nvSpPr>
          <p:cNvPr id="18" name="Text 4"/>
          <p:cNvSpPr/>
          <p:nvPr/>
        </p:nvSpPr>
        <p:spPr>
          <a:xfrm>
            <a:off x="822960" y="4169410"/>
            <a:ext cx="2767965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50" dirty="0">
                <a:solidFill>
                  <a:schemeClr val="bg1"/>
                </a:solidFill>
                <a:latin typeface="等线"/>
                <a:ea typeface="等线"/>
                <a:cs typeface="等线"/>
              </a:rPr>
              <a:t>吴易骏 肖泓宇 蒋长麟 陈许恺 王涛</a:t>
            </a:r>
            <a:endParaRPr lang="zh-CN" altLang="en-US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目录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结构总览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170432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1335024"/>
            <a:ext cx="320040" cy="32004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394460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16736" y="1335024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阶段背景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16736" y="1609344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SRS基线、评审表要求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6245352" y="1170432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9944" y="1335024"/>
            <a:ext cx="320040" cy="3200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1394460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48856" y="1335024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变更来源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48856" y="1609344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二次客户访谈与调研发现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13232" y="2340864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" y="2505456"/>
            <a:ext cx="320040" cy="3200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256489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16736" y="250545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变更内容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16736" y="2779776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RC-001申请、拆解与优先级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245352" y="2340864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9944" y="2505456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256489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48856" y="250545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影响分析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48856" y="2779776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SRS、原型、测试、手册、计划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713232" y="3511296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77824" y="3675888"/>
            <a:ext cx="320040" cy="32004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373532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05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316736" y="367588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CCB与需求管理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16736" y="3950208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组织、人选、决策、跟踪矩阵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245352" y="3511296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9944" y="3675888"/>
            <a:ext cx="320040" cy="3200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373532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06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48856" y="367588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变更阶段甘特图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48856" y="3950208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任务顺序、依赖、里程碑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713232" y="4681728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77824" y="4846320"/>
            <a:ext cx="320040" cy="3200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4905756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07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316736" y="4846320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收尾信息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16736" y="5120640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分工、评分、参考资料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6245352" y="4681728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9944" y="4846320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9944" y="4905756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08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48856" y="4846320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答辩总结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48856" y="5120640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变更管理闭环结论</a:t>
            </a:r>
            <a:endParaRPr lang="en-US" sz="1030" dirty="0"/>
          </a:p>
        </p:txBody>
      </p:sp>
      <p:sp>
        <p:nvSpPr>
          <p:cNvPr id="48" name="Text 4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阶段定位与成功标准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背景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76656" y="1051560"/>
            <a:ext cx="3657600" cy="4526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161288"/>
            <a:ext cx="33284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本阶段目标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1417320"/>
            <a:ext cx="3328416" cy="40690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在SRS已经通过评审并形成基线后，对用户需求变化进行受控管理，完成申请、分析、决策、计划与归档。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051560"/>
            <a:ext cx="2148840" cy="14630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80160"/>
            <a:ext cx="1874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目标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来源可信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通过二次客户访谈说明变更不是凭空产生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949440" y="105156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051560"/>
            <a:ext cx="2148840" cy="1463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280160"/>
            <a:ext cx="1874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目标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15544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影响清楚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说明是否冲突、是否影响原型/测试/手册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326880" y="105156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1051560"/>
            <a:ext cx="2148840" cy="14630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4040" y="1280160"/>
            <a:ext cx="1874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目标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64040" y="15544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决策受控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设立CCB，形成会议纪要和决策记录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572000" y="260604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606040"/>
            <a:ext cx="2148840" cy="14630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834640"/>
            <a:ext cx="1874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目标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10896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计划可执行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给出工作量、依赖关系和变更阶段甘特图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949440" y="260604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2606040"/>
            <a:ext cx="2148840" cy="146304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2834640"/>
            <a:ext cx="1874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目标 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86600" y="310896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追踪完整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用需求管理台账和跟踪矩阵连接来源、SRS、原型、测试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9326880" y="260604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0" y="2606040"/>
            <a:ext cx="2148840" cy="146304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64040" y="2834640"/>
            <a:ext cx="1874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目标 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64040" y="310896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评审可量化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对照需求变更管理评审表18项逐项留证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572000" y="4251960"/>
            <a:ext cx="6903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36592" y="4361688"/>
            <a:ext cx="65745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成功判定（评审视角）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736592" y="4617720"/>
            <a:ext cx="6574536" cy="8686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① 变更来源、申请、可行性、影响分析齐备；② CCB、会议、台账、甘特图可追溯；③ 五人分工、评分和阶段复盘完整。</a:t>
            </a:r>
            <a:endParaRPr lang="zh-CN" altLang="en-US" sz="1040" dirty="0">
              <a:solidFill>
                <a:srgbClr val="1E2A3A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评审表18项覆盖路径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97"/>
                </a:solidFill>
                <a:latin typeface="等线"/>
                <a:ea typeface="等线"/>
                <a:cs typeface="等线"/>
              </a:rPr>
              <a:t>对应《评审表-需求变更管理》：把检查项转化为证据链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证据分组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" y="1143000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43000"/>
            <a:ext cx="128016" cy="87782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89304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里程碑材料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2231136" y="1289304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汇报PPT、讲稿、提交包目录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373368" y="1143000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1143000"/>
            <a:ext cx="128016" cy="8778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289304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会议与评审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7854696" y="1289304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CCB邀请函、会议纪要、内部评审整改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49808" y="2212848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212848"/>
            <a:ext cx="128016" cy="87782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359152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配置管理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231136" y="2359152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版本记录、统一归档、需求基线说明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373368" y="2212848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3368" y="2212848"/>
            <a:ext cx="128016" cy="87782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359152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需求管理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7854696" y="2359152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轻量化需求台账、跟踪矩阵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49808" y="3282696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3282696"/>
            <a:ext cx="128016" cy="877824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429000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变更分析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2231136" y="3429000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基线冲突、原型、测试、手册、优先级、可行性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6373368" y="3282696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3368" y="3282696"/>
            <a:ext cx="128016" cy="877824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429000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CCB决策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7854696" y="3429000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组织人选、设置理由、投票记录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749808" y="4352544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4352544"/>
            <a:ext cx="128016" cy="87782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4498848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项目计划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2231136" y="4498848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任务顺序、依赖、工作量、甘特图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6373368" y="4352544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3368" y="4352544"/>
            <a:ext cx="128016" cy="8778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4498848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团队复盘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7854696" y="4498848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Team Building、成员评价、绩效排序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749808" y="5623560"/>
            <a:ext cx="10863072" cy="402336"/>
          </a:xfrm>
          <a:prstGeom prst="roundRect">
            <a:avLst>
              <a:gd name="adj" fmla="val 15909"/>
            </a:avLst>
          </a:prstGeom>
          <a:solidFill>
            <a:srgbClr val="EEF5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" y="5733288"/>
            <a:ext cx="104973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核心口径：每一项评审要求都能回到一份文档、一条记录或一张表。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二次客户访谈：变更从哪里来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调研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495" y="1060450"/>
            <a:ext cx="3657600" cy="514985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170432"/>
            <a:ext cx="33284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访谈对象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1481328"/>
            <a:ext cx="32461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559052"/>
            <a:ext cx="155448" cy="1554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9576" y="1552651"/>
            <a:ext cx="28620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普通用户代表：提交前不知道材料是否完整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2093976"/>
            <a:ext cx="32461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171700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9576" y="2165299"/>
            <a:ext cx="28620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PI代表：审批时缺少配额和申请合理性依据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2706624"/>
            <a:ext cx="32461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784348"/>
            <a:ext cx="155448" cy="155448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9576" y="2777947"/>
            <a:ext cx="28620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中心管理员代表：重复解释无效申请，人工沟通成本高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3319272"/>
            <a:ext cx="32461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3396996"/>
            <a:ext cx="155448" cy="15544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9576" y="3390595"/>
            <a:ext cx="28620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运维支持代表：队列拥塞、资源紧张需要提前提示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3931920"/>
            <a:ext cx="32461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009644"/>
            <a:ext cx="155448" cy="155448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9576" y="4003243"/>
            <a:ext cx="28620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课程模拟访谈：面向“普通用户 / PI / 管理员 / 运维”四类角色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26280" y="1060704"/>
            <a:ext cx="7004304" cy="2176272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90872" y="1170432"/>
            <a:ext cx="6675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访谈结论（为什么现在变更？）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690872" y="1426464"/>
            <a:ext cx="6675120" cy="171907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SRS基线已经覆盖资源申请流程，但用户在原型走查后提出“提交前可行性提示”和“排队时间预估”的新需求。该需求不推翻原流程，而是增强申请前提示和审批辅助。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4526280" y="3502025"/>
            <a:ext cx="7004050" cy="2710815"/>
          </a:xfrm>
          <a:prstGeom prst="roundRect">
            <a:avLst>
              <a:gd name="adj" fmla="val 395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90872" y="3611880"/>
            <a:ext cx="6675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输出物</a:t>
            </a:r>
            <a:endParaRPr lang="en-US" sz="13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4677537" y="3928110"/>
          <a:ext cx="6583680" cy="1773936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阶段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输入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输出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二次访谈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SRS基线、原型页面、用户代表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访谈纪要、问题清单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需求归纳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材料缺失、配额不足、队列紧张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RC-001变更申请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变更评估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可行性、影响分析、CCB材料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变更提交包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RC-001 需求变更申请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申请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94944" y="1078992"/>
          <a:ext cx="10789920" cy="490118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变更编号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RC-001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变更名称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新增资源申请智能预审与排队时间预估功能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提出来源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二次客户访谈与原型评审：普通用户、PI、中心管理员、运维支持代表共同提出。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变更内容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在资源申请提交前增加材料完整性、配额匹配、资源池紧张程度和预计排队时间提示；在审批详情页增加辅助判断说明。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变更边界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不替代PI和管理员审批；不接入真实生产调度算法；课程阶段以原型和静态/模拟数据说明。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关键里程碑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申请提出 → 可行性分析 → 影响分析 → CCB会议 → 后续计划 → 配置归档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约束条件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SRS基线已通过，变更必须最小化影响并保持需求可追踪。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验收标准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有申请报告、影响分析、CCB决策、跟踪矩阵、甘特图和成员评价。</a:t>
                      </a:r>
                      <a:endParaRPr lang="en-US" sz="11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RC-001 子需求拆解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内容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078992"/>
            <a:ext cx="3977640" cy="48463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pic>
        <p:nvPicPr>
          <p:cNvPr id="7" name="Image 0" descr="/mnt/data/assets/xfinity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45678"/>
            <a:ext cx="3383280" cy="42580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92040" y="1078992"/>
            <a:ext cx="662940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56632" y="1188720"/>
            <a:ext cx="63002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四个子需求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166360" y="1508760"/>
            <a:ext cx="59893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1586484"/>
            <a:ext cx="155448" cy="1554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77256" y="1580083"/>
            <a:ext cx="56052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RC-001-A：申请材料智能预审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66360" y="2148840"/>
            <a:ext cx="59893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57800" y="2226564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77256" y="2220163"/>
            <a:ext cx="56052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RC-001-B：排队时间预估展示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166360" y="2788920"/>
            <a:ext cx="59893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57800" y="2866644"/>
            <a:ext cx="155448" cy="155448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77256" y="2860243"/>
            <a:ext cx="56052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RC-001-C：审批辅助说明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166360" y="3429000"/>
            <a:ext cx="59893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57800" y="3506724"/>
            <a:ext cx="155448" cy="15544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77256" y="3500323"/>
            <a:ext cx="56052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RC-001-D：预审消息通知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166360" y="4069080"/>
            <a:ext cx="59893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57800" y="4146804"/>
            <a:ext cx="155448" cy="155448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77256" y="4140403"/>
            <a:ext cx="56052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原则：预审只作提示，最终审批仍由PI和管理员完成；排队时间只给区间，不承诺精确值。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175504" y="4892040"/>
            <a:ext cx="5989320" cy="621792"/>
          </a:xfrm>
          <a:prstGeom prst="roundRect">
            <a:avLst>
              <a:gd name="adj" fmla="val 11765"/>
            </a:avLst>
          </a:prstGeom>
          <a:solidFill>
            <a:srgbClr val="0D2A52"/>
          </a:solidFill>
          <a:ln w="10160">
            <a:solidFill>
              <a:srgbClr val="5DB0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0680" y="5093208"/>
            <a:ext cx="5440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7</a:t>
            </a:r>
            <a:endParaRPr lang="en-US" sz="1130" dirty="0"/>
          </a:p>
        </p:txBody>
      </p:sp>
      <p:sp>
        <p:nvSpPr>
          <p:cNvPr id="28" name="Text 24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优先级排序：QFD加权评分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排序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58368" y="1243584"/>
          <a:ext cx="9692640" cy="3154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子需求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价值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管理收益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可行性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结论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RC-001-A 材料智能预审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用户提交前纠错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减少无效申请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规则库可模拟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89分｜高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RC-001-B 排队时间预估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减少盲目等待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降低解释成本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用区间估算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79分｜高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RC-001-C 审批辅助说明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提升审批透明度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PI/管理员更好判断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字段可追踪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84分｜高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RC-001-D 预审消息通知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补充体验闭环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状态可提醒</a:t>
                      </a:r>
                      <a:endParaRPr lang="en-US" sz="102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4800600"/>
            <a:ext cx="53492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4910328"/>
            <a:ext cx="50200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后续完善</a:t>
            </a:r>
            <a:endParaRPr lang="en-US" sz="1350" dirty="0"/>
          </a:p>
        </p:txBody>
      </p:sp>
      <p:sp>
        <p:nvSpPr>
          <p:cNvPr id="6" name="Text 6"/>
          <p:cNvSpPr/>
          <p:nvPr/>
        </p:nvSpPr>
        <p:spPr>
          <a:xfrm>
            <a:off x="822960" y="5166360"/>
            <a:ext cx="5020056" cy="65836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73分｜中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172200" y="4800600"/>
            <a:ext cx="5458968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36792" y="4910328"/>
            <a:ext cx="5129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评分口径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36792" y="5166360"/>
            <a:ext cx="5129784" cy="65836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用户价值30、管理价值25、实现可行20、风险可控15、文档影响10。</a:t>
            </a:r>
            <a:endParaRPr lang="en-US" sz="1080" dirty="0"/>
          </a:p>
        </p:txBody>
      </p:sp>
      <p:sp>
        <p:nvSpPr>
          <p:cNvPr id="14" name="Text 10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新需求可行性分析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可行性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944" y="1298448"/>
            <a:ext cx="5303520" cy="1627632"/>
          </a:xfrm>
          <a:prstGeom prst="roundRect">
            <a:avLst>
              <a:gd name="adj" fmla="val 5618"/>
            </a:avLst>
          </a:prstGeom>
          <a:solidFill>
            <a:srgbClr val="EEF5FF"/>
          </a:solidFill>
          <a:ln w="12700">
            <a:solidFill>
              <a:srgbClr val="2F80ED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408176"/>
            <a:ext cx="4974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技术可行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9536" y="1664208"/>
            <a:ext cx="4974336" cy="117043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课程阶段可采用规则库+模拟队列数据，不需要接入真实超算调度系统。</a:t>
            </a:r>
            <a:endParaRPr lang="en-US" sz="1110" dirty="0"/>
          </a:p>
        </p:txBody>
      </p:sp>
      <p:sp>
        <p:nvSpPr>
          <p:cNvPr id="9" name="Shape 7"/>
          <p:cNvSpPr/>
          <p:nvPr/>
        </p:nvSpPr>
        <p:spPr>
          <a:xfrm>
            <a:off x="6199632" y="1298448"/>
            <a:ext cx="5303520" cy="1627632"/>
          </a:xfrm>
          <a:prstGeom prst="roundRect">
            <a:avLst>
              <a:gd name="adj" fmla="val 5618"/>
            </a:avLst>
          </a:prstGeom>
          <a:solidFill>
            <a:srgbClr val="EEF9F1"/>
          </a:solidFill>
          <a:ln w="12700">
            <a:solidFill>
              <a:srgbClr val="27AE60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64224" y="1408176"/>
            <a:ext cx="4974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AE60"/>
                </a:solidFill>
                <a:latin typeface="等线"/>
                <a:ea typeface="等线"/>
                <a:cs typeface="等线"/>
              </a:rPr>
              <a:t>经济可行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64224" y="1664208"/>
            <a:ext cx="4974336" cy="117043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新增约4人日，按25元/小时估算，等价工时成本约800元。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94944" y="3310128"/>
            <a:ext cx="5303520" cy="1627632"/>
          </a:xfrm>
          <a:prstGeom prst="roundRect">
            <a:avLst>
              <a:gd name="adj" fmla="val 5618"/>
            </a:avLst>
          </a:prstGeom>
          <a:solidFill>
            <a:srgbClr val="FFF5E9"/>
          </a:solidFill>
          <a:ln w="12700">
            <a:solidFill>
              <a:srgbClr val="F2994A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9536" y="3419856"/>
            <a:ext cx="4974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994A"/>
                </a:solidFill>
                <a:latin typeface="等线"/>
                <a:ea typeface="等线"/>
                <a:cs typeface="等线"/>
              </a:rPr>
              <a:t>操作可行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9536" y="3675888"/>
            <a:ext cx="4974336" cy="117043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用户提交前能看到提示；审批人能看到辅助说明；管理员减少重复沟通。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6199632" y="3310128"/>
            <a:ext cx="5303520" cy="1627632"/>
          </a:xfrm>
          <a:prstGeom prst="roundRect">
            <a:avLst>
              <a:gd name="adj" fmla="val 5618"/>
            </a:avLst>
          </a:prstGeom>
          <a:solidFill>
            <a:srgbClr val="F4F1FF"/>
          </a:solidFill>
          <a:ln w="12700">
            <a:solidFill>
              <a:srgbClr val="7B61F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64224" y="3419856"/>
            <a:ext cx="4974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B61FF"/>
                </a:solidFill>
                <a:latin typeface="等线"/>
                <a:ea typeface="等线"/>
                <a:cs typeface="等线"/>
              </a:rPr>
              <a:t>安全可行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64224" y="3675888"/>
            <a:ext cx="4974336" cy="117043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预审不自动拒绝申请，操作留痕，避免算法替代人工审批。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1417320" y="5440680"/>
            <a:ext cx="9326880" cy="566928"/>
          </a:xfrm>
          <a:prstGeom prst="roundRect">
            <a:avLst>
              <a:gd name="adj" fmla="val 12903"/>
            </a:avLst>
          </a:prstGeom>
          <a:solidFill>
            <a:srgbClr val="0D2A52"/>
          </a:solidFill>
          <a:ln w="10160">
            <a:solidFill>
              <a:srgbClr val="5DB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5623560"/>
            <a:ext cx="8869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综合结论：RC-001具备较高用户价值和管理价值，技术、经济、操作与安全风险均可控，建议提交CCB批准。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需求变更影响分析总览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97"/>
                </a:solidFill>
                <a:latin typeface="等线"/>
                <a:ea typeface="等线"/>
                <a:cs typeface="等线"/>
              </a:rPr>
              <a:t>对应评审项：基线冲突、原型、测试/手册、需求管理和项目计划影响。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影响对象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" y="1143000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43000"/>
            <a:ext cx="128016" cy="87782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89304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SRS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2231136" y="1289304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补充资源申请、审批管理、非功能要求和变更记录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373368" y="1143000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1143000"/>
            <a:ext cx="128016" cy="8778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289304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原型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7854696" y="1289304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资源申请页新增预审卡片；审批详情页新增辅助说明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49808" y="2212848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212848"/>
            <a:ext cx="128016" cy="87782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359152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测试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231136" y="2359152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新增材料缺失、配额不足、队列紧张、预审降级等测试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373368" y="2212848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3368" y="2212848"/>
            <a:ext cx="128016" cy="87782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359152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用户手册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7854696" y="2359152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解释预审结果、排队时间区间和“仅供参考”提示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49808" y="3282696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3282696"/>
            <a:ext cx="128016" cy="877824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429000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数据/接口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2231136" y="3429000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新增precheck_result、estimated_wait_time、queue_level等字段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6373368" y="3282696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3368" y="3282696"/>
            <a:ext cx="128016" cy="877824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429000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计划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7854696" y="3429000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新增约4人日，关键路径增加1天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749808" y="4352544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4352544"/>
            <a:ext cx="128016" cy="87782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4498848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结论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2231136" y="4498848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与SRS基线不冲突，属于资源申请与审批流程增强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6373368" y="4352544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3368" y="4352544"/>
            <a:ext cx="128016" cy="8778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4498848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追踪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7854696" y="4498848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纳入需求管理台账与跟踪矩阵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749808" y="5623560"/>
            <a:ext cx="10863072" cy="402336"/>
          </a:xfrm>
          <a:prstGeom prst="roundRect">
            <a:avLst>
              <a:gd name="adj" fmla="val 15909"/>
            </a:avLst>
          </a:prstGeom>
          <a:solidFill>
            <a:srgbClr val="EEF5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" y="5733288"/>
            <a:ext cx="104973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影响分析不是简单说“有影响”，而是明确影响对象、处理方式、负责人和后续计划。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原型、测试用例与用户手册更新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更新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05156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161288"/>
            <a:ext cx="51572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原型更新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1389888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467612"/>
            <a:ext cx="155448" cy="1554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9576" y="1461211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资源申请页：新增“智能预审结果”卡片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1783080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860804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9576" y="1854403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审批详情页：新增“审批辅助说明”区域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2176272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253996"/>
            <a:ext cx="155448" cy="155448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9576" y="2247595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移动端：预审信息采用纵向卡片，避免表格溢出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2569464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2647188"/>
            <a:ext cx="155448" cy="15544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9576" y="2640787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测试用例更新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2962656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3040380"/>
            <a:ext cx="155448" cy="155448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9576" y="3033979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新增TC-RC001-01至TC-RC001-05，覆盖材料缺失、配额不足、队列紧张、审批辅助、预审降级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3355848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3433572"/>
            <a:ext cx="155448" cy="15544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9576" y="3427171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用户手册更新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68680" y="3749040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3826764"/>
            <a:ext cx="155448" cy="1554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9576" y="3820363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新增预审结果解释、排队时间含义、常见问题和管理员审批说明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8680" y="4142232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4219956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79576" y="4213555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本阶段不做什么？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1051560"/>
            <a:ext cx="5175504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19672" y="1161288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• 不实现真实调度算法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519672" y="1417320"/>
            <a:ext cx="4846320" cy="157276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• 不让系统自动替代人工审批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• 不承诺排队时间精确值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• 不推翻已经通过的SRS基线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演示材料准备情况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355080" y="3319272"/>
            <a:ext cx="5175504" cy="2258568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19672" y="3429000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已在影响分析和后续计划中列出更新范围、测试条目、用户手册章节和工作量。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519672" y="3685032"/>
            <a:ext cx="4846320" cy="180136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40" dirty="0"/>
          </a:p>
        </p:txBody>
      </p:sp>
      <p:pic>
        <p:nvPicPr>
          <p:cNvPr id="38" name="Image 0" descr="/mnt/data/assets/xfinity_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157" y="3977640"/>
            <a:ext cx="1071086" cy="594360"/>
          </a:xfrm>
          <a:prstGeom prst="rect">
            <a:avLst/>
          </a:prstGeom>
        </p:spPr>
      </p:pic>
      <p:pic>
        <p:nvPicPr>
          <p:cNvPr id="39" name="Image 1" descr="/mnt/data/assets/xfinity_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3992432"/>
            <a:ext cx="960120" cy="564776"/>
          </a:xfrm>
          <a:prstGeom prst="rect">
            <a:avLst/>
          </a:prstGeom>
        </p:spPr>
      </p:pic>
      <p:pic>
        <p:nvPicPr>
          <p:cNvPr id="40" name="Image 2" descr="/mnt/data/assets/xfinity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4031361"/>
            <a:ext cx="868680" cy="46863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CCB组织结构与人选设置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97"/>
                </a:solidFill>
                <a:latin typeface="等线"/>
                <a:ea typeface="等线"/>
                <a:cs typeface="等线"/>
              </a:rPr>
              <a:t>对应评审项：是否建议CCB组织和人选，为什么？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CCB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9904" y="1700784"/>
            <a:ext cx="0" cy="384048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1600200" y="2084832"/>
            <a:ext cx="8961120" cy="0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1645920" y="2084832"/>
            <a:ext cx="0" cy="329184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3"/>
            </p:custDataLst>
          </p:nvPr>
        </p:nvSpPr>
        <p:spPr>
          <a:xfrm>
            <a:off x="3895344" y="2084832"/>
            <a:ext cx="0" cy="329184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6144768" y="2084832"/>
            <a:ext cx="0" cy="329184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8394192" y="2084832"/>
            <a:ext cx="0" cy="329184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10643616" y="2084832"/>
            <a:ext cx="0" cy="329184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6048" y="969264"/>
            <a:ext cx="2267712" cy="713232"/>
          </a:xfrm>
          <a:prstGeom prst="roundRect">
            <a:avLst>
              <a:gd name="adj" fmla="val 10256"/>
            </a:avLst>
          </a:prstGeom>
          <a:solidFill>
            <a:srgbClr val="0D2A52"/>
          </a:solidFill>
          <a:ln w="12700">
            <a:solidFill>
              <a:srgbClr val="5DB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1338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项目组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G06</a:t>
            </a:r>
            <a:endParaRPr lang="en-US" sz="1400" dirty="0"/>
          </a:p>
        </p:txBody>
      </p:sp>
      <p:sp>
        <p:nvSpPr>
          <p:cNvPr id="15" name="Shape 13"/>
          <p:cNvSpPr/>
          <p:nvPr>
            <p:custDataLst>
              <p:tags r:id="rId7"/>
            </p:custDataLst>
          </p:nvPr>
        </p:nvSpPr>
        <p:spPr>
          <a:xfrm>
            <a:off x="1024128" y="2414016"/>
            <a:ext cx="1243584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8"/>
            </p:custDataLst>
          </p:nvPr>
        </p:nvSpPr>
        <p:spPr>
          <a:xfrm>
            <a:off x="1024128" y="2414016"/>
            <a:ext cx="1243584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1097280" y="261518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40" dirty="0">
                <a:latin typeface="等线"/>
                <a:ea typeface="等线"/>
                <a:cs typeface="等线"/>
              </a:rPr>
              <a:t>吴易骏</a:t>
            </a:r>
            <a:endParaRPr lang="zh-CN" altLang="en-US" sz="1040" dirty="0"/>
          </a:p>
        </p:txBody>
      </p:sp>
      <p:sp>
        <p:nvSpPr>
          <p:cNvPr id="18" name="Text 16"/>
          <p:cNvSpPr/>
          <p:nvPr>
            <p:custDataLst>
              <p:tags r:id="rId10"/>
            </p:custDataLst>
          </p:nvPr>
        </p:nvSpPr>
        <p:spPr>
          <a:xfrm>
            <a:off x="1115568" y="2907792"/>
            <a:ext cx="10607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CCB主席：组织决策、确认计划影响</a:t>
            </a:r>
            <a:endParaRPr lang="en-US" sz="860" dirty="0"/>
          </a:p>
        </p:txBody>
      </p:sp>
      <p:sp>
        <p:nvSpPr>
          <p:cNvPr id="19" name="Shape 17"/>
          <p:cNvSpPr/>
          <p:nvPr>
            <p:custDataLst>
              <p:tags r:id="rId11"/>
            </p:custDataLst>
          </p:nvPr>
        </p:nvSpPr>
        <p:spPr>
          <a:xfrm>
            <a:off x="3273552" y="2414016"/>
            <a:ext cx="1243584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2"/>
            </p:custDataLst>
          </p:nvPr>
        </p:nvSpPr>
        <p:spPr>
          <a:xfrm>
            <a:off x="3273552" y="2414016"/>
            <a:ext cx="1243584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3"/>
            </p:custDataLst>
          </p:nvPr>
        </p:nvSpPr>
        <p:spPr>
          <a:xfrm>
            <a:off x="3346704" y="261518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40" dirty="0">
                <a:latin typeface="等线"/>
                <a:ea typeface="等线"/>
                <a:cs typeface="等线"/>
              </a:rPr>
              <a:t>肖泓宇</a:t>
            </a:r>
            <a:endParaRPr lang="zh-CN" altLang="en-US" sz="1040" dirty="0"/>
          </a:p>
        </p:txBody>
      </p:sp>
      <p:sp>
        <p:nvSpPr>
          <p:cNvPr id="22" name="Text 20"/>
          <p:cNvSpPr/>
          <p:nvPr>
            <p:custDataLst>
              <p:tags r:id="rId14"/>
            </p:custDataLst>
          </p:nvPr>
        </p:nvSpPr>
        <p:spPr>
          <a:xfrm>
            <a:off x="3364992" y="2907792"/>
            <a:ext cx="10607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原型与会议记录：整理原型更新点和纪要</a:t>
            </a:r>
            <a:endParaRPr lang="en-US" sz="860" dirty="0"/>
          </a:p>
        </p:txBody>
      </p:sp>
      <p:sp>
        <p:nvSpPr>
          <p:cNvPr id="23" name="Shape 21"/>
          <p:cNvSpPr/>
          <p:nvPr>
            <p:custDataLst>
              <p:tags r:id="rId15"/>
            </p:custDataLst>
          </p:nvPr>
        </p:nvSpPr>
        <p:spPr>
          <a:xfrm>
            <a:off x="5522976" y="2414016"/>
            <a:ext cx="1243584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4" name="Shape 22"/>
          <p:cNvSpPr/>
          <p:nvPr>
            <p:custDataLst>
              <p:tags r:id="rId16"/>
            </p:custDataLst>
          </p:nvPr>
        </p:nvSpPr>
        <p:spPr>
          <a:xfrm>
            <a:off x="5522976" y="2414016"/>
            <a:ext cx="1243584" cy="12801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17"/>
            </p:custDataLst>
          </p:nvPr>
        </p:nvSpPr>
        <p:spPr>
          <a:xfrm>
            <a:off x="5596128" y="261518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40" dirty="0">
                <a:latin typeface="等线"/>
                <a:ea typeface="等线"/>
                <a:cs typeface="等线"/>
              </a:rPr>
              <a:t>蒋长麟</a:t>
            </a:r>
            <a:endParaRPr lang="zh-CN" altLang="en-US" sz="1040" dirty="0"/>
          </a:p>
        </p:txBody>
      </p:sp>
      <p:sp>
        <p:nvSpPr>
          <p:cNvPr id="26" name="Text 24"/>
          <p:cNvSpPr/>
          <p:nvPr>
            <p:custDataLst>
              <p:tags r:id="rId18"/>
            </p:custDataLst>
          </p:nvPr>
        </p:nvSpPr>
        <p:spPr>
          <a:xfrm>
            <a:off x="5614416" y="2907792"/>
            <a:ext cx="10607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数据与配置：负责台账、字段、版本管理</a:t>
            </a:r>
            <a:endParaRPr lang="en-US" sz="860" dirty="0"/>
          </a:p>
        </p:txBody>
      </p:sp>
      <p:sp>
        <p:nvSpPr>
          <p:cNvPr id="27" name="Shape 25"/>
          <p:cNvSpPr/>
          <p:nvPr>
            <p:custDataLst>
              <p:tags r:id="rId19"/>
            </p:custDataLst>
          </p:nvPr>
        </p:nvSpPr>
        <p:spPr>
          <a:xfrm>
            <a:off x="7772400" y="2414016"/>
            <a:ext cx="1243584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8" name="Shape 26"/>
          <p:cNvSpPr/>
          <p:nvPr>
            <p:custDataLst>
              <p:tags r:id="rId20"/>
            </p:custDataLst>
          </p:nvPr>
        </p:nvSpPr>
        <p:spPr>
          <a:xfrm>
            <a:off x="7772400" y="2414016"/>
            <a:ext cx="1243584" cy="12801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9" name="Text 27"/>
          <p:cNvSpPr/>
          <p:nvPr>
            <p:custDataLst>
              <p:tags r:id="rId21"/>
            </p:custDataLst>
          </p:nvPr>
        </p:nvSpPr>
        <p:spPr>
          <a:xfrm>
            <a:off x="7845552" y="261518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4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陈许恺</a:t>
            </a:r>
          </a:p>
        </p:txBody>
      </p:sp>
      <p:sp>
        <p:nvSpPr>
          <p:cNvPr id="30" name="Text 28"/>
          <p:cNvSpPr/>
          <p:nvPr>
            <p:custDataLst>
              <p:tags r:id="rId22"/>
            </p:custDataLst>
          </p:nvPr>
        </p:nvSpPr>
        <p:spPr>
          <a:xfrm>
            <a:off x="7863840" y="2907792"/>
            <a:ext cx="10607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需求负责人：说明访谈来源和变更内容</a:t>
            </a:r>
            <a:endParaRPr lang="en-US" sz="860" dirty="0"/>
          </a:p>
        </p:txBody>
      </p:sp>
      <p:sp>
        <p:nvSpPr>
          <p:cNvPr id="31" name="Shape 29"/>
          <p:cNvSpPr/>
          <p:nvPr>
            <p:custDataLst>
              <p:tags r:id="rId23"/>
            </p:custDataLst>
          </p:nvPr>
        </p:nvSpPr>
        <p:spPr>
          <a:xfrm>
            <a:off x="10021824" y="2414016"/>
            <a:ext cx="1243584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32" name="Shape 30"/>
          <p:cNvSpPr/>
          <p:nvPr>
            <p:custDataLst>
              <p:tags r:id="rId24"/>
            </p:custDataLst>
          </p:nvPr>
        </p:nvSpPr>
        <p:spPr>
          <a:xfrm>
            <a:off x="10021824" y="2414016"/>
            <a:ext cx="1243584" cy="128016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33" name="Text 31"/>
          <p:cNvSpPr/>
          <p:nvPr>
            <p:custDataLst>
              <p:tags r:id="rId25"/>
            </p:custDataLst>
          </p:nvPr>
        </p:nvSpPr>
        <p:spPr>
          <a:xfrm>
            <a:off x="10094976" y="261518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40" dirty="0">
                <a:latin typeface="等线"/>
                <a:ea typeface="等线"/>
                <a:cs typeface="等线"/>
              </a:rPr>
              <a:t>王涛</a:t>
            </a:r>
            <a:endParaRPr lang="zh-CN" altLang="en-US" sz="1040" dirty="0"/>
          </a:p>
        </p:txBody>
      </p:sp>
      <p:sp>
        <p:nvSpPr>
          <p:cNvPr id="34" name="Text 32"/>
          <p:cNvSpPr/>
          <p:nvPr>
            <p:custDataLst>
              <p:tags r:id="rId26"/>
            </p:custDataLst>
          </p:nvPr>
        </p:nvSpPr>
        <p:spPr>
          <a:xfrm>
            <a:off x="10113264" y="2907792"/>
            <a:ext cx="10607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测试与手册：判断测试、用户手册和验收影响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822960" y="4069080"/>
            <a:ext cx="107899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87552" y="4178808"/>
            <a:ext cx="10460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组织原则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87552" y="4434840"/>
            <a:ext cx="10460736" cy="105156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CCB覆盖项目、需求、测试、配置、原型和用户代表视角，保证变更不是单人决定，而是可讨论、可投票、可追溯的受控决策。</a:t>
            </a:r>
            <a:endParaRPr lang="en-US" sz="1110" dirty="0"/>
          </a:p>
        </p:txBody>
      </p:sp>
      <p:sp>
        <p:nvSpPr>
          <p:cNvPr id="38" name="Text 3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需求管理台账与跟踪矩阵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97"/>
                </a:solidFill>
                <a:latin typeface="等线"/>
                <a:ea typeface="等线"/>
                <a:cs typeface="等线"/>
              </a:rPr>
              <a:t>对应评审项：是否采用需求管理工具，是否建立跟踪链接矩阵。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矩阵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658368" y="1188720"/>
          <a:ext cx="6428232" cy="4032504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需求编号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来源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SRS/原型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数据字段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测试用例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状态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负责人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RC-001-A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访谈F-01/F-04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资源申请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precheck_result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TC-RC001-01/02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已批准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陈许恺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RC-001-B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访谈F-02/F-05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资源池状态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estimated_wait_time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TC-RC001-03/05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已批准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肖泓宇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RC-001-C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访谈F-03/F-04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审批中心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approval_hint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TC-RC001-04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已批准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王涛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RC-001-D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访谈F-01/F-02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消息中心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precheck_status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手册消息说明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后续完善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蒋长麟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工具说明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轻量化台账模拟需求管理工具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编号、来源、状态、链接可追溯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配置要求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所有变更均归档到软件需求变更文件夹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版本记录与CCB纪要共同留痕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13</a:t>
                      </a: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732520" y="1188720"/>
            <a:ext cx="2788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897112" y="1298448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897112" y="1554480"/>
            <a:ext cx="2459736" cy="15544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732520" y="3493008"/>
            <a:ext cx="2788920" cy="2176272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897112" y="3602736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897112" y="3858768"/>
            <a:ext cx="2459736" cy="171907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软件需求变更阶段甘特图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97"/>
                </a:solidFill>
                <a:latin typeface="等线"/>
                <a:ea typeface="等线"/>
                <a:cs typeface="等线"/>
              </a:rPr>
              <a:t>对应评审项：建议的变更如何影响任务顺序、依赖性、工作量或进度。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进度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143000"/>
            <a:ext cx="109728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89888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任务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6/1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6/2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88536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8536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6/3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88536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2664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2664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6/4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12664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6/5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36792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6/6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60920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85048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5048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6/7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85048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09176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09176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6/8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409176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33304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1874520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二次客户访谈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822960" y="2167128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95144" y="1828800"/>
            <a:ext cx="1938528" cy="237744"/>
          </a:xfrm>
          <a:prstGeom prst="roundRect">
            <a:avLst>
              <a:gd name="adj" fmla="val 23077"/>
            </a:avLst>
          </a:prstGeom>
          <a:solidFill>
            <a:srgbClr val="2F80ED"/>
          </a:solidFill>
          <a:ln w="7620">
            <a:solidFill>
              <a:srgbClr val="2F80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2386584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变更申请报告</a:t>
            </a:r>
            <a:endParaRPr lang="en-US" sz="1010" dirty="0"/>
          </a:p>
        </p:txBody>
      </p:sp>
      <p:sp>
        <p:nvSpPr>
          <p:cNvPr id="37" name="Shape 35"/>
          <p:cNvSpPr/>
          <p:nvPr/>
        </p:nvSpPr>
        <p:spPr>
          <a:xfrm>
            <a:off x="822960" y="2679192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95144" y="2340864"/>
            <a:ext cx="1938528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  <a:ln w="7620">
            <a:solidFill>
              <a:srgbClr val="27AE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2898648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可行性/影响分析</a:t>
            </a:r>
            <a:endParaRPr lang="en-US" sz="1010" dirty="0"/>
          </a:p>
        </p:txBody>
      </p:sp>
      <p:sp>
        <p:nvSpPr>
          <p:cNvPr id="40" name="Shape 38"/>
          <p:cNvSpPr/>
          <p:nvPr/>
        </p:nvSpPr>
        <p:spPr>
          <a:xfrm>
            <a:off x="822960" y="3191256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19272" y="2852928"/>
            <a:ext cx="1938528" cy="237744"/>
          </a:xfrm>
          <a:prstGeom prst="roundRect">
            <a:avLst>
              <a:gd name="adj" fmla="val 23077"/>
            </a:avLst>
          </a:prstGeom>
          <a:solidFill>
            <a:srgbClr val="F2994A"/>
          </a:solidFill>
          <a:ln w="7620">
            <a:solidFill>
              <a:srgbClr val="F299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3410712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CCB会议与决策</a:t>
            </a:r>
            <a:endParaRPr lang="en-US" sz="1010" dirty="0"/>
          </a:p>
        </p:txBody>
      </p:sp>
      <p:sp>
        <p:nvSpPr>
          <p:cNvPr id="43" name="Shape 41"/>
          <p:cNvSpPr/>
          <p:nvPr/>
        </p:nvSpPr>
        <p:spPr>
          <a:xfrm>
            <a:off x="822960" y="3703320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43400" y="3364993"/>
            <a:ext cx="5010908" cy="210312"/>
          </a:xfrm>
          <a:prstGeom prst="roundRect">
            <a:avLst>
              <a:gd name="adj" fmla="val 23077"/>
            </a:avLst>
          </a:prstGeom>
          <a:solidFill>
            <a:srgbClr val="7B61FF"/>
          </a:solidFill>
          <a:ln w="7620">
            <a:solidFill>
              <a:srgbClr val="7B61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3922776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原型/测试/手册更新</a:t>
            </a:r>
            <a:endParaRPr lang="en-US" sz="1010" dirty="0"/>
          </a:p>
        </p:txBody>
      </p:sp>
      <p:sp>
        <p:nvSpPr>
          <p:cNvPr id="46" name="Shape 44"/>
          <p:cNvSpPr/>
          <p:nvPr/>
        </p:nvSpPr>
        <p:spPr>
          <a:xfrm>
            <a:off x="822960" y="4215384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67528" y="3877056"/>
            <a:ext cx="3986784" cy="237744"/>
          </a:xfrm>
          <a:prstGeom prst="roundRect">
            <a:avLst>
              <a:gd name="adj" fmla="val 23077"/>
            </a:avLst>
          </a:prstGeom>
          <a:solidFill>
            <a:srgbClr val="2D9CDB"/>
          </a:solidFill>
          <a:ln w="7620">
            <a:solidFill>
              <a:srgbClr val="2D9C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4434840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台账与跟踪矩阵</a:t>
            </a:r>
            <a:endParaRPr lang="en-US" sz="1010" dirty="0"/>
          </a:p>
        </p:txBody>
      </p:sp>
      <p:sp>
        <p:nvSpPr>
          <p:cNvPr id="49" name="Shape 47"/>
          <p:cNvSpPr/>
          <p:nvPr/>
        </p:nvSpPr>
        <p:spPr>
          <a:xfrm>
            <a:off x="822960" y="4727448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91656" y="4389120"/>
            <a:ext cx="2962656" cy="237744"/>
          </a:xfrm>
          <a:prstGeom prst="roundRect">
            <a:avLst>
              <a:gd name="adj" fmla="val 23077"/>
            </a:avLst>
          </a:prstGeom>
          <a:solidFill>
            <a:srgbClr val="EB5757"/>
          </a:solidFill>
          <a:ln w="7620">
            <a:solidFill>
              <a:srgbClr val="EB57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" y="4946904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汇报</a:t>
            </a:r>
            <a:r>
              <a:rPr lang="en-US" sz="10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PPT</a:t>
            </a:r>
            <a:r>
              <a:rPr lang="zh-CN" altLang="en-US" sz="10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制作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822960" y="5239512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39912" y="4901184"/>
            <a:ext cx="1938528" cy="237744"/>
          </a:xfrm>
          <a:prstGeom prst="roundRect">
            <a:avLst>
              <a:gd name="adj" fmla="val 23077"/>
            </a:avLst>
          </a:prstGeom>
          <a:solidFill>
            <a:srgbClr val="F2C94C"/>
          </a:solidFill>
          <a:ln w="7620">
            <a:solidFill>
              <a:srgbClr val="F2C94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" y="5458968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评审整改与归档</a:t>
            </a:r>
            <a:endParaRPr lang="en-US" sz="1010" dirty="0"/>
          </a:p>
        </p:txBody>
      </p:sp>
      <p:sp>
        <p:nvSpPr>
          <p:cNvPr id="55" name="Shape 53"/>
          <p:cNvSpPr/>
          <p:nvPr/>
        </p:nvSpPr>
        <p:spPr>
          <a:xfrm>
            <a:off x="822960" y="5751576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464040" y="5413248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6FCF97"/>
          </a:solidFill>
          <a:ln w="7620">
            <a:solidFill>
              <a:srgbClr val="6FCF9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" y="5971032"/>
            <a:ext cx="93268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注：总新增约4人日，关键路径增加1天；原型、测试、手册和台账采用并行方式压缩进度。</a:t>
            </a:r>
            <a:endParaRPr lang="en-US" sz="1020" dirty="0"/>
          </a:p>
        </p:txBody>
      </p:sp>
      <p:sp>
        <p:nvSpPr>
          <p:cNvPr id="58" name="Text 5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变更里程碑与依赖关系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97"/>
                </a:solidFill>
                <a:latin typeface="等线"/>
                <a:ea typeface="等线"/>
                <a:cs typeface="等线"/>
              </a:rPr>
              <a:t>在甘特图之外，说明关键节点和前后依赖。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里程碑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59152" y="2029968"/>
            <a:ext cx="411480" cy="201168"/>
          </a:xfrm>
          <a:prstGeom prst="chevron">
            <a:avLst/>
          </a:prstGeom>
          <a:solidFill>
            <a:srgbClr val="C9DBF7"/>
          </a:solidFill>
          <a:ln w="12700">
            <a:solidFill>
              <a:srgbClr val="C9DB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16552" y="2029968"/>
            <a:ext cx="411480" cy="201168"/>
          </a:xfrm>
          <a:prstGeom prst="chevron">
            <a:avLst/>
          </a:prstGeom>
          <a:solidFill>
            <a:srgbClr val="C9DBF7"/>
          </a:solidFill>
          <a:ln w="12700">
            <a:solidFill>
              <a:srgbClr val="C9DB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73952" y="2029968"/>
            <a:ext cx="411480" cy="201168"/>
          </a:xfrm>
          <a:prstGeom prst="chevron">
            <a:avLst/>
          </a:prstGeom>
          <a:solidFill>
            <a:srgbClr val="C9DBF7"/>
          </a:solidFill>
          <a:ln w="12700">
            <a:solidFill>
              <a:srgbClr val="C9DB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31352" y="2029968"/>
            <a:ext cx="411480" cy="201168"/>
          </a:xfrm>
          <a:prstGeom prst="chevron">
            <a:avLst/>
          </a:prstGeom>
          <a:solidFill>
            <a:srgbClr val="C9DBF7"/>
          </a:solidFill>
          <a:ln w="12700">
            <a:solidFill>
              <a:srgbClr val="C9DB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69164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792224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M1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0432" y="2057400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访谈完成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1170432" y="2276856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问题清单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154680" y="169164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792224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等线"/>
                <a:ea typeface="等线"/>
                <a:cs typeface="等线"/>
              </a:rPr>
              <a:t>M2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27832" y="2057400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申请提交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3227832" y="2276856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RC-001申请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212080" y="169164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F299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792224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994A"/>
                </a:solidFill>
                <a:latin typeface="等线"/>
                <a:ea typeface="等线"/>
                <a:cs typeface="等线"/>
              </a:rPr>
              <a:t>M3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85232" y="2057400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分析完成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5285232" y="2276856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可行性/影响分析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7269480" y="169164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7B6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1792224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61FF"/>
                </a:solidFill>
                <a:latin typeface="等线"/>
                <a:ea typeface="等线"/>
                <a:cs typeface="等线"/>
              </a:rPr>
              <a:t>M4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42632" y="2057400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CCB通过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342632" y="2276856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决策与行动项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9326880" y="169164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EB5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1792224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5757"/>
                </a:solidFill>
                <a:latin typeface="等线"/>
                <a:ea typeface="等线"/>
                <a:cs typeface="等线"/>
              </a:rPr>
              <a:t>M5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00032" y="2057400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归档提交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9400032" y="2276856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5C718A"/>
                </a:solidFill>
                <a:latin typeface="等线"/>
                <a:ea typeface="等线"/>
                <a:cs typeface="等线"/>
              </a:rPr>
              <a:t>提交包与讲稿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822960" y="3246120"/>
            <a:ext cx="10789920" cy="2235835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3493008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依赖逻辑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3767328"/>
            <a:ext cx="10012680" cy="65836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访谈是变更申请的输入；申请通过初审后才能做可行性和影响分析；分析材料进入CCB会议；CCB决策通过后，原型、测试、手册和跟踪矩阵并行更新，最后进入配置归档。</a:t>
            </a:r>
            <a:endParaRPr lang="en-US" sz="1110" dirty="0"/>
          </a:p>
        </p:txBody>
      </p:sp>
      <p:sp>
        <p:nvSpPr>
          <p:cNvPr id="33" name="Text 31"/>
          <p:cNvSpPr/>
          <p:nvPr/>
        </p:nvSpPr>
        <p:spPr>
          <a:xfrm>
            <a:off x="1051560" y="4617720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关键检查点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4846320"/>
            <a:ext cx="7498080" cy="43891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• 每个里程碑都有负责人、输入/输出和完成标准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• 任一关键节点延期，组长触发任务再分配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• CCB通过后，相关文档进入变更阶段配置基线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会议机制、配置管理与内部评审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管理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078992"/>
            <a:ext cx="54406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188720"/>
            <a:ext cx="51114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会议机制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089747"/>
              </p:ext>
            </p:extLst>
          </p:nvPr>
        </p:nvGraphicFramePr>
        <p:xfrm>
          <a:off x="868680" y="1417320"/>
          <a:ext cx="4933030" cy="1467233"/>
        </p:xfrm>
        <a:graphic>
          <a:graphicData uri="http://schemas.openxmlformats.org/drawingml/2006/table">
            <a:tbl>
              <a:tblPr/>
              <a:tblGrid>
                <a:gridCol w="995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会议类型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时间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目的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输出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二次访谈会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6/5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获取用户变化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访谈纪要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CCB会议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6/7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评审变更是否接受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会议纪要与决策记录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7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内部评审会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提交前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检查18项证据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整改跟踪表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96112" y="370332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每次会议都记录主题、时间、参会人、结论、待办、负责人和截止时间。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336792" y="1078992"/>
            <a:ext cx="5193792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01384" y="1188720"/>
            <a:ext cx="48646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配置管理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65392" y="1444752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版本策略</a:t>
            </a:r>
            <a:endParaRPr lang="en-US" sz="1210" dirty="0"/>
          </a:p>
        </p:txBody>
      </p:sp>
      <p:sp>
        <p:nvSpPr>
          <p:cNvPr id="14" name="Text 11"/>
          <p:cNvSpPr/>
          <p:nvPr/>
        </p:nvSpPr>
        <p:spPr>
          <a:xfrm>
            <a:off x="6565392" y="1700784"/>
            <a:ext cx="4526280" cy="77724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• v0.x 草稿、v1.0 提交版、v1.x 评审修订版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• 所有文件归档到“小组作业/软件需求变更”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• 变更编号统一使用RC-001</a:t>
            </a:r>
            <a:endParaRPr lang="en-US" sz="1040" dirty="0"/>
          </a:p>
        </p:txBody>
      </p:sp>
      <p:sp>
        <p:nvSpPr>
          <p:cNvPr id="8" name="Text 12"/>
          <p:cNvSpPr/>
          <p:nvPr/>
        </p:nvSpPr>
        <p:spPr>
          <a:xfrm>
            <a:off x="6565392" y="2761488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b="1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并行协作做法</a:t>
            </a:r>
            <a:endParaRPr lang="en-US" sz="1210" dirty="0"/>
          </a:p>
        </p:txBody>
      </p:sp>
      <p:sp>
        <p:nvSpPr>
          <p:cNvPr id="16" name="Text 13"/>
          <p:cNvSpPr/>
          <p:nvPr/>
        </p:nvSpPr>
        <p:spPr>
          <a:xfrm>
            <a:off x="6565392" y="2999232"/>
            <a:ext cx="4526280" cy="91440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• 需求、测试、原型、配置分工并行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• 组长统一总审，避免文档口径冲突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• 关键版本只由负责人和组长修改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• 评审意见进入整改跟踪表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6565392" y="4251960"/>
            <a:ext cx="4572000" cy="868680"/>
          </a:xfrm>
          <a:prstGeom prst="roundRect">
            <a:avLst>
              <a:gd name="adj" fmla="val 7368"/>
            </a:avLst>
          </a:prstGeom>
          <a:solidFill>
            <a:srgbClr val="EEF5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48272" y="454456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配置基线：SRS-v1.0 / 需求变更申请 / 影响分析 / CCB纪要 / 跟踪矩阵 / 汇报材料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组内成员分工与演示安排</a:t>
            </a: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阶段评价：五人任务分工与本阶段交付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成员分工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/>
        </p:nvGraphicFramePr>
        <p:xfrm>
          <a:off x="621792" y="1280160"/>
          <a:ext cx="10332720" cy="321868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成员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本阶段负责内容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主要产出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对应评审项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说明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dirty="0">
                          <a:latin typeface="等线"/>
                          <a:ea typeface="等线"/>
                          <a:cs typeface="等线"/>
                        </a:rPr>
                        <a:t>吴易骏</a:t>
                      </a: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总体结构、CCB决策、计划影响与统稿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汇报主线、CCB决策、甘特图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13/16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统筹变更管理闭环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b="0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陈许恺</a:t>
                      </a: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二次客户访谈、需求变更申请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访谈记录、申请报告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8/14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补强变更来源证据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dirty="0">
                          <a:latin typeface="等线"/>
                          <a:ea typeface="等线"/>
                          <a:cs typeface="等线"/>
                        </a:rPr>
                        <a:t>蒋长麟</a:t>
                      </a: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需求管理台账、跟踪矩阵、数据字段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台账矩阵、字段影响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5/7/15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保证变更可追踪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dirty="0">
                          <a:latin typeface="等线"/>
                          <a:ea typeface="等线"/>
                          <a:cs typeface="等线"/>
                        </a:rPr>
                        <a:t>王涛</a:t>
                      </a: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测试用例、用户手册、内部评审整改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测试/手册更新清单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10/17/18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保证需求可验证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dirty="0">
                          <a:latin typeface="等线"/>
                          <a:ea typeface="等线"/>
                          <a:cs typeface="等线"/>
                        </a:rPr>
                        <a:t>肖泓宇</a:t>
                      </a: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会议纪要、原型影响、PPT页面整合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会议纪要、原型说明、汇报材料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1/3/9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保证材料可汇报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组内成员评分</a:t>
            </a: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阶段评价：五人绩效与本阶段贡献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成员评价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/>
        </p:nvGraphicFramePr>
        <p:xfrm>
          <a:off x="621792" y="1280160"/>
          <a:ext cx="10332720" cy="321868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成员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本阶段负责内容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主要产出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绩效评分（5分）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评价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dirty="0">
                          <a:latin typeface="等线"/>
                          <a:ea typeface="等线"/>
                          <a:cs typeface="等线"/>
                        </a:rPr>
                        <a:t>吴易骏</a:t>
                      </a: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统筹、CCB、计划与总审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汇报主线、CCB决策、甘特图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5.0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统筹到位，评审表覆盖完整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b="0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陈许恺</a:t>
                      </a: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访谈、变更申请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二次客户访谈、申请报告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5.0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补强变更来源证据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dirty="0">
                          <a:latin typeface="等线"/>
                          <a:ea typeface="等线"/>
                          <a:cs typeface="等线"/>
                        </a:rPr>
                        <a:t>蒋长麟</a:t>
                      </a: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台账、数据、配置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跟踪矩阵、字段影响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4.8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追踪关系清晰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dirty="0">
                          <a:latin typeface="等线"/>
                          <a:ea typeface="等线"/>
                          <a:cs typeface="等线"/>
                        </a:rPr>
                        <a:t>王涛</a:t>
                      </a: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测试、用户手册、评审整改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测试/手册更新清单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4.8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验证口径完整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dirty="0">
                          <a:latin typeface="等线"/>
                          <a:ea typeface="等线"/>
                          <a:cs typeface="等线"/>
                        </a:rPr>
                        <a:t>肖泓宇</a:t>
                      </a: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会议、原型、PPT整合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会议纪要、原型说明、汇报材料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4.8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等线"/>
                          <a:ea typeface="等线"/>
                          <a:cs typeface="等线"/>
                        </a:rPr>
                        <a:t>表达与材料整合较好</a:t>
                      </a:r>
                      <a:endParaRPr lang="en-US" sz="980" dirty="0">
                        <a:latin typeface="等线"/>
                        <a:ea typeface="等线"/>
                        <a:cs typeface="等线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等线"/>
                <a:ea typeface="等线"/>
                <a:cs typeface="等线"/>
              </a:rPr>
              <a:t>参考资料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97"/>
                </a:solidFill>
                <a:latin typeface="等线"/>
                <a:ea typeface="等线"/>
                <a:cs typeface="等线"/>
              </a:rPr>
              <a:t>包含课程材料、评审表、前期项目资料和本阶段变更文档。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等线"/>
                <a:ea typeface="等线"/>
                <a:cs typeface="等线"/>
              </a:rPr>
              <a:t>引用文件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900176"/>
            <a:ext cx="10972800" cy="539496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1. 《评审表-需求变更管理》课程大作业评审检查表 V2.0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2. SRA2026-G06-软件需求规格说明书（SRS基线 v1.0）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3. SRA2026-G06-项目计划书、项目章程、可行性分析报告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4. 超算中心运营管理门户网站界面原型与前序UML基础PPT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2062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5. 01-二次客户调研与访谈记录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8920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6. 02-需求变更申请报告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14630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7. 03-对新需求的可行性分析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21488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8. 04-需求变更影响分析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28346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9. 05-CCB章程、06-CCB会议邀请函、07-CCB会议纪要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35204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10. 09-后续阶段计划性安排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42062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11. 10-内部评审记录与整改跟踪表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48920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等线"/>
                <a:ea typeface="等线"/>
                <a:cs typeface="等线"/>
              </a:rPr>
              <a:t>12. 11-需求管理台账与跟踪矩阵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等线"/>
                <a:ea typeface="等线"/>
                <a:cs typeface="等线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ssets/bsc.jpg"/>
          <p:cNvPicPr>
            <a:picLocks noChangeAspect="1"/>
          </p:cNvPicPr>
          <p:nvPr/>
        </p:nvPicPr>
        <p:blipFill>
          <a:blip r:embed="rId2"/>
          <a:srcRect l="10495" r="1049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4">
              <a:alpha val="80000"/>
            </a:srgbClr>
          </a:solidFill>
          <a:ln w="12700">
            <a:solidFill>
              <a:srgbClr val="071B3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68680" y="114300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谢谢聆听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96112" y="178308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9FF"/>
                </a:solidFill>
                <a:latin typeface="等线"/>
                <a:ea typeface="等线"/>
                <a:cs typeface="等线"/>
              </a:rPr>
              <a:t>欢迎老师与同学批评指正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41248" y="2834640"/>
            <a:ext cx="4800600" cy="2377440"/>
          </a:xfrm>
          <a:prstGeom prst="roundRect">
            <a:avLst>
              <a:gd name="adj" fmla="val 3846"/>
            </a:avLst>
          </a:prstGeom>
          <a:solidFill>
            <a:srgbClr val="0B2648">
              <a:alpha val="82000"/>
            </a:srgbClr>
          </a:solidFill>
          <a:ln w="12700">
            <a:solidFill>
              <a:srgbClr val="5CB0FF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5568" y="3246120"/>
            <a:ext cx="42519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第</a:t>
            </a:r>
            <a:r>
              <a:rPr lang="en-US" sz="160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6组</a:t>
            </a:r>
          </a:p>
          <a:p>
            <a:pPr marL="0" indent="0" algn="ctr">
              <a:buNone/>
            </a:pPr>
            <a:r>
              <a:rPr lang="zh-CN" altLang="en-US" sz="160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吴</a:t>
            </a:r>
            <a:r>
              <a:rPr lang="zh-CN" altLang="en-US" sz="160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易骏</a:t>
            </a:r>
            <a:r>
              <a:rPr lang="en-US" sz="160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｜</a:t>
            </a:r>
            <a:r>
              <a:rPr lang="zh-CN" altLang="en-US" sz="160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肖泓宇</a:t>
            </a:r>
            <a:r>
              <a:rPr lang="en-US" sz="160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｜</a:t>
            </a:r>
            <a:r>
              <a:rPr lang="zh-CN" altLang="en-US" sz="160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蒋长麟</a:t>
            </a:r>
            <a:r>
              <a:rPr lang="en-US" sz="160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｜</a:t>
            </a:r>
            <a:r>
              <a:rPr lang="zh-CN" altLang="en-US" sz="160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陈许恺</a:t>
            </a:r>
            <a:r>
              <a:rPr lang="en-US" sz="160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｜</a:t>
            </a:r>
            <a:r>
              <a:rPr lang="zh-CN" altLang="en-US" sz="1600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王涛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60920" y="19202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3E4FF"/>
            </a:solidFill>
            <a:prstDash val="solid"/>
          </a:ln>
        </p:spPr>
      </p:sp>
      <p:pic>
        <p:nvPicPr>
          <p:cNvPr id="9" name="Image 1" descr="/mnt/data/assets/tap_home.png"/>
          <p:cNvPicPr>
            <a:picLocks noChangeAspect="1"/>
          </p:cNvPicPr>
          <p:nvPr/>
        </p:nvPicPr>
        <p:blipFill>
          <a:blip r:embed="rId3"/>
          <a:srcRect l="4449" r="4449"/>
          <a:stretch>
            <a:fillRect/>
          </a:stretch>
        </p:blipFill>
        <p:spPr>
          <a:xfrm>
            <a:off x="7498080" y="2057400"/>
            <a:ext cx="3246120" cy="1965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543800" y="4754880"/>
            <a:ext cx="3154680" cy="475488"/>
          </a:xfrm>
          <a:prstGeom prst="roundRect">
            <a:avLst>
              <a:gd name="adj" fmla="val 15385"/>
            </a:avLst>
          </a:prstGeom>
          <a:solidFill>
            <a:srgbClr val="0D2A52">
              <a:alpha val="88000"/>
            </a:srgbClr>
          </a:solidFill>
          <a:ln w="10160">
            <a:solidFill>
              <a:srgbClr val="5DB0FF">
                <a:alpha val="6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99248" y="4910328"/>
            <a:ext cx="28346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等线"/>
                <a:ea typeface="等线"/>
                <a:cs typeface="等线"/>
              </a:rPr>
              <a:t>SRS基线 · 二次访谈 · CCB决策 · 变更追踪</a:t>
            </a:r>
            <a:endParaRPr lang="en-US" sz="1020" dirty="0"/>
          </a:p>
        </p:txBody>
      </p:sp>
      <p:sp>
        <p:nvSpPr>
          <p:cNvPr id="13" name="Text 8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BFF"/>
                </a:solidFill>
                <a:latin typeface="等线"/>
                <a:ea typeface="等线"/>
                <a:cs typeface="等线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5.2,&quot;left&quot;:80.64,&quot;top&quot;:164.16,&quot;width&quot;:806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"/>
        <a:ea typeface="等线"/>
        <a:cs typeface="等线"/>
        <a:font script="Jpan" typeface="等线"/>
        <a:font script="Hang" typeface="等线"/>
        <a:font script="Hans" typeface="等线"/>
        <a:font script="Hant" typeface="等线"/>
        <a:font script="Arab" typeface="等线"/>
        <a:font script="Hebr" typeface="等线"/>
        <a:font script="Thai" typeface="等线"/>
        <a:font script="Ethi" typeface="等线"/>
        <a:font script="Beng" typeface="等线"/>
        <a:font script="Gujr" typeface="等线"/>
        <a:font script="Khmr" typeface="等线"/>
        <a:font script="Knda" typeface="等线"/>
        <a:font script="Guru" typeface="等线"/>
        <a:font script="Cans" typeface="等线"/>
        <a:font script="Cher" typeface="等线"/>
        <a:font script="Yiii" typeface="等线"/>
        <a:font script="Tibt" typeface="等线"/>
        <a:font script="Thaa" typeface="等线"/>
        <a:font script="Deva" typeface="等线"/>
        <a:font script="Telu" typeface="等线"/>
        <a:font script="Taml" typeface="等线"/>
        <a:font script="Syrc" typeface="等线"/>
        <a:font script="Orya" typeface="等线"/>
        <a:font script="Mlym" typeface="等线"/>
        <a:font script="Laoo" typeface="等线"/>
        <a:font script="Sinh" typeface="等线"/>
        <a:font script="Mong" typeface="等线"/>
        <a:font script="Viet" typeface="等线"/>
        <a:font script="Uigh" typeface="等线"/>
        <a:font script="Geor" typeface="等线"/>
      </a:majorFont>
      <a:minorFont>
        <a:latin typeface="等线"/>
        <a:ea typeface="等线"/>
        <a:cs typeface="等线"/>
        <a:font script="Jpan" typeface="等线"/>
        <a:font script="Hang" typeface="等线"/>
        <a:font script="Hans" typeface="等线"/>
        <a:font script="Hant" typeface="等线"/>
        <a:font script="Arab" typeface="等线"/>
        <a:font script="Hebr" typeface="等线"/>
        <a:font script="Thai" typeface="等线"/>
        <a:font script="Ethi" typeface="等线"/>
        <a:font script="Beng" typeface="等线"/>
        <a:font script="Gujr" typeface="等线"/>
        <a:font script="Khmr" typeface="等线"/>
        <a:font script="Knda" typeface="等线"/>
        <a:font script="Guru" typeface="等线"/>
        <a:font script="Cans" typeface="等线"/>
        <a:font script="Cher" typeface="等线"/>
        <a:font script="Yiii" typeface="等线"/>
        <a:font script="Tibt" typeface="等线"/>
        <a:font script="Thaa" typeface="等线"/>
        <a:font script="Deva" typeface="等线"/>
        <a:font script="Telu" typeface="等线"/>
        <a:font script="Taml" typeface="等线"/>
        <a:font script="Syrc" typeface="等线"/>
        <a:font script="Orya" typeface="等线"/>
        <a:font script="Mlym" typeface="等线"/>
        <a:font script="Laoo" typeface="等线"/>
        <a:font script="Sinh" typeface="等线"/>
        <a:font script="Mong" typeface="等线"/>
        <a:font script="Viet" typeface="等线"/>
        <a:font script="Uigh" typeface="等线"/>
        <a:font script="Geor" typeface="等线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"/>
        <a:ea typeface="等线"/>
        <a:cs typeface="等线"/>
        <a:font script="Jpan" typeface="等线"/>
        <a:font script="Hang" typeface="等线"/>
        <a:font script="Hans" typeface="等线"/>
        <a:font script="Hant" typeface="等线"/>
        <a:font script="Arab" typeface="等线"/>
        <a:font script="Hebr" typeface="等线"/>
        <a:font script="Thai" typeface="等线"/>
        <a:font script="Ethi" typeface="等线"/>
        <a:font script="Beng" typeface="等线"/>
        <a:font script="Gujr" typeface="等线"/>
        <a:font script="Khmr" typeface="等线"/>
        <a:font script="Knda" typeface="等线"/>
        <a:font script="Guru" typeface="等线"/>
        <a:font script="Cans" typeface="等线"/>
        <a:font script="Cher" typeface="等线"/>
        <a:font script="Yiii" typeface="等线"/>
        <a:font script="Tibt" typeface="等线"/>
        <a:font script="Thaa" typeface="等线"/>
        <a:font script="Deva" typeface="等线"/>
        <a:font script="Telu" typeface="等线"/>
        <a:font script="Taml" typeface="等线"/>
        <a:font script="Syrc" typeface="等线"/>
        <a:font script="Orya" typeface="等线"/>
        <a:font script="Mlym" typeface="等线"/>
        <a:font script="Laoo" typeface="等线"/>
        <a:font script="Sinh" typeface="等线"/>
        <a:font script="Mong" typeface="等线"/>
        <a:font script="Viet" typeface="等线"/>
        <a:font script="Uigh" typeface="等线"/>
        <a:font script="Geor" typeface="等线"/>
      </a:majorFont>
      <a:minorFont>
        <a:latin typeface="等线"/>
        <a:ea typeface="等线"/>
        <a:cs typeface="等线"/>
        <a:font script="Jpan" typeface="等线"/>
        <a:font script="Hang" typeface="等线"/>
        <a:font script="Hans" typeface="等线"/>
        <a:font script="Hant" typeface="等线"/>
        <a:font script="Arab" typeface="等线"/>
        <a:font script="Hebr" typeface="等线"/>
        <a:font script="Thai" typeface="等线"/>
        <a:font script="Ethi" typeface="等线"/>
        <a:font script="Beng" typeface="等线"/>
        <a:font script="Gujr" typeface="等线"/>
        <a:font script="Khmr" typeface="等线"/>
        <a:font script="Knda" typeface="等线"/>
        <a:font script="Guru" typeface="等线"/>
        <a:font script="Cans" typeface="等线"/>
        <a:font script="Cher" typeface="等线"/>
        <a:font script="Yiii" typeface="等线"/>
        <a:font script="Tibt" typeface="等线"/>
        <a:font script="Thaa" typeface="等线"/>
        <a:font script="Deva" typeface="等线"/>
        <a:font script="Telu" typeface="等线"/>
        <a:font script="Taml" typeface="等线"/>
        <a:font script="Syrc" typeface="等线"/>
        <a:font script="Orya" typeface="等线"/>
        <a:font script="Mlym" typeface="等线"/>
        <a:font script="Laoo" typeface="等线"/>
        <a:font script="Sinh" typeface="等线"/>
        <a:font script="Mong" typeface="等线"/>
        <a:font script="Viet" typeface="等线"/>
        <a:font script="Uigh" typeface="等线"/>
        <a:font script="Geor" typeface="等线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1359</Words>
  <Application>Microsoft Office PowerPoint</Application>
  <PresentationFormat>宽屏</PresentationFormat>
  <Paragraphs>447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等线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超算中心运营管理门户网站 项目计划书评审汇报</dc:title>
  <dc:subject>超算中心运营管理门户网站 项目计划书评审汇报</dc:subject>
  <dc:creator>OpenAI</dc:creator>
  <cp:lastModifiedBy>YIJUN WU</cp:lastModifiedBy>
  <cp:revision>9</cp:revision>
  <dcterms:created xsi:type="dcterms:W3CDTF">2026-03-24T10:03:00Z</dcterms:created>
  <dcterms:modified xsi:type="dcterms:W3CDTF">2026-06-15T08:42:03Z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815F3155A259442FA6F9C4CA75D844C6_12</vt:lpwstr>
  </property>
</Properties>
</file>