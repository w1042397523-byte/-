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31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互动Q1答案：A。对象图关注具体对象快照，例如 u01:User、a24:ResourceApplication、j2415:Job 以及 status=审批通过、runState=运行中等具体值。B也与对象有关，但类图表达的是类型和通用结构；C关注包组织。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互动Q2答案：A。构件图的优势在于说明服务构件、接口和依赖关系。B的对象图强调具体对象实例，C的包图强调逻辑组织和代码包依赖，都不是这道题最直接的图。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互动Q3答案：A。A体现了从页面到应用层，再到领域模型和基础设施的合理依赖方向。B会让领域模型依赖页面技术，C会导致包失去组织意义。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互动Q4答案：A。题干中的“门户 Web、申请服务、审批服务、通知服务”是服务构件，且强调依赖关系，因此是构件图。对象图必须有对象实例和具体值，包图强调包和分层组织。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互动Q5答案：A。对象图、构件图、包图各自回答不同层级的问题，必须与超算门户项目一致。B只看形式，C脱离项目，都不符合这次汇报要求。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UML基础III：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对象图、构件图、包图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翻转课堂 / 专题汇报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128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第6组｜吴易骏 肖泓宇 蒋长麟 陈许恺 王涛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4846320" cy="561252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88950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项目：超算中心运营管理门户网站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" y="3218688"/>
            <a:ext cx="455371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051560"/>
            <a:ext cx="899770" cy="256032"/>
          </a:xfrm>
          <a:prstGeom prst="rect">
            <a:avLst/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307592"/>
            <a:ext cx="1874520" cy="886968"/>
          </a:xfrm>
          <a:prstGeom prst="rect">
            <a:avLst/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536192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47104" y="1883664"/>
            <a:ext cx="158191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service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 / infra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18120" y="2487168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FF4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2578608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7927848" y="277977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927848" y="3054096"/>
            <a:ext cx="1700784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申请服务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审批服务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52560" y="4023360"/>
            <a:ext cx="1828800" cy="1143000"/>
          </a:xfrm>
          <a:prstGeom prst="rect">
            <a:avLst/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4023360"/>
            <a:ext cx="1828800" cy="594360"/>
          </a:xfrm>
          <a:prstGeom prst="rect">
            <a:avLst/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40965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25712" y="42702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52560" y="4636008"/>
            <a:ext cx="1828800" cy="0"/>
          </a:xfrm>
          <a:prstGeom prst="line">
            <a:avLst/>
          </a:prstGeom>
          <a:noFill/>
          <a:ln w="10160">
            <a:solidFill>
              <a:srgbClr val="10A3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62288" y="4745736"/>
            <a:ext cx="16093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app24:申请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status=通过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2240280"/>
            <a:ext cx="674764" cy="246888"/>
          </a:xfrm>
          <a:prstGeom prst="line">
            <a:avLst/>
          </a:prstGeom>
          <a:noFill/>
          <a:ln w="15240">
            <a:solidFill>
              <a:srgbClr val="8A56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32520" y="3566160"/>
            <a:ext cx="640080" cy="429768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63276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252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UML基础III是什么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160520" y="128016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为什么继续学习对象图、构件图、包图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17320" y="1627632"/>
            <a:ext cx="9281160" cy="0"/>
          </a:xfrm>
          <a:prstGeom prst="line">
            <a:avLst/>
          </a:prstGeom>
          <a:noFill/>
          <a:ln w="7620">
            <a:solidFill>
              <a:srgbClr val="D7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39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057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60520" y="208483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用具体对象快照解释超算门户某一时刻的业务状态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417320" y="2432304"/>
            <a:ext cx="9281160" cy="0"/>
          </a:xfrm>
          <a:prstGeom prst="line">
            <a:avLst/>
          </a:prstGeom>
          <a:noFill/>
          <a:ln w="7620">
            <a:solidFill>
              <a:srgbClr val="D7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437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8620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160520" y="2889504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用服务构件说明门户系统的功能拆分与依赖关系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417320" y="3236976"/>
            <a:ext cx="9281160" cy="0"/>
          </a:xfrm>
          <a:prstGeom prst="line">
            <a:avLst/>
          </a:prstGeom>
          <a:noFill/>
          <a:ln w="7620">
            <a:solidFill>
              <a:srgbClr val="D7DC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484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A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36667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60520" y="369417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用包组织说明后续代码、文档和模型如何分层管理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417320" y="4041648"/>
            <a:ext cx="9281160" cy="0"/>
          </a:xfrm>
          <a:prstGeom prst="line">
            <a:avLst/>
          </a:prstGeom>
          <a:noFill/>
          <a:ln w="7620">
            <a:solidFill>
              <a:srgbClr val="D7DC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531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A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7320" y="4471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课堂互动与收尾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160520" y="449884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5个互动问题、分工评分、参考文献与致谢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417320" y="4846320"/>
            <a:ext cx="9281160" cy="0"/>
          </a:xfrm>
          <a:prstGeom prst="line">
            <a:avLst/>
          </a:prstGeom>
          <a:noFill/>
          <a:ln w="7620">
            <a:solidFill>
              <a:srgbClr val="D7DC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596128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5742432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项目语境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77824" y="6071616"/>
            <a:ext cx="104058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00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围绕“超算中心运营管理门户网站”的用户服务、资源申请、审批流转、作业监控、账单工单等模块展开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UML基础III是什么：为什么</a:t>
            </a:r>
            <a:r>
              <a:rPr lang="zh-CN" alt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</a:t>
            </a: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3 种图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它们都是结构视角，但分别落在“对象实例、构件服务、包组织”三个层面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33132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48038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" y="1801368"/>
            <a:ext cx="3044952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回答“某一时刻系统里有哪些具体对象，它们的值和关系是什么”。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适合展示一次资源申请完成后的运行时快照。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47218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1144" y="1801368"/>
            <a:ext cx="3044952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回答“系统由哪些可替换/可部署的服务构件组成，它们如何依赖接口”。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适合说明门户服务拆分。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47218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0184" y="1801368"/>
            <a:ext cx="3044952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回答“模型、代码和文档如何按逻辑层次组织，包之间怎样依赖”。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适合说明后续开发与文档结构。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42288" y="3954780"/>
            <a:ext cx="1724747" cy="0"/>
          </a:xfrm>
          <a:prstGeom prst="line">
            <a:avLst/>
          </a:prstGeom>
          <a:noFill/>
          <a:ln w="17780">
            <a:solidFill>
              <a:srgbClr val="2F66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3620" y="3954780"/>
            <a:ext cx="2331720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122038" y="3848205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对象快照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483" y="3848205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服务构件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5099" y="384678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A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包组织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" y="4709160"/>
            <a:ext cx="9921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9304" y="4855464"/>
            <a:ext cx="9628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9304" y="5184648"/>
            <a:ext cx="96286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UML基础I偏“角色、对象类型、状态、交互、部署”；UML基础III进一步补上结构建模的三个细节：对象图看实例，构件图看服务，包图看组织。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引注：[1]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三种图分别回答什么项目问题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同样是结构视角，但关注对象、服务和组织三个不同层级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1280160" cy="438912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62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1234440"/>
            <a:ext cx="2560320" cy="438912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3624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234440"/>
            <a:ext cx="3154680" cy="438912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36245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在超算门户里最适合回答的问题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0" y="1234440"/>
            <a:ext cx="2697480" cy="438912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13624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项目模块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1673352"/>
            <a:ext cx="128016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783080"/>
            <a:ext cx="11338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286000" y="1673352"/>
            <a:ext cx="25603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1783080"/>
            <a:ext cx="241401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对象实例 + 属性值 + 链接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120640" y="1673352"/>
            <a:ext cx="315468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1783080"/>
            <a:ext cx="300837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一次申请提交后，具体有哪些用户、项目、申请、作业对象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69748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68512" y="1783080"/>
            <a:ext cx="255117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申请、作业、账单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31520" y="2423160"/>
            <a:ext cx="128016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2532888"/>
            <a:ext cx="11338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286000" y="2423160"/>
            <a:ext cx="25603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9152" y="2532888"/>
            <a:ext cx="241401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服务构件 + 接口 + 依赖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20640" y="2423160"/>
            <a:ext cx="315468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2532888"/>
            <a:ext cx="300837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门户前端、申请服务、审批服务、作业服务如何协同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595360" y="2423160"/>
            <a:ext cx="269748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68512" y="2532888"/>
            <a:ext cx="255117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业务服务拆分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31520" y="3172968"/>
            <a:ext cx="128016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3282696"/>
            <a:ext cx="11338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A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2286000" y="3172968"/>
            <a:ext cx="25603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59152" y="3282696"/>
            <a:ext cx="241401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逻辑包 + 分层 + 依赖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120640" y="3172968"/>
            <a:ext cx="315468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3282696"/>
            <a:ext cx="300837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代码、模型、页面和接口说明如何按层组织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595360" y="3172968"/>
            <a:ext cx="269748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68512" y="3282696"/>
            <a:ext cx="255117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开发结构 / 文档结构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" y="4764024"/>
            <a:ext cx="10314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判断方式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23544" y="5093208"/>
            <a:ext cx="10314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如果问题里出现“具体对象、当前值、某一时刻”，优先考虑对象图；出现“服务、接口、依赖”，优先考虑构件图；出现“包、层次、模块组织”，优先考虑包图。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引注：[1][2][3][4]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对象图：把类图中的“类型”变成某一时刻的“实例”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对象图通常展示类的实例、对象属性值，以及对象之间的链接关系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2893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" y="1618488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对象图展示的是系统在某一瞬间的实例快照。它和类图很像，但类图讲“有哪些类”，对象图讲“现在有哪些具体对象”。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2893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在本项目里看什么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1144" y="1618488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例如某个用户已经提交“气候模拟项目”的正式资源申请，申请已通过，并且对应生成了作业和账单。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DECEC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2893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0184" y="1618488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对象图不是再画一遍类图；它必须出现具体对象名、属性值和某一时刻的连接关系。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34440" y="3657600"/>
            <a:ext cx="1828800" cy="1143000"/>
          </a:xfrm>
          <a:prstGeom prst="rect">
            <a:avLst/>
          </a:prstGeom>
          <a:solidFill>
            <a:srgbClr val="FFFF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657600"/>
            <a:ext cx="1828800" cy="438912"/>
          </a:xfrm>
          <a:prstGeom prst="rect">
            <a:avLst/>
          </a:prstGeom>
          <a:solidFill>
            <a:srgbClr val="FFFF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592" y="378561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234440" y="4114800"/>
            <a:ext cx="1828800" cy="0"/>
          </a:xfrm>
          <a:prstGeom prst="line">
            <a:avLst/>
          </a:prstGeom>
          <a:noFill/>
          <a:ln w="10160">
            <a:solidFill>
              <a:srgbClr val="2F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4168" y="4224528"/>
            <a:ext cx="160934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userId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role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email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4224528"/>
            <a:ext cx="14630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83480" y="3520440"/>
            <a:ext cx="2194560" cy="1417320"/>
          </a:xfrm>
          <a:prstGeom prst="rect">
            <a:avLst/>
          </a:prstGeom>
          <a:solidFill>
            <a:srgbClr val="EAF1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520440"/>
            <a:ext cx="2194560" cy="594360"/>
          </a:xfrm>
          <a:prstGeom prst="rect">
            <a:avLst/>
          </a:prstGeom>
          <a:solidFill>
            <a:srgbClr val="EAF1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5935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56632" y="37673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u001:User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983480" y="4133088"/>
            <a:ext cx="2194560" cy="0"/>
          </a:xfrm>
          <a:prstGeom prst="line">
            <a:avLst/>
          </a:prstGeom>
          <a:noFill/>
          <a:ln w="10160">
            <a:solidFill>
              <a:srgbClr val="2F6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4242816"/>
            <a:ext cx="197510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userId=001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role=普通用户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email=stu@zucc.edu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3840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从类型到实例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18120" y="365760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64424" y="380390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964424" y="4133088"/>
            <a:ext cx="25877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如果类图是“户型图”，对象图就是“今天这套房里具体放了哪些家具”。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引注：[2]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项目对象图：一次资源申请通过后的运行时快照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用具体对象展示“用户—项目—申请—作业—账单—工单”的某一时刻关系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1965960"/>
            <a:ext cx="1143000" cy="0"/>
          </a:xfrm>
          <a:prstGeom prst="line">
            <a:avLst/>
          </a:prstGeom>
          <a:noFill/>
          <a:ln w="13970">
            <a:solidFill>
              <a:srgbClr val="9AA5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1965960"/>
            <a:ext cx="1005840" cy="0"/>
          </a:xfrm>
          <a:prstGeom prst="line">
            <a:avLst/>
          </a:prstGeom>
          <a:noFill/>
          <a:ln w="13970">
            <a:solidFill>
              <a:srgbClr val="9AA5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965960"/>
            <a:ext cx="1097280" cy="0"/>
          </a:xfrm>
          <a:prstGeom prst="line">
            <a:avLst/>
          </a:prstGeom>
          <a:noFill/>
          <a:ln w="13970">
            <a:solidFill>
              <a:srgbClr val="9AA5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788920"/>
            <a:ext cx="0" cy="1188720"/>
          </a:xfrm>
          <a:prstGeom prst="line">
            <a:avLst/>
          </a:prstGeom>
          <a:noFill/>
          <a:ln w="13970">
            <a:solidFill>
              <a:srgbClr val="9AA5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2788920"/>
            <a:ext cx="0" cy="1188720"/>
          </a:xfrm>
          <a:prstGeom prst="line">
            <a:avLst/>
          </a:prstGeom>
          <a:noFill/>
          <a:ln w="13970">
            <a:solidFill>
              <a:srgbClr val="9AA5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788920"/>
            <a:ext cx="0" cy="1188720"/>
          </a:xfrm>
          <a:prstGeom prst="line">
            <a:avLst/>
          </a:prstGeom>
          <a:noFill/>
          <a:ln w="13970">
            <a:solidFill>
              <a:srgbClr val="9AA5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325880"/>
            <a:ext cx="2011680" cy="1325880"/>
          </a:xfrm>
          <a:prstGeom prst="rect">
            <a:avLst/>
          </a:prstGeom>
          <a:solidFill>
            <a:srgbClr val="EAF1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325880"/>
            <a:ext cx="2011680" cy="594360"/>
          </a:xfrm>
          <a:prstGeom prst="rect">
            <a:avLst/>
          </a:prstGeom>
          <a:solidFill>
            <a:srgbClr val="EAF1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3990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3232" y="15727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u01:User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1938528"/>
            <a:ext cx="2011680" cy="0"/>
          </a:xfrm>
          <a:prstGeom prst="line">
            <a:avLst/>
          </a:prstGeom>
          <a:noFill/>
          <a:ln w="10160">
            <a:solidFill>
              <a:srgbClr val="2F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048256"/>
            <a:ext cx="179222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role=普通用户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email=stu01@zucc.edu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1325880"/>
            <a:ext cx="1645920" cy="1325880"/>
          </a:xfrm>
          <a:prstGeom prst="rect">
            <a:avLst/>
          </a:prstGeom>
          <a:solidFill>
            <a:srgbClr val="F1EAFF"/>
          </a:solidFill>
          <a:ln w="16510">
            <a:solidFill>
              <a:srgbClr val="8A5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94760" y="1325880"/>
            <a:ext cx="1645920" cy="594360"/>
          </a:xfrm>
          <a:prstGeom prst="rect">
            <a:avLst/>
          </a:prstGeom>
          <a:solidFill>
            <a:srgbClr val="F1EAFF"/>
          </a:solidFill>
          <a:ln w="16510">
            <a:solidFill>
              <a:srgbClr val="8A5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3990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67912" y="15727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p24:Project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94760" y="1938528"/>
            <a:ext cx="1645920" cy="0"/>
          </a:xfrm>
          <a:prstGeom prst="line">
            <a:avLst/>
          </a:prstGeom>
          <a:noFill/>
          <a:ln w="10160">
            <a:solidFill>
              <a:srgbClr val="8A5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04488" y="2048256"/>
            <a:ext cx="142646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name=气候模拟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quota=已分配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46520" y="1234440"/>
            <a:ext cx="1645920" cy="1508760"/>
          </a:xfrm>
          <a:prstGeom prst="rect">
            <a:avLst/>
          </a:prstGeom>
          <a:solidFill>
            <a:srgbClr val="FFF4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1234440"/>
            <a:ext cx="1645920" cy="594360"/>
          </a:xfrm>
          <a:prstGeom prst="rect">
            <a:avLst/>
          </a:prstGeom>
          <a:solidFill>
            <a:srgbClr val="FFF4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3075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19672" y="148132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a24:ResourceApplication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46520" y="1847088"/>
            <a:ext cx="1645920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1956816"/>
            <a:ext cx="1426464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type=正式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status=审批通过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submit=2026-03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89720" y="1325880"/>
            <a:ext cx="1828800" cy="1325880"/>
          </a:xfrm>
          <a:prstGeom prst="rect">
            <a:avLst/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9720" y="1325880"/>
            <a:ext cx="1828800" cy="594360"/>
          </a:xfrm>
          <a:prstGeom prst="rect">
            <a:avLst/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13990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262872" y="15727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j2415:Job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189720" y="1938528"/>
            <a:ext cx="1828800" cy="0"/>
          </a:xfrm>
          <a:prstGeom prst="line">
            <a:avLst/>
          </a:prstGeom>
          <a:noFill/>
          <a:ln w="10160">
            <a:solidFill>
              <a:srgbClr val="10A3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9448" y="2048256"/>
            <a:ext cx="16093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queue=gpu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runState=运行中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0" y="3977640"/>
            <a:ext cx="1920240" cy="1234440"/>
          </a:xfrm>
          <a:prstGeom prst="rect">
            <a:avLst/>
          </a:prstGeom>
          <a:solidFill>
            <a:srgbClr val="FFF7E8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0" y="3977640"/>
            <a:ext cx="1920240" cy="594360"/>
          </a:xfrm>
          <a:prstGeom prst="rect">
            <a:avLst/>
          </a:prstGeom>
          <a:solidFill>
            <a:srgbClr val="FFF7E8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40507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47872" y="422452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b03:Bill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474720" y="4590288"/>
            <a:ext cx="1920240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84448" y="4700016"/>
            <a:ext cx="170078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period=2026-03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amount=¥5420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3977640"/>
            <a:ext cx="1920240" cy="1234440"/>
          </a:xfrm>
          <a:prstGeom prst="rect">
            <a:avLst/>
          </a:prstGeom>
          <a:solidFill>
            <a:srgbClr val="F1EAFF"/>
          </a:solidFill>
          <a:ln w="16510">
            <a:solidFill>
              <a:srgbClr val="8A56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3977640"/>
            <a:ext cx="1920240" cy="594360"/>
          </a:xfrm>
          <a:prstGeom prst="rect">
            <a:avLst/>
          </a:prstGeom>
          <a:solidFill>
            <a:srgbClr val="F1EAFF"/>
          </a:solidFill>
          <a:ln w="16510">
            <a:solidFill>
              <a:srgbClr val="8A5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0507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28232" y="422452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r01:ApprovalRecord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355080" y="4590288"/>
            <a:ext cx="1920240" cy="0"/>
          </a:xfrm>
          <a:prstGeom prst="line">
            <a:avLst/>
          </a:prstGeom>
          <a:noFill/>
          <a:ln w="10160">
            <a:solidFill>
              <a:srgbClr val="8A5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64808" y="4700016"/>
            <a:ext cx="170078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reviewer=PI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decision=通过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144000" y="3977640"/>
            <a:ext cx="1828800" cy="1234440"/>
          </a:xfrm>
          <a:prstGeom prst="rect">
            <a:avLst/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0" y="3977640"/>
            <a:ext cx="1828800" cy="594360"/>
          </a:xfrm>
          <a:prstGeom prst="rect">
            <a:avLst/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40507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217152" y="42245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t07:Ticket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9144000" y="4590288"/>
            <a:ext cx="1828800" cy="0"/>
          </a:xfrm>
          <a:prstGeom prst="line">
            <a:avLst/>
          </a:prstGeom>
          <a:noFill/>
          <a:ln w="10160">
            <a:solidFill>
              <a:srgbClr val="10A3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53728" y="4700016"/>
            <a:ext cx="16093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type=环境配置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state=处理中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926080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669280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321040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526280" y="3337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406640" y="33375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104120" y="33375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服务支持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85800" y="5714999"/>
            <a:ext cx="10698480" cy="749807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104" y="5861304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图示要点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32104" y="6190488"/>
            <a:ext cx="1040587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这不是“所有可能类”的全集，而是一次资源申请通过后系统中的对象快照；它能帮助我们检查类图设计是否能落到真实业务实例。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引注：[5]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对象图在超算门户里的使用价值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它更适合用来检查“类图是否能跑出真实业务实例”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188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33502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验证对象关系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" y="1664208"/>
            <a:ext cx="299923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User、Project、ResourceApplication、Job、Bill 之间的连接是否合理。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188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33502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验证状态值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1144" y="1664208"/>
            <a:ext cx="299923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用具体值说明申请已通过、作业运行中、账单已出账等状态是否能表达。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133502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支撑测试用例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93024" y="1664208"/>
            <a:ext cx="299923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后续写测试用例时，可以用对象快照当作测试数据准备的参考。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3246120"/>
            <a:ext cx="10149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3392424"/>
            <a:ext cx="985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项目例子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" y="3721608"/>
            <a:ext cx="985723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如果一个用户提交正式资源申请后，却无法找到对应项目、审批记录和账单对象，说明类图或需求说明里可能漏掉了对象关系。对象图能把这类问题提前暴露出来。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507492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5221224"/>
            <a:ext cx="985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基本要求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2144" y="5550408"/>
            <a:ext cx="98572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对象图可以不用特别复杂，但必须有“具体对象名 + 属性值 + 对象链接”。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39" y="93111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课堂互动问题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39" y="1508760"/>
            <a:ext cx="10504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结合“超算中心运营管理门户网站”这个项目，如果前面已经用用例图、类图、顺序图讲清了角色、对象和交互，那 </a:t>
            </a:r>
            <a:r>
              <a:rPr lang="en-US" altLang="zh-CN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 </a:t>
            </a: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</a:t>
            </a:r>
            <a:r>
              <a:rPr lang="en-US" altLang="zh-CN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III </a:t>
            </a: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里继续讲 对象图、构件图、包图 的主要价值是什么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2304288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47802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16327" y="2487168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进一步把“某一时刻对象实例长什么样、系统模块如何组装、代码与功能如何分层组织”补充完整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321222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43814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16327" y="3425216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主要是为了把数据库字段、服务器参数和前端样式一次性全部定稿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42519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439826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608" y="4412768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主要用于替代前面的用例图和顺序图，让系统分析只保留三种图就够了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构件图：看系统由哪些可替换、可部署的服务构件组成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构件图强调构件、接口、依赖，适合从系统实现结构角度观察项目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19786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" y="1527048"/>
            <a:ext cx="3136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构件图展示系统的构件以及构件之间的依赖关系。构件可以是前端、服务、接口模块、数据库访问模块等。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051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19786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在本项目里看什么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1527048"/>
            <a:ext cx="3136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门户前端如何调用申请服务，审批服务如何调用通知服务，作业服务如何对接调度器。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051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DECEC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19786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38744" y="1527048"/>
            <a:ext cx="3136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构件图不是部署图。部署图讲“运行在哪些节点”，构件图讲“系统拆成哪些构件、谁依赖谁”。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" y="36576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1EAFF"/>
          </a:solidFill>
          <a:ln w="16510">
            <a:solidFill>
              <a:srgbClr val="8A5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749040"/>
            <a:ext cx="1746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61288" y="395020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门户前端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161288" y="4224528"/>
            <a:ext cx="1746504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/ 首页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申请入口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54680" y="4187952"/>
            <a:ext cx="1417320" cy="0"/>
          </a:xfrm>
          <a:prstGeom prst="line">
            <a:avLst/>
          </a:prstGeom>
          <a:noFill/>
          <a:ln w="16510">
            <a:solidFill>
              <a:srgbClr val="8A56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17720" y="35204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FF4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3611880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727448" y="38130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申请服务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727448" y="4087368"/>
            <a:ext cx="1883664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创建申请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查询状态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提交材料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03720" y="4187952"/>
            <a:ext cx="137160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321040" y="3662172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0768" y="3749040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430768" y="395020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审批服务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430768" y="4224528"/>
            <a:ext cx="1792224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审批任务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引注：[3]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项目构件图：门户系统的服务构件与依赖关系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把“登录、申请、审批、作业、账单、通知、数据存储”拆成清晰构件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48840" y="1755648"/>
            <a:ext cx="822960" cy="0"/>
          </a:xfrm>
          <a:prstGeom prst="line">
            <a:avLst/>
          </a:prstGeom>
          <a:noFill/>
          <a:ln w="13970">
            <a:solidFill>
              <a:srgbClr val="8A56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17720" y="1755648"/>
            <a:ext cx="86868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0" y="1755648"/>
            <a:ext cx="777240" cy="0"/>
          </a:xfrm>
          <a:prstGeom prst="line">
            <a:avLst/>
          </a:prstGeom>
          <a:noFill/>
          <a:ln w="13970">
            <a:solidFill>
              <a:srgbClr val="10A35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2221992"/>
            <a:ext cx="0" cy="1024128"/>
          </a:xfrm>
          <a:prstGeom prst="line">
            <a:avLst/>
          </a:prstGeom>
          <a:noFill/>
          <a:ln w="13970">
            <a:solidFill>
              <a:srgbClr val="10A35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4160520"/>
            <a:ext cx="0" cy="731520"/>
          </a:xfrm>
          <a:prstGeom prst="line">
            <a:avLst/>
          </a:prstGeom>
          <a:noFill/>
          <a:ln w="13970">
            <a:solidFill>
              <a:srgbClr val="10A35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94760" y="2221992"/>
            <a:ext cx="0" cy="102412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94760" y="4160520"/>
            <a:ext cx="0" cy="73152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15400" y="2221992"/>
            <a:ext cx="0" cy="1024128"/>
          </a:xfrm>
          <a:prstGeom prst="line">
            <a:avLst/>
          </a:prstGeom>
          <a:noFill/>
          <a:ln w="13970">
            <a:solidFill>
              <a:srgbClr val="10A35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15400" y="4160520"/>
            <a:ext cx="0" cy="731520"/>
          </a:xfrm>
          <a:prstGeom prst="line">
            <a:avLst/>
          </a:prstGeom>
          <a:noFill/>
          <a:ln w="13970">
            <a:solidFill>
              <a:srgbClr val="10A35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1261872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F1EAFF"/>
          </a:solidFill>
          <a:ln w="16510">
            <a:solidFill>
              <a:srgbClr val="8A5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1353312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04088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 Web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04088" y="1828800"/>
            <a:ext cx="133502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登录/导航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页面路由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71800" y="1261872"/>
            <a:ext cx="1645920" cy="960120"/>
          </a:xfrm>
          <a:prstGeom prst="roundRect">
            <a:avLst>
              <a:gd name="adj" fmla="val 5714"/>
            </a:avLst>
          </a:prstGeom>
          <a:solidFill>
            <a:srgbClr val="FFF4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81528" y="13533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081528" y="155448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申请服务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081528" y="1828800"/>
            <a:ext cx="14264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申请创建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材料提交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1261872"/>
            <a:ext cx="1645920" cy="960120"/>
          </a:xfrm>
          <a:prstGeom prst="roundRect">
            <a:avLst>
              <a:gd name="adj" fmla="val 5714"/>
            </a:avLst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13533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5596128" y="155448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审批服务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596128" y="1828800"/>
            <a:ext cx="14264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待办任务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909560" y="1261872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E4F7FB"/>
          </a:solidFill>
          <a:ln w="16510">
            <a:solidFill>
              <a:srgbClr val="06A6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19288" y="1353312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8019288" y="15544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通知服务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019288" y="1828800"/>
            <a:ext cx="17007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邮件提醒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88920" y="32461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98648" y="3337560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898648" y="35387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作业服务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2898648" y="3813048"/>
            <a:ext cx="1792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提交作业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查询状态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32461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FF4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6128" y="3337560"/>
            <a:ext cx="1609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596128" y="35387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账单服务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5596128" y="3813048"/>
            <a:ext cx="16093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费用统计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账单报表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909560" y="32461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19288" y="3337560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8019288" y="35387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工单服务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8019288" y="3813048"/>
            <a:ext cx="1792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问题反馈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运维处理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88920" y="489204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98648" y="4983480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2898648" y="518464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调度器适配器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2898648" y="5458968"/>
            <a:ext cx="1792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队列接口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日志文件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0" y="48920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4F7FB"/>
          </a:solidFill>
          <a:ln w="16510">
            <a:solidFill>
              <a:srgbClr val="06A6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6128" y="4983480"/>
            <a:ext cx="1609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5596128" y="51846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数据访问层</a:t>
            </a:r>
            <a:endParaRPr lang="en-US" sz="1120" dirty="0"/>
          </a:p>
        </p:txBody>
      </p:sp>
      <p:sp>
        <p:nvSpPr>
          <p:cNvPr id="52" name="Text 50"/>
          <p:cNvSpPr/>
          <p:nvPr/>
        </p:nvSpPr>
        <p:spPr>
          <a:xfrm>
            <a:off x="5596128" y="5458968"/>
            <a:ext cx="16093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用户/项目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申请/账单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909560" y="489204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AFF"/>
          </a:solidFill>
          <a:ln w="16510">
            <a:solidFill>
              <a:srgbClr val="8A56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19288" y="4983480"/>
            <a:ext cx="17922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8019288" y="518464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权限与审计</a:t>
            </a:r>
            <a:endParaRPr lang="en-US" sz="1120" dirty="0"/>
          </a:p>
        </p:txBody>
      </p:sp>
      <p:sp>
        <p:nvSpPr>
          <p:cNvPr id="56" name="Text 54"/>
          <p:cNvSpPr/>
          <p:nvPr/>
        </p:nvSpPr>
        <p:spPr>
          <a:xfrm>
            <a:off x="8019288" y="5458968"/>
            <a:ext cx="1792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操作留痕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195560" y="1261872"/>
            <a:ext cx="1417320" cy="154439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41864" y="140817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图示要点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0341864" y="1737360"/>
            <a:ext cx="1124712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构件图重点是“谁依赖谁”。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 Web 只负责页面入口，核心业务拆到申请、审批、作业、账单、工单等服务构件中。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引注：[5]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构件图还可以强调接口：谁提供能力，谁调用能力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同一个项目中，接口能让服务边界更清楚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1EAFF"/>
          </a:solidFill>
          <a:ln w="16510">
            <a:solidFill>
              <a:srgbClr val="8A5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463040"/>
            <a:ext cx="1609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41248" y="16642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 Web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60934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页面展示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用户操作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0" y="13716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FF4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463040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767328" y="166420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申请服务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767328" y="1938528"/>
            <a:ext cx="170078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IApplication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create/query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83680" y="13716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7F7EE"/>
          </a:solidFill>
          <a:ln w="16510">
            <a:solidFill>
              <a:srgbClr val="10A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1463040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693408" y="166420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审批服务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693408" y="1938528"/>
            <a:ext cx="170078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IApproval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approve/reject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18320" y="13716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4F7FB"/>
          </a:solidFill>
          <a:ln w="16510">
            <a:solidFill>
              <a:srgbClr val="06A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8048" y="1463040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9528048" y="166420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通知服务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528048" y="1938528"/>
            <a:ext cx="170078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INotify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sendMessage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0" y="1874520"/>
            <a:ext cx="1097280" cy="0"/>
          </a:xfrm>
          <a:prstGeom prst="line">
            <a:avLst/>
          </a:prstGeom>
          <a:noFill/>
          <a:ln w="15240">
            <a:solidFill>
              <a:srgbClr val="8A56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77840" y="1874520"/>
            <a:ext cx="100584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503920" y="1874520"/>
            <a:ext cx="914400" cy="0"/>
          </a:xfrm>
          <a:prstGeom prst="line">
            <a:avLst/>
          </a:prstGeom>
          <a:noFill/>
          <a:ln w="15240">
            <a:solidFill>
              <a:srgbClr val="10A35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99232" y="1783080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1499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IApplication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89320" y="1783080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41848" y="1499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IApproval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805672" y="1783080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6A6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14996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INotify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22960" y="315468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" y="330098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接口的意义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9264" y="3630168"/>
            <a:ext cx="290779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接口把“能做什么”从“怎么实现”中分离出来。例如前端只需要知道申请服务提供 createApplication 接口。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80560" y="315468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330098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对课程项目的意义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626864" y="3630168"/>
            <a:ext cx="290779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即使不真正编码，也能说明服务边界，为后续接口文档、SRS、测试用例做准备。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38160" y="315468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4464" y="330098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讲解时避免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84464" y="3630168"/>
            <a:ext cx="290779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不要把所有页面按钮都画成构件；构件应该是较稳定的服务或模块。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引注：[3]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互动Q2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940887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课堂互动问题 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在资源申请已经提交、正在审批的那个时刻，系统里到底有哪些具体实例对象，它们当前彼此怎么关联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2331720"/>
            <a:ext cx="1027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47802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6088" y="2478024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对象图，因为它能把某一时刻的 </a:t>
            </a:r>
            <a:r>
              <a:rPr lang="en-US" sz="1600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user:User、app:ResourceApplication、project:Project、approver:User</a:t>
            </a:r>
            <a:r>
              <a:rPr 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等实例及其链接关系直接画出来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3291840"/>
            <a:ext cx="1027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43814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99032" y="3456433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类图，因为类图已经包含 </a:t>
            </a:r>
            <a:r>
              <a:rPr lang="en-US" sz="1600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User、Project、Application</a:t>
            </a:r>
            <a:r>
              <a:rPr 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等类，所以天然等同于具体运行时对象快照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4251960"/>
            <a:ext cx="1027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439826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608" y="4414975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包图，因为包图能说明申请模块、审批模块、账单模块分属哪个包，所以也能直接看出实例之间如何连接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包图：用包组织模型、代码与文档结构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包图帮助我们把复杂系统拆成可维护的逻辑分组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28930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" y="1618488"/>
            <a:ext cx="313639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包图用类似文件夹的符号表示逻辑分组，并展示包之间的依赖关系。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1430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28930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在本项目里看什么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1618488"/>
            <a:ext cx="313639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前端页面、应用服务、领域对象、数据访问、调度器集成、通知与报表如何分层。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1430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DECEC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28930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38744" y="1618488"/>
            <a:ext cx="313639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包图不是“文件夹截图”，而是用来表达逻辑层次和依赖方向。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474720"/>
            <a:ext cx="965606" cy="256032"/>
          </a:xfrm>
          <a:prstGeom prst="rect">
            <a:avLst/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730752"/>
            <a:ext cx="2011680" cy="1024128"/>
          </a:xfrm>
          <a:prstGeom prst="rect">
            <a:avLst/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95935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ui.web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9264" y="4306824"/>
            <a:ext cx="17190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/ 首页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申请表单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作业监控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83280" y="3474720"/>
            <a:ext cx="965606" cy="256032"/>
          </a:xfrm>
          <a:prstGeom prst="rect">
            <a:avLst/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730752"/>
            <a:ext cx="2011680" cy="1024128"/>
          </a:xfrm>
          <a:prstGeom prst="rect">
            <a:avLst/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395935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9584" y="4306824"/>
            <a:ext cx="17190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申请用例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审批用例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作业用例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0" y="3474720"/>
            <a:ext cx="965606" cy="256032"/>
          </a:xfrm>
          <a:prstGeom prst="rect">
            <a:avLst/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3730752"/>
            <a:ext cx="2011680" cy="1024128"/>
          </a:xfrm>
          <a:prstGeom prst="rect">
            <a:avLst/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395935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9904" y="4306824"/>
            <a:ext cx="17190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/ Project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/ Bill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503920" y="3474720"/>
            <a:ext cx="965606" cy="256032"/>
          </a:xfrm>
          <a:prstGeom prst="rect">
            <a:avLst/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3730752"/>
            <a:ext cx="2011680" cy="1024128"/>
          </a:xfrm>
          <a:prstGeom prst="rect">
            <a:avLst/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1936" y="395935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50224" y="4306824"/>
            <a:ext cx="17190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Scheduler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Email/MQ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34640" y="4251960"/>
            <a:ext cx="548640" cy="0"/>
          </a:xfrm>
          <a:prstGeom prst="line">
            <a:avLst/>
          </a:prstGeom>
          <a:noFill/>
          <a:ln w="15240">
            <a:solidFill>
              <a:srgbClr val="8A56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394960" y="4251960"/>
            <a:ext cx="54864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955280" y="4251960"/>
            <a:ext cx="548640" cy="0"/>
          </a:xfrm>
          <a:prstGeom prst="line">
            <a:avLst/>
          </a:prstGeom>
          <a:noFill/>
          <a:ln w="15240">
            <a:solidFill>
              <a:srgbClr val="2F66FF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引注：[4]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项目包图：超算门户的逻辑包与依赖关系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把页面、应用服务、领域模型、基础设施和外部集成分开组织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691640"/>
            <a:ext cx="685800" cy="0"/>
          </a:xfrm>
          <a:prstGeom prst="line">
            <a:avLst/>
          </a:prstGeom>
          <a:noFill/>
          <a:ln w="13970">
            <a:solidFill>
              <a:srgbClr val="8A56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03520" y="1691640"/>
            <a:ext cx="68580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46720" y="1691640"/>
            <a:ext cx="685800" cy="0"/>
          </a:xfrm>
          <a:prstGeom prst="line">
            <a:avLst/>
          </a:prstGeom>
          <a:noFill/>
          <a:ln w="13970">
            <a:solidFill>
              <a:srgbClr val="2F66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12103" y="2286000"/>
            <a:ext cx="0" cy="141732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55302" y="2286000"/>
            <a:ext cx="0" cy="1417320"/>
          </a:xfrm>
          <a:prstGeom prst="line">
            <a:avLst/>
          </a:prstGeom>
          <a:noFill/>
          <a:ln w="13970">
            <a:solidFill>
              <a:srgbClr val="2F66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81160" y="2304288"/>
            <a:ext cx="9459" cy="1399032"/>
          </a:xfrm>
          <a:prstGeom prst="line">
            <a:avLst/>
          </a:prstGeom>
          <a:noFill/>
          <a:ln w="13970">
            <a:solidFill>
              <a:srgbClr val="10A35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1097280"/>
            <a:ext cx="921715" cy="256032"/>
          </a:xfrm>
          <a:prstGeom prst="rect">
            <a:avLst/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353312"/>
            <a:ext cx="1920240" cy="932688"/>
          </a:xfrm>
          <a:prstGeom prst="rect">
            <a:avLst/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158191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ui.web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1929384"/>
            <a:ext cx="16276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页面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1097280"/>
            <a:ext cx="987552" cy="256032"/>
          </a:xfrm>
          <a:prstGeom prst="rect">
            <a:avLst/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353312"/>
            <a:ext cx="2057400" cy="932688"/>
          </a:xfrm>
          <a:prstGeom prst="rect">
            <a:avLst/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58191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92424" y="1929384"/>
            <a:ext cx="1764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ResourceUseCase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ApprovalUseCase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JobUseCase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89320" y="1097280"/>
            <a:ext cx="987552" cy="256032"/>
          </a:xfrm>
          <a:prstGeom prst="rect">
            <a:avLst/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1353312"/>
            <a:ext cx="2057400" cy="932688"/>
          </a:xfrm>
          <a:prstGeom prst="rect">
            <a:avLst/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158191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domain.model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35624" y="1929384"/>
            <a:ext cx="1764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/ Project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ResourceApplication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/ Bill / Ticket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32520" y="1097280"/>
            <a:ext cx="987552" cy="256032"/>
          </a:xfrm>
          <a:prstGeom prst="rect">
            <a:avLst/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32520" y="1353312"/>
            <a:ext cx="2057400" cy="932688"/>
          </a:xfrm>
          <a:prstGeom prst="rect">
            <a:avLst/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0536" y="158191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78824" y="1929384"/>
            <a:ext cx="1764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Log/Audit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3703320"/>
            <a:ext cx="987552" cy="256032"/>
          </a:xfrm>
          <a:prstGeom prst="rect">
            <a:avLst/>
          </a:prstGeom>
          <a:solidFill>
            <a:srgbClr val="FFF9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3959352"/>
            <a:ext cx="2057400" cy="932688"/>
          </a:xfrm>
          <a:prstGeom prst="rect">
            <a:avLst/>
          </a:prstGeom>
          <a:solidFill>
            <a:srgbClr val="FFF9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418795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api.controller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92424" y="4535424"/>
            <a:ext cx="1764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申请接口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审批接口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作业接口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9320" y="3703320"/>
            <a:ext cx="987552" cy="256032"/>
          </a:xfrm>
          <a:prstGeom prst="rect">
            <a:avLst/>
          </a:prstGeom>
          <a:solidFill>
            <a:srgbClr val="E4F7FB"/>
          </a:solidFill>
          <a:ln w="15240">
            <a:solidFill>
              <a:srgbClr val="06A6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3959352"/>
            <a:ext cx="2057400" cy="932688"/>
          </a:xfrm>
          <a:prstGeom prst="rect">
            <a:avLst/>
          </a:prstGeom>
          <a:solidFill>
            <a:srgbClr val="E4F7FB"/>
          </a:solidFill>
          <a:ln w="15240">
            <a:solidFill>
              <a:srgbClr val="06A6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17336" y="418795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35624" y="4535424"/>
            <a:ext cx="1764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File/Queue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Notification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32520" y="3703320"/>
            <a:ext cx="987552" cy="256032"/>
          </a:xfrm>
          <a:prstGeom prst="rect">
            <a:avLst/>
          </a:prstGeom>
          <a:solidFill>
            <a:srgbClr val="EEF9F1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3959352"/>
            <a:ext cx="2057400" cy="932688"/>
          </a:xfrm>
          <a:prstGeom prst="rect">
            <a:avLst/>
          </a:prstGeom>
          <a:solidFill>
            <a:srgbClr val="EEF9F1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0536" y="418795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78824" y="4535424"/>
            <a:ext cx="1764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账单报表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运营统计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导出任务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5800" y="562356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" y="5769864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图示要点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561795" y="5952744"/>
            <a:ext cx="104058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包图让组员知道“页面代码、业务用例、领域对象、数据库访问、外部调度器适配”应该分开放在哪里，避免所有内容堆在一个模块里。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引注：[5]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864" y="34999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包依赖要讲方向：不是所有包都可以互相调用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清楚的依赖方向可以降低后续代码混乱和循环依赖风险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38074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3544" y="1709928"/>
            <a:ext cx="28163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ui.web → application → domain.model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→ infrastructure / integration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reporting 读取数据但不反向控制业务。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DECEC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38074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避免方向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2584" y="1709928"/>
            <a:ext cx="28163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domain.model 不反向依赖 ui.web；数据访问层不应该直接操作页面逻辑；外部集成不应侵入核心领域。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123444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38074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课程价值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21624" y="1709928"/>
            <a:ext cx="28163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包图能让后续 SRS、SDS、代码目录、接口文档和测试模块的结构更一致。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3703320"/>
            <a:ext cx="811987" cy="256032"/>
          </a:xfrm>
          <a:prstGeom prst="rect">
            <a:avLst/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3959352"/>
            <a:ext cx="1691640" cy="749808"/>
          </a:xfrm>
          <a:prstGeom prst="rect">
            <a:avLst/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4187952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ui.web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" y="4535424"/>
            <a:ext cx="139903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 / 路由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0" y="3703320"/>
            <a:ext cx="811987" cy="256032"/>
          </a:xfrm>
          <a:prstGeom prst="rect">
            <a:avLst/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3959352"/>
            <a:ext cx="1691640" cy="749808"/>
          </a:xfrm>
          <a:prstGeom prst="rect">
            <a:avLst/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4187952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03904" y="4535424"/>
            <a:ext cx="139903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用例服务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09360" y="3703320"/>
            <a:ext cx="811987" cy="256032"/>
          </a:xfrm>
          <a:prstGeom prst="rect">
            <a:avLst/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959352"/>
            <a:ext cx="1691640" cy="749808"/>
          </a:xfrm>
          <a:prstGeom prst="rect">
            <a:avLst/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4187952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55664" y="4535424"/>
            <a:ext cx="139903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核心对象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961120" y="3703320"/>
            <a:ext cx="811987" cy="256032"/>
          </a:xfrm>
          <a:prstGeom prst="rect">
            <a:avLst/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3959352"/>
            <a:ext cx="1691640" cy="749808"/>
          </a:xfrm>
          <a:prstGeom prst="rect">
            <a:avLst/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89136" y="4187952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07424" y="4535424"/>
            <a:ext cx="139903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/ 外部接口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97480" y="4279392"/>
            <a:ext cx="960120" cy="0"/>
          </a:xfrm>
          <a:prstGeom prst="line">
            <a:avLst/>
          </a:prstGeom>
          <a:noFill/>
          <a:ln w="13970">
            <a:solidFill>
              <a:srgbClr val="8A56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349240" y="4279392"/>
            <a:ext cx="96012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01000" y="4279392"/>
            <a:ext cx="960120" cy="0"/>
          </a:xfrm>
          <a:prstGeom prst="line">
            <a:avLst/>
          </a:prstGeom>
          <a:noFill/>
          <a:ln w="13970">
            <a:solidFill>
              <a:srgbClr val="2F66F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互动Q3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结合包图，判断哪个依赖方向更合理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12140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A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课堂互动问题 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在超算门户项目中，下面哪种包依赖最符合“分层清晰、职责分离”的原则？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2331720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47802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35608" y="2487168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ui.web 调用 application，application 使用 domain.model，并通过 infrastructure 访问数据库或外部接口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3291840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43814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3461004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domain.model 直接调用页面按钮和路由，这样可以减少中间层代码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19" y="4251960"/>
            <a:ext cx="10424159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439826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608" y="4411980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所有类都放进一个 common 包，哪个页面需要就直接调用哪个类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三种图如何共同补全项目结构表达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对象图、构件图、包图不是互相替代，而是从不同粒度观察同一系统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74904" y="1257300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" y="1393041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8932" y="1813350"/>
            <a:ext cx="286207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看一次资源申请中的具体对象：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u01、p24、a24、j2415、b03。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234440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38074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6864" y="1709928"/>
            <a:ext cx="286207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看系统构件：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 Web、申请服务、审批服务、通知服务。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62416" y="1222616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8720" y="1353391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35521" y="1709928"/>
            <a:ext cx="286207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看代码组织：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ui.web、application、domain、infrastructure。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3529584" y="1988820"/>
            <a:ext cx="984557" cy="0"/>
          </a:xfrm>
          <a:prstGeom prst="line">
            <a:avLst/>
          </a:prstGeom>
          <a:noFill/>
          <a:ln w="17780">
            <a:solidFill>
              <a:srgbClr val="2F66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1962019"/>
            <a:ext cx="1027176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529584" y="209035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实例验证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91628" y="2033909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实现组织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4160520"/>
            <a:ext cx="10149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306824"/>
            <a:ext cx="985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在超算门户中的完整逻辑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60704" y="4636008"/>
            <a:ext cx="98572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对象图检查业务是否能实例化；构件图检查服务是否能协作；包图检查后续代码和文档是否能被组织起来。三者一起能把项目从“图上好看”推进到“结构可落地”。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它们如何衔接 UML基础I、界面原型和后续 SRS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基础III不是另起炉灶，而是继续服务同一个项目交付链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56362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界面原型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1892808"/>
            <a:ext cx="13075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看见页面任务与入口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2121408"/>
            <a:ext cx="274320" cy="0"/>
          </a:xfrm>
          <a:prstGeom prst="line">
            <a:avLst/>
          </a:prstGeom>
          <a:noFill/>
          <a:ln w="13970">
            <a:solidFill>
              <a:srgbClr val="2F66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14600" y="14173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156362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用例/类/状态/顺序图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60904" y="1892808"/>
            <a:ext cx="13075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澄清角色、对象、状态与交互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2121408"/>
            <a:ext cx="274320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14173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156362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81144" y="1892808"/>
            <a:ext cx="13075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验证对象实例与数据快照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2121408"/>
            <a:ext cx="274320" cy="0"/>
          </a:xfrm>
          <a:prstGeom prst="line">
            <a:avLst/>
          </a:prstGeom>
          <a:noFill/>
          <a:ln w="13970">
            <a:solidFill>
              <a:srgbClr val="10A35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14173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156362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01384" y="1892808"/>
            <a:ext cx="13075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拆分服务构件和接口边界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55280" y="2121408"/>
            <a:ext cx="274320" cy="0"/>
          </a:xfrm>
          <a:prstGeom prst="line">
            <a:avLst/>
          </a:prstGeom>
          <a:noFill/>
          <a:ln w="13970">
            <a:solidFill>
              <a:srgbClr val="8A56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75320" y="14173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06A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1624" y="156362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21624" y="1892808"/>
            <a:ext cx="13075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沉淀代码/模型/文档组织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875520" y="2121408"/>
            <a:ext cx="274320" cy="0"/>
          </a:xfrm>
          <a:prstGeom prst="line">
            <a:avLst/>
          </a:prstGeom>
          <a:noFill/>
          <a:ln w="13970">
            <a:solidFill>
              <a:srgbClr val="06A6C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95560" y="14173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41864" y="156362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SRS/SDS/开发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341864" y="1892808"/>
            <a:ext cx="13075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把规则写入规格说明与实现方案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4400" y="3886200"/>
            <a:ext cx="10241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4032504"/>
            <a:ext cx="9948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0704" y="4361688"/>
            <a:ext cx="994867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不是为了凑图而画图，而是把“页面原型</a:t>
            </a: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—角色用例—对象结构—服务构件—包组织—文档开发”串成一条可追踪的需求工程链路。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61320" y="6382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引注：[5][6]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建模时最容易出错的地方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这三种图看起来都是结构图，但关注点不能混在一起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2893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对象图常见错误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" y="1618488"/>
            <a:ext cx="304495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 User、Project 这类类名，不写具体对象名和值。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正确做法：u01:User、status=审批通过。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2893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构件图常见错误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1144" y="1618488"/>
            <a:ext cx="304495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把每个按钮、每个页面都画成构件，导致粒度过细。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正确做法：围绕服务或可部署模块划分。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2893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包图常见错误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0184" y="1618488"/>
            <a:ext cx="304495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只画文件夹，不说明依赖方向；或者所有类都塞进 common。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正确做法：表达分层和依赖纪律。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7490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895344"/>
            <a:ext cx="10222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检查方式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14984" y="4224528"/>
            <a:ext cx="1022299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是否结合项目、是否能解释业务、是否和前面用例</a:t>
            </a: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/类图/原型一致、是否有清晰的边界和依赖。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互动Q4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8355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课堂互动问题 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在“超算中心运营管理门户网站”里，如果我们想说明 门户 </a:t>
            </a:r>
            <a:r>
              <a:rPr lang="en-US" altLang="zh-CN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</a:t>
            </a: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、申请服务、审批服务、作业服务、账单</a:t>
            </a:r>
            <a:r>
              <a:rPr lang="en-US" altLang="zh-CN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工单服务、通知服务 这些部分如何组成系统，并且它们和数据库、调度器之间怎么依赖，哪一种图最合适？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2377440"/>
            <a:ext cx="1061807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52374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6088" y="2523744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构件图，因为它强调系统由哪些可部署或可替换的模块组成，以及模块之间的依赖与接口关系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3337560"/>
            <a:ext cx="1061807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48386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22680" y="3505620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部署图，因为只要画出服务器节点，模块之间的依赖关系自然就能完全看出来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19" y="4297680"/>
            <a:ext cx="10618077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444398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6088" y="4465109"/>
            <a:ext cx="1003643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对象图，因为对象图可以把 </a:t>
            </a:r>
            <a:r>
              <a:rPr lang="en-US" sz="1600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portalPage、applyService、notifyService</a:t>
            </a:r>
            <a:r>
              <a:rPr 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这些对象连起来，从而完整替代构件图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互动Q5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768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课堂互动问题 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452241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如果我们已经有了登录、资源申请、审批、作业监控、账单</a:t>
            </a:r>
            <a:r>
              <a:rPr lang="en-US" altLang="zh-CN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9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工单这些页面原型，也有若干服务模块设计，此时想进一步说明系统在分析与设计阶段如何按职责分成 用户与认证包、申请审批包、作业监控包、运营服务包、基础支撑包，并避免后续文档与代码结构混乱，最合适的做法是什么？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2331720"/>
            <a:ext cx="10372134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47802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35608" y="2510028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用包图先把系统按职责和依赖分层组织起来，再让页面、服务、数据对象分别归入对应包中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3229487"/>
            <a:ext cx="10372134" cy="86702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43814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6088" y="3457772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把三种图都画成相同的矩形框，只要看起来</a:t>
            </a: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继续细化对象图，把所有运行时对象实例都补齐，只要对象图足够多，后续包划分自然会清楚</a:t>
            </a:r>
            <a:r>
              <a:rPr lang="en-US" sz="1600" dirty="0" err="1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整齐即可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4251960"/>
            <a:ext cx="10372134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439826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6088" y="4434840"/>
            <a:ext cx="97657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直接把所有页面和服务都挂到一个“门户系统”总包下，减少层级，避免评审时显得复杂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组内成员分工与演示安排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AF1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38074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吴易骏｜总体结构与统稿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32104" y="1709928"/>
            <a:ext cx="309067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负责本次 UML基础III 专题逻辑、页序安排与收尾。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234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1EAFF"/>
          </a:solidFill>
          <a:ln w="15240">
            <a:solidFill>
              <a:srgbClr val="8A5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38074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肖泓宇｜资料与引用核查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26864" y="1709928"/>
            <a:ext cx="309067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负责对象图、构件图、包图定义与参考资料检查。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1234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4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38074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蒋长麟｜对象图建模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21624" y="1709928"/>
            <a:ext cx="309067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负责对象实例快照、属性值和对象关系整理。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37033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6624" y="384962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陈许恺｜构件图建模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06624" y="4178808"/>
            <a:ext cx="309067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负责服务构件、接口与依赖关系设计。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37033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4F7FB"/>
          </a:solidFill>
          <a:ln w="15240">
            <a:solidFill>
              <a:srgbClr val="06A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384962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王涛｜包图与互动设计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01384" y="4178808"/>
            <a:ext cx="309067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负责包结构、互动题、页面整合与答疑准备。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组内成员评分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评分说明：5=完成突出，4=按时完成，3=基本完成，2=参与较少，1=未完成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822960" cy="411480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710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17320" y="1143000"/>
            <a:ext cx="2011680" cy="411480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2710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主要任务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1143000"/>
            <a:ext cx="4023360" cy="411480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2710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完成情况说明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52360" y="1143000"/>
            <a:ext cx="1371600" cy="411480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2710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23960" y="1143000"/>
            <a:ext cx="1371600" cy="411480"/>
          </a:xfrm>
          <a:prstGeom prst="rect">
            <a:avLst/>
          </a:prstGeom>
          <a:solidFill>
            <a:srgbClr val="E8EEF9"/>
          </a:solidFill>
          <a:ln w="10160">
            <a:solidFill>
              <a:srgbClr val="CAD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12710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组评分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1554480"/>
            <a:ext cx="822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17190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吴易骏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17320" y="1554480"/>
            <a:ext cx="20116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72184" y="171907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总体结构与统稿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29000" y="1554480"/>
            <a:ext cx="40233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17190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完成主题结构整合与整体收束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52360" y="155448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07224" y="17190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23960" y="155448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78824" y="17190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194560"/>
            <a:ext cx="822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23591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肖泓宇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17320" y="2194560"/>
            <a:ext cx="20116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72184" y="23591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资料与引用核查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2194560"/>
            <a:ext cx="40233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23591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完成概念校核、文献来源与引注复核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52360" y="219456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07224" y="23591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823960" y="219456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78824" y="23591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" y="2834640"/>
            <a:ext cx="822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" y="29992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蒋长麟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417320" y="2834640"/>
            <a:ext cx="20116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72184" y="299923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对象图建模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29000" y="2834640"/>
            <a:ext cx="40233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83864" y="29992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完成对象快照、属性值和实例关系设计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283464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07224" y="29992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823960" y="283464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78824" y="29992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4360" y="3474720"/>
            <a:ext cx="822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" y="36393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陈许恺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417320" y="3474720"/>
            <a:ext cx="20116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72184" y="363931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构件图建模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29000" y="3474720"/>
            <a:ext cx="40233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83864" y="36393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完成服务构件、接口和依赖关系设计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452360" y="347472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07224" y="36393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823960" y="347472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78824" y="36393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4360" y="4114800"/>
            <a:ext cx="822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" y="42793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王涛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417320" y="4114800"/>
            <a:ext cx="201168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72184" y="42793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包图与互动设计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429000" y="4114800"/>
            <a:ext cx="40233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83864" y="42793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完成包结构、互动题、排版和答疑准备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52360" y="411480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07224" y="4279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823960" y="4114800"/>
            <a:ext cx="13716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3DAE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78824" y="4279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2011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参考文献与资料来源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本页即参考文献页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6574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OMG. UML 2.5.1 About-UML. https://www.omg.org/spec/UML/2.5.1/About-UML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Visual Paradigm. Object diagram support guide. https://www.visual-paradigm.com/support/documents/vpuserguide/94/2584_objectdiagra.html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7685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Visual Paradigm. What is Component Diagram? https://www.visual-paradigm.com/guide/uml-unified-modeling-language/what-is-component-diagram/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4378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Visual Paradigm. What is Package Diagram? https://www.visual-paradigm.com/guide/uml-unified-modeling-language/what-is-package-diagram/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41071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用户项目资料：超算中心运营管理门户网站-项目计划书评审汇报.pptx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用户项目资料：SRA2026-G06-UML基础I.pptx / UML基础II：界面原型.pptx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2700">
            <a:solidFill>
              <a:srgbClr val="2F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240" y="1463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F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6692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UML基础III不是孤立地补三张图，而是进一步把超算中心门户项目从“类与流程”推进到“实例、构件、包组织”的可落地结构。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4096510"/>
            <a:ext cx="5212080" cy="502921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2F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394106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4270248"/>
            <a:ext cx="49194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对象图验证业务实例，构件图拆清服务边界，包图沉淀组织结构。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1645920" cy="1051560"/>
          </a:xfrm>
          <a:prstGeom prst="rect">
            <a:avLst/>
          </a:prstGeom>
          <a:solidFill>
            <a:srgbClr val="EAF1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417320"/>
            <a:ext cx="1645920" cy="594360"/>
          </a:xfrm>
          <a:prstGeom prst="rect">
            <a:avLst/>
          </a:prstGeom>
          <a:solidFill>
            <a:srgbClr val="EAF1FF"/>
          </a:solidFill>
          <a:ln w="16510">
            <a:solidFill>
              <a:srgbClr val="2F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4904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&lt;&lt;object&gt;&gt;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31152" y="166420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对象图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2029968"/>
            <a:ext cx="1645920" cy="0"/>
          </a:xfrm>
          <a:prstGeom prst="line">
            <a:avLst/>
          </a:prstGeom>
          <a:noFill/>
          <a:ln w="10160">
            <a:solidFill>
              <a:srgbClr val="2F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2139696"/>
            <a:ext cx="142646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实例快照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49640" y="27432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FF4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9368" y="2834640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&lt;&lt;component&gt;&gt;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659368" y="30358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构件图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8659368" y="3310128"/>
            <a:ext cx="15179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服务依赖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738360" y="4251960"/>
            <a:ext cx="790042" cy="256032"/>
          </a:xfrm>
          <a:prstGeom prst="rect">
            <a:avLst/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4507992"/>
            <a:ext cx="1645920" cy="795528"/>
          </a:xfrm>
          <a:prstGeom prst="rect">
            <a:avLst/>
          </a:prstGeom>
          <a:solidFill>
            <a:srgbClr val="E7F7EE"/>
          </a:solidFill>
          <a:ln w="15240">
            <a:solidFill>
              <a:srgbClr val="10A3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66376" y="47365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84664" y="5084064"/>
            <a:ext cx="13533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逻辑组织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01000" y="2487168"/>
            <a:ext cx="548640" cy="256030"/>
          </a:xfrm>
          <a:prstGeom prst="line">
            <a:avLst/>
          </a:prstGeom>
          <a:noFill/>
          <a:ln w="15240">
            <a:solidFill>
              <a:srgbClr val="2F66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09760" y="3749040"/>
            <a:ext cx="504497" cy="50292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85800" y="6382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A1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2454</Words>
  <Application>Microsoft Office PowerPoint</Application>
  <PresentationFormat>宽屏</PresentationFormat>
  <Paragraphs>551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第6组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UML基础III：对象图、构件图、包图</dc:title>
  <dc:subject>UML基础III：对象图、构件图、包图</dc:subject>
  <dc:creator>G06</dc:creator>
  <cp:lastModifiedBy>YIJUN WU</cp:lastModifiedBy>
  <cp:revision>3</cp:revision>
  <dcterms:created xsi:type="dcterms:W3CDTF">2026-05-22T15:54:40Z</dcterms:created>
  <dcterms:modified xsi:type="dcterms:W3CDTF">2026-05-23T03:25:25Z</dcterms:modified>
</cp:coreProperties>
</file>