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3" r:id="rId29"/>
    <p:sldId id="284" r:id="rId30"/>
    <p:sldId id="285" r:id="rId3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Asset: Barcelona Supercomputing Center data-center photo from EOSC news image: https://www.eosc.eu/sites/default/files/styles/900x400/public/2023-05/2018_bsc_superordenador_marenostrum_4_barcelona_supercomputing_center_posterior.jpg?itok=4YDqWPzb
- Asset: TACC Analysis Portal home screen: https://docs.tacc.utexas.edu/tutorials/imgs/1TAP.png
- Asset: Microsoft HPC Pack Web Portal dashboard: https://learn.microsoft.com/en-us/powershell/media/portal/dashboard.png?view=hpc19-ps
- Asset: Shanghai Supercomputer Center Xfinity architecture image: https://www.ssc.net.cn/images/resource/x-bg.png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Open OnDemand app features include Dashboard, File Browser, File Editor, Terminal, My Jobs and Active Jobs: https://www.openondemand.org/sites/default/files/documents/Introducing%20Open%20OnDemand.pdf
- TAMU HPRC OnDemand services include job submission/monitoring, file transfer, file editing, shell access and interactive applications: https://hprc.tamu.edu/kb/Software/Portal/
- Shanghai Supercomputer Center Xfinity integrates job management, project management, data management, billing/audit, technical support and consulting: https://www.ssc.net.cn/resource-xfinity.html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TACC Analysis Portal supports job submission, remote desktop, Jupyter Notebook and RStudio: https://docs.tacc.utexas.edu/tutorials/TAP/
- Microsoft HPC Pack Web Portal shows Dashboard, Jobs, Charts and Logs pages: https://learn.microsoft.com/en-us/powershell/high-performance-computing/web-portal?view=hpc19-ps
- Shanghai Supercomputer Center Xfinity includes registration, purchase, usage, billing and technical support; supports hierarchical user management: https://www.ssc.net.cn/resource-xfinity.html
- Beijing Super Cloud service platform highlights self-registration, data upload/download, job submission, job status monitoring and billing reports: https://www.blsc.cn/dynamics/94.html
- SCNet help center provides 7×24 multi-channel support and documentation center: https://www.scnet.cn/home/service/index.html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Open OnDemand and TACC portal examples show that a browser-based portal can provide file, shell, jobs and interactive apps in one interface: https://www.openondemand.org/sites/default/files/documents/Introducing%20Open%20OnDemand.pdf ; https://hprc.tamu.edu/kb/Software/Portal/
- Xfinity is explicitly described as a Web Portal integrating HPC hardware/software, job management, project management, data management, billing/audit, data analysis and technical support: https://www.ssc.net.cn/resource-xfinity.html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Existing portals demonstrate technical feasibility for web-based job/file/portal access: https://www.openondemand.org/sites/default/files/documents/Introducing%20Open%20OnDemand.pdf ; https://docs.tacc.utexas.edu/tutorials/TAP/
- Xfinity shows integrated web-based HPC service and management is already practiced by a supercomputing center: https://www.ssc.net.cn/resource-xfinity.html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Zhengzhou NSCC user application flow includes trial, formal account opening and online approval in a work-order system within 3–5 working days: https://www7.zzu.edu.cn/nscczz/yhzx/yhsq.htm
- USTC supercomputing center exposes a dedicated “运行监控” page and the search snippet mentions Grafana/system monitoring and user job statistics: https://scc.ustc.edu.cn/yxjk/
- Beijing Super Cloud portal highlights data upload/download, command-line and graphical job submission, job status monitoring and billing reports: https://www.blsc.cn/dynamics/94.html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Xfinity architecture describes resource layer, base service layer and portal layer; portal modules include application center, data center, resource center and operation management under permission control: https://www.ssc.net.cn/resource-xfinity.html
- Xfinity functional description includes job management, file management, remote visualization, application center and hierarchical user management: https://www.ssc.net.cn/resource-xfinity.html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Open OnDemand PDF: https://www.openondemand.org/sites/default/files/documents/Introducing%20Open%20OnDemand.pdf
- TAMU HPRC OnDemand Portal: https://hprc.tamu.edu/kb/Software/Portal/
- TACC Analysis Portal: https://docs.tacc.utexas.edu/tutorials/TAP/
- TACC Frontera documentation: https://docs.tacc.utexas.edu/hpc/frontera/
- NCAR Managing Your Allocation: https://ncar-hpc-docs.readthedocs.io/en/latest/getting-started/managing-your-allocation/
- Shanghai Supercomputer Center Xfinity: https://www.ssc.net.cn/resource-xfinity.html
- Zhengzhou NSCC user application page: https://www7.zzu.edu.cn/nscczz/yhzx/yhsq.htm
- SCNet help center: https://www.scnet.cn/home/service/index.html
- Beijing Super Cloud portal news: https://www.blsc.cn/dynamics/94.html
- USTC monitoring page: https://scc.ustc.edu.cn/yxjk/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Asset: Barcelona Supercomputing Center data-center image from EOSC news
- Asset: TACC Analysis Portal home screen image https://docs.tacc.utexas.edu/tutorials/imgs/1TAP.png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5240">
            <a:solidFill>
              <a:srgbClr val="D7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92240"/>
            <a:ext cx="4206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83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软件需求分析原理与实践｜第6组</a:t>
            </a: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8" Type="http://schemas.openxmlformats.org/officeDocument/2006/relationships/notesSlide" Target="../notesSlides/notesSlide18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bsc.jpg"/>
          <p:cNvPicPr>
            <a:picLocks noChangeAspect="1"/>
          </p:cNvPicPr>
          <p:nvPr/>
        </p:nvPicPr>
        <p:blipFill>
          <a:blip r:embed="rId1"/>
          <a:srcRect l="10495" r="1049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F">
              <a:alpha val="82000"/>
            </a:srgbClr>
          </a:solidFill>
          <a:ln w="12700">
            <a:solidFill>
              <a:srgbClr val="06182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987552"/>
            <a:ext cx="5074920" cy="3950208"/>
          </a:xfrm>
          <a:prstGeom prst="roundRect">
            <a:avLst>
              <a:gd name="adj" fmla="val 2778"/>
            </a:avLst>
          </a:prstGeom>
          <a:solidFill>
            <a:srgbClr val="0C2244">
              <a:alpha val="82000"/>
            </a:srgbClr>
          </a:solidFill>
          <a:ln w="15240">
            <a:solidFill>
              <a:srgbClr val="62B2FF">
                <a:alpha val="5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" y="141732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超算中心运营管理门户网站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D9EC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项目计划书评审汇报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25603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9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课程：软件需求分析原理与实践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9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第6组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346704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6D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关键词：项目章程｜可行性分析｜WBS/OBS｜甘特图｜风险计划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822960" y="3730752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围绕“用户服务—资源申请—审批管理—作业监控—运营统计”构建统一门户需求规划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400800" y="987552"/>
            <a:ext cx="2304288" cy="1426464"/>
          </a:xfrm>
          <a:prstGeom prst="roundRect">
            <a:avLst>
              <a:gd name="adj" fmla="val 641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CBE2FF"/>
            </a:solidFill>
            <a:prstDash val="solid"/>
          </a:ln>
        </p:spPr>
      </p:sp>
      <p:pic>
        <p:nvPicPr>
          <p:cNvPr id="11" name="Image 1" descr="/mnt/data/assets/tap_home.png"/>
          <p:cNvPicPr>
            <a:picLocks noChangeAspect="1"/>
          </p:cNvPicPr>
          <p:nvPr/>
        </p:nvPicPr>
        <p:blipFill>
          <a:blip r:embed="rId2"/>
          <a:srcRect l="3621" r="3621"/>
          <a:stretch>
            <a:fillRect/>
          </a:stretch>
        </p:blipFill>
        <p:spPr>
          <a:xfrm>
            <a:off x="6492240" y="1069848"/>
            <a:ext cx="2121408" cy="12618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rot="-180000">
            <a:off x="8549640" y="196596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CBE2FF"/>
            </a:solidFill>
            <a:prstDash val="solid"/>
          </a:ln>
        </p:spPr>
      </p:sp>
      <p:pic>
        <p:nvPicPr>
          <p:cNvPr id="13" name="Image 2" descr="/mnt/data/assets/ms_dashboard.png"/>
          <p:cNvPicPr>
            <a:picLocks noChangeAspect="1"/>
          </p:cNvPicPr>
          <p:nvPr/>
        </p:nvPicPr>
        <p:blipFill>
          <a:blip r:embed="rId3"/>
          <a:srcRect t="11905" b="11905"/>
          <a:stretch>
            <a:fillRect/>
          </a:stretch>
        </p:blipFill>
        <p:spPr>
          <a:xfrm>
            <a:off x="8668512" y="2084832"/>
            <a:ext cx="2304288" cy="131673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 rot="120000">
            <a:off x="6903720" y="3154680"/>
            <a:ext cx="2395728" cy="1755648"/>
          </a:xfrm>
          <a:prstGeom prst="roundRect">
            <a:avLst>
              <a:gd name="adj" fmla="val 5208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CBE2FF"/>
            </a:solidFill>
            <a:prstDash val="solid"/>
          </a:ln>
        </p:spPr>
      </p:sp>
      <p:pic>
        <p:nvPicPr>
          <p:cNvPr id="15" name="Image 3" descr="/mnt/data/assets/xfinity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780" y="3291840"/>
            <a:ext cx="1162465" cy="1463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46520" y="553212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0D2A52">
              <a:alpha val="82000"/>
            </a:srgbClr>
          </a:solidFill>
          <a:ln w="10160">
            <a:solidFill>
              <a:srgbClr val="62B2FF">
                <a:alpha val="6000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629400" y="5660136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汇报重点：为什么做、怎么做、谁负责、何时完成、风险如何控制</a:t>
            </a:r>
            <a:endParaRPr lang="en-US" sz="980" dirty="0"/>
          </a:p>
        </p:txBody>
      </p:sp>
      <p:sp>
        <p:nvSpPr>
          <p:cNvPr id="19" name="Text 12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4"/>
          <p:cNvSpPr/>
          <p:nvPr/>
        </p:nvSpPr>
        <p:spPr>
          <a:xfrm>
            <a:off x="822960" y="4169410"/>
            <a:ext cx="276796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50" dirty="0">
                <a:solidFill>
                  <a:schemeClr val="bg1"/>
                </a:solidFill>
              </a:rPr>
              <a:t>吴易骏</a:t>
            </a:r>
            <a:r>
              <a:rPr lang="en-US" altLang="zh-CN" sz="1250" dirty="0">
                <a:solidFill>
                  <a:schemeClr val="bg1"/>
                </a:solidFill>
              </a:rPr>
              <a:t> </a:t>
            </a:r>
            <a:r>
              <a:rPr lang="zh-CN" altLang="en-US" sz="1250" dirty="0">
                <a:solidFill>
                  <a:schemeClr val="bg1"/>
                </a:solidFill>
              </a:rPr>
              <a:t>肖泓宇</a:t>
            </a:r>
            <a:r>
              <a:rPr lang="en-US" altLang="zh-CN" sz="1250" dirty="0">
                <a:solidFill>
                  <a:schemeClr val="bg1"/>
                </a:solidFill>
              </a:rPr>
              <a:t> </a:t>
            </a:r>
            <a:r>
              <a:rPr lang="zh-CN" altLang="en-US" sz="1250" dirty="0">
                <a:solidFill>
                  <a:schemeClr val="bg1"/>
                </a:solidFill>
              </a:rPr>
              <a:t>蒋长麟</a:t>
            </a:r>
            <a:r>
              <a:rPr lang="en-US" altLang="zh-CN" sz="1250" dirty="0">
                <a:solidFill>
                  <a:schemeClr val="bg1"/>
                </a:solidFill>
              </a:rPr>
              <a:t> </a:t>
            </a:r>
            <a:r>
              <a:rPr lang="zh-CN" altLang="en-US" sz="1250" dirty="0">
                <a:solidFill>
                  <a:schemeClr val="bg1"/>
                </a:solidFill>
              </a:rPr>
              <a:t>陈许恺</a:t>
            </a:r>
            <a:r>
              <a:rPr lang="en-US" altLang="zh-CN" sz="1250" dirty="0">
                <a:solidFill>
                  <a:schemeClr val="bg1"/>
                </a:solidFill>
              </a:rPr>
              <a:t> </a:t>
            </a:r>
            <a:r>
              <a:rPr lang="zh-CN" altLang="en-US" sz="1250" dirty="0">
                <a:solidFill>
                  <a:schemeClr val="bg1"/>
                </a:solidFill>
              </a:rPr>
              <a:t>王涛</a:t>
            </a:r>
            <a:endParaRPr lang="zh-CN" alt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结构总览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170432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335024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394460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16736" y="1335024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16736" y="1609344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项目背景、调研与目标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245352" y="1170432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9944" y="1335024"/>
            <a:ext cx="320040" cy="3200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394460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48856" y="1335024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交付产品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48856" y="1609344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范围边界与成果物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13232" y="2340864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" y="2505456"/>
            <a:ext cx="320040" cy="3200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256489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16736" y="250545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项目进度表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16736" y="2779776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WBS、甘特图、里程碑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45352" y="2340864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2505456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256489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48856" y="250545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项目组织结构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48856" y="2779776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干系人、OBS、分工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13232" y="3511296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" y="3675888"/>
            <a:ext cx="320040" cy="3200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373532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16736" y="367588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方案与决策分析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16736" y="3950208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门户方案与可行性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245352" y="3511296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9944" y="3675888"/>
            <a:ext cx="320040" cy="3200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735324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48856" y="367588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项目估算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48856" y="3950208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人力、成本与预算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713232" y="4681728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77824" y="4846320"/>
            <a:ext cx="320040" cy="3200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4905756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316736" y="4846320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项目子计划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16736" y="5120640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风险、沟通、配置、质量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6245352" y="4681728"/>
            <a:ext cx="521208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9944" y="4846320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9944" y="4905756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48856" y="4846320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引用文件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48856" y="5120640"/>
            <a:ext cx="4297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参考资料与对标来源</a:t>
            </a:r>
            <a:endParaRPr lang="en-US" sz="1030" dirty="0"/>
          </a:p>
        </p:txBody>
      </p:sp>
      <p:sp>
        <p:nvSpPr>
          <p:cNvPr id="48" name="Text 4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引言｜项目背景与建设机会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51560"/>
            <a:ext cx="489204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042543"/>
            <a:ext cx="45628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为什么现在做？</a:t>
            </a:r>
            <a:endParaRPr lang="en-US" sz="1350" dirty="0"/>
          </a:p>
        </p:txBody>
      </p:sp>
      <p:pic>
        <p:nvPicPr>
          <p:cNvPr id="8" name="Image 0" descr="/mnt/data/assets/ms_dashboard.png"/>
          <p:cNvPicPr>
            <a:picLocks noChangeAspect="1"/>
          </p:cNvPicPr>
          <p:nvPr/>
        </p:nvPicPr>
        <p:blipFill>
          <a:blip r:embed="rId1"/>
          <a:srcRect t="8854" b="8854"/>
          <a:stretch>
            <a:fillRect/>
          </a:stretch>
        </p:blipFill>
        <p:spPr>
          <a:xfrm>
            <a:off x="2999232" y="1307592"/>
            <a:ext cx="2340864" cy="1444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32588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痛点 01  服务入口分散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868680" y="1488440"/>
            <a:ext cx="1920240" cy="8039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账号申请、资源申请、工单咨询、作业监控往往分散在不同系统或线下沟通中，用户学习成本高。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359025"/>
            <a:ext cx="210756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痛点 02  多角色审批链长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868680" y="2494280"/>
            <a:ext cx="1920240" cy="929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项目负责人、业务老师、中心管理员、运维人员均需参与，若缺少流程化入口，追踪难、责任不清。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338328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痛点 03  运营统计不足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868680" y="3548380"/>
            <a:ext cx="1920240" cy="8489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缺少资源使用、审批效率、用户活跃、费用与工单闭环等指标，运营决策主要依赖人工汇总。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79008" y="1051560"/>
            <a:ext cx="5742432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1161288"/>
            <a:ext cx="5413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门户化后的目标状态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35040" y="1417320"/>
            <a:ext cx="521208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1495044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1488643"/>
            <a:ext cx="4828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统一用户入口：注册/登录/实名认证/个人中心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35040" y="1847088"/>
            <a:ext cx="521208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26480" y="1924812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45936" y="1918411"/>
            <a:ext cx="4828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统一申请入口：试用、正式资源、增值服务、账号授权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035040" y="2276856"/>
            <a:ext cx="521208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26480" y="2354580"/>
            <a:ext cx="155448" cy="1554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45936" y="2348179"/>
            <a:ext cx="4828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统一作业入口：图形化提交、队列查看、日志与结果下载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35040" y="2706624"/>
            <a:ext cx="521208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2784348"/>
            <a:ext cx="155448" cy="1554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45936" y="2777947"/>
            <a:ext cx="4828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统一运营入口：计费、报表、工单、公告、培训资料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35040" y="3136392"/>
            <a:ext cx="521208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26480" y="3214116"/>
            <a:ext cx="155448" cy="15544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45936" y="3207715"/>
            <a:ext cx="4828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统一管理入口：权限控制、审计追踪、配置管理、版本留痕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035040" y="37490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EEF5FF"/>
          </a:solidFill>
          <a:ln w="12700">
            <a:solidFill>
              <a:srgbClr val="CFE2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63640" y="3913632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一句话价值主张</a:t>
            </a:r>
            <a:endParaRPr lang="en-US" sz="1180" dirty="0"/>
          </a:p>
        </p:txBody>
      </p:sp>
      <p:sp>
        <p:nvSpPr>
          <p:cNvPr id="34" name="Text 31"/>
          <p:cNvSpPr/>
          <p:nvPr/>
        </p:nvSpPr>
        <p:spPr>
          <a:xfrm>
            <a:off x="6263640" y="4206240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把“用户服务、资源申请、审批流转、作业监控、运营统计”串成一个可追踪、可复盘、可度量的统一门户流程。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外部调研｜对标系统功能提炼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24128"/>
            <a:ext cx="27432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mnt/data/assets/tap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764" y="1133856"/>
            <a:ext cx="1574408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04825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TACC Analysis Portal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822960" y="2304288"/>
            <a:ext cx="2487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Web化提交与查询作业</a:t>
            </a:r>
            <a:endParaRPr lang="en-US" sz="890" dirty="0"/>
          </a:p>
        </p:txBody>
      </p:sp>
      <p:sp>
        <p:nvSpPr>
          <p:cNvPr id="10" name="Text 7"/>
          <p:cNvSpPr/>
          <p:nvPr/>
        </p:nvSpPr>
        <p:spPr>
          <a:xfrm>
            <a:off x="822960" y="2505456"/>
            <a:ext cx="2487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按系统/项目/队列选择资源</a:t>
            </a:r>
            <a:endParaRPr lang="en-US" sz="890" dirty="0"/>
          </a:p>
        </p:txBody>
      </p:sp>
      <p:sp>
        <p:nvSpPr>
          <p:cNvPr id="11" name="Text 8"/>
          <p:cNvSpPr/>
          <p:nvPr/>
        </p:nvSpPr>
        <p:spPr>
          <a:xfrm>
            <a:off x="822960" y="2706624"/>
            <a:ext cx="2487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支持远程桌面、Jupyter、RStudio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3611880" y="1024128"/>
            <a:ext cx="27432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/mnt/data/assets/m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360" y="1133856"/>
            <a:ext cx="115824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21608" y="2048256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HPC Pack Web Portal</a:t>
            </a:r>
            <a:endParaRPr lang="en-US" sz="1140" dirty="0"/>
          </a:p>
        </p:txBody>
      </p:sp>
      <p:sp>
        <p:nvSpPr>
          <p:cNvPr id="15" name="Text 11"/>
          <p:cNvSpPr/>
          <p:nvPr/>
        </p:nvSpPr>
        <p:spPr>
          <a:xfrm>
            <a:off x="3776472" y="2304288"/>
            <a:ext cx="2487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统一门户首页与集群状态</a:t>
            </a:r>
            <a:endParaRPr lang="en-US" sz="890" dirty="0"/>
          </a:p>
        </p:txBody>
      </p:sp>
      <p:sp>
        <p:nvSpPr>
          <p:cNvPr id="16" name="Text 12"/>
          <p:cNvSpPr/>
          <p:nvPr/>
        </p:nvSpPr>
        <p:spPr>
          <a:xfrm>
            <a:off x="3776472" y="2505456"/>
            <a:ext cx="2487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Dashboard/Jobs/Charts/Logs</a:t>
            </a:r>
            <a:endParaRPr lang="en-US" sz="890" dirty="0"/>
          </a:p>
        </p:txBody>
      </p:sp>
      <p:sp>
        <p:nvSpPr>
          <p:cNvPr id="17" name="Text 13"/>
          <p:cNvSpPr/>
          <p:nvPr/>
        </p:nvSpPr>
        <p:spPr>
          <a:xfrm>
            <a:off x="3776472" y="2706624"/>
            <a:ext cx="2487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适合运维可视化展示</a:t>
            </a:r>
            <a:endParaRPr lang="en-US" sz="890" dirty="0"/>
          </a:p>
        </p:txBody>
      </p:sp>
      <p:sp>
        <p:nvSpPr>
          <p:cNvPr id="18" name="Shape 14"/>
          <p:cNvSpPr/>
          <p:nvPr/>
        </p:nvSpPr>
        <p:spPr>
          <a:xfrm>
            <a:off x="6565392" y="1024128"/>
            <a:ext cx="182880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2" descr="/mnt/data/assets/xfinity_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75" y="1133856"/>
            <a:ext cx="1565434" cy="8686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2048256"/>
            <a:ext cx="16093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上海 Xfinity</a:t>
            </a:r>
            <a:endParaRPr lang="en-US" sz="1140" dirty="0"/>
          </a:p>
        </p:txBody>
      </p:sp>
      <p:sp>
        <p:nvSpPr>
          <p:cNvPr id="21" name="Text 16"/>
          <p:cNvSpPr/>
          <p:nvPr/>
        </p:nvSpPr>
        <p:spPr>
          <a:xfrm>
            <a:off x="6729730" y="2304415"/>
            <a:ext cx="1663700" cy="204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注册、购买、使用、计费、支持</a:t>
            </a:r>
            <a:endParaRPr lang="en-US" sz="890" dirty="0"/>
          </a:p>
        </p:txBody>
      </p:sp>
      <p:sp>
        <p:nvSpPr>
          <p:cNvPr id="22" name="Text 17"/>
          <p:cNvSpPr/>
          <p:nvPr/>
        </p:nvSpPr>
        <p:spPr>
          <a:xfrm>
            <a:off x="6729984" y="2505456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强调作业/数据/项目一体化</a:t>
            </a:r>
            <a:endParaRPr lang="en-US" sz="890" dirty="0"/>
          </a:p>
        </p:txBody>
      </p:sp>
      <p:sp>
        <p:nvSpPr>
          <p:cNvPr id="23" name="Shape 18"/>
          <p:cNvSpPr/>
          <p:nvPr/>
        </p:nvSpPr>
        <p:spPr>
          <a:xfrm>
            <a:off x="8604504" y="1024128"/>
            <a:ext cx="2002536" cy="214884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3" descr="/mnt/data/assets/xfinity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654" y="1133856"/>
            <a:ext cx="1610236" cy="8686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14232" y="2048256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用户/权限管理</a:t>
            </a:r>
            <a:endParaRPr lang="en-US" sz="1140" dirty="0"/>
          </a:p>
        </p:txBody>
      </p:sp>
      <p:sp>
        <p:nvSpPr>
          <p:cNvPr id="26" name="Text 20"/>
          <p:cNvSpPr/>
          <p:nvPr/>
        </p:nvSpPr>
        <p:spPr>
          <a:xfrm>
            <a:off x="8769096" y="2304288"/>
            <a:ext cx="17465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企业管理员与部门管理员分级</a:t>
            </a:r>
            <a:endParaRPr lang="en-US" sz="890" dirty="0"/>
          </a:p>
        </p:txBody>
      </p:sp>
      <p:sp>
        <p:nvSpPr>
          <p:cNvPr id="27" name="Text 21"/>
          <p:cNvSpPr/>
          <p:nvPr/>
        </p:nvSpPr>
        <p:spPr>
          <a:xfrm>
            <a:off x="8769096" y="2505456"/>
            <a:ext cx="174650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适合角色化授权场景</a:t>
            </a:r>
            <a:endParaRPr lang="en-US" sz="890" dirty="0"/>
          </a:p>
        </p:txBody>
      </p:sp>
      <p:sp>
        <p:nvSpPr>
          <p:cNvPr id="28" name="Shape 22"/>
          <p:cNvSpPr/>
          <p:nvPr/>
        </p:nvSpPr>
        <p:spPr>
          <a:xfrm>
            <a:off x="658368" y="3520440"/>
            <a:ext cx="108630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3630168"/>
            <a:ext cx="105338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调研结论 → 我们的方案要保留什么？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868680" y="3913632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78408" y="4059936"/>
            <a:ext cx="201168" cy="20116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252728" y="4032504"/>
            <a:ext cx="1783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统一账号/项目体系</a:t>
            </a:r>
            <a:endParaRPr lang="en-US" sz="1080" dirty="0"/>
          </a:p>
        </p:txBody>
      </p:sp>
      <p:sp>
        <p:nvSpPr>
          <p:cNvPr id="33" name="Text 27"/>
          <p:cNvSpPr/>
          <p:nvPr/>
        </p:nvSpPr>
        <p:spPr>
          <a:xfrm>
            <a:off x="978408" y="4334256"/>
            <a:ext cx="20848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项目是资源分配与费用统计的基本单元；PI/项目管理员需可增删成员。</a:t>
            </a:r>
            <a:endParaRPr lang="en-US" sz="890" dirty="0"/>
          </a:p>
        </p:txBody>
      </p:sp>
      <p:sp>
        <p:nvSpPr>
          <p:cNvPr id="34" name="Shape 28"/>
          <p:cNvSpPr/>
          <p:nvPr/>
        </p:nvSpPr>
        <p:spPr>
          <a:xfrm>
            <a:off x="3566160" y="3913632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75888" y="405993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950208" y="4032504"/>
            <a:ext cx="1783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Web化作业/文件入口</a:t>
            </a:r>
            <a:endParaRPr lang="en-US" sz="1080" dirty="0"/>
          </a:p>
        </p:txBody>
      </p:sp>
      <p:sp>
        <p:nvSpPr>
          <p:cNvPr id="37" name="Text 31"/>
          <p:cNvSpPr/>
          <p:nvPr/>
        </p:nvSpPr>
        <p:spPr>
          <a:xfrm>
            <a:off x="3675888" y="4334256"/>
            <a:ext cx="20848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降低命令行门槛，支持模板化提交、结果下载、日志查看与文件管理。</a:t>
            </a:r>
            <a:endParaRPr lang="en-US" sz="890" dirty="0"/>
          </a:p>
        </p:txBody>
      </p:sp>
      <p:sp>
        <p:nvSpPr>
          <p:cNvPr id="38" name="Shape 32"/>
          <p:cNvSpPr/>
          <p:nvPr/>
        </p:nvSpPr>
        <p:spPr>
          <a:xfrm>
            <a:off x="6263640" y="3913632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373368" y="4059936"/>
            <a:ext cx="201168" cy="20116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647688" y="4032504"/>
            <a:ext cx="1783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运营可视化与账单</a:t>
            </a:r>
            <a:endParaRPr lang="en-US" sz="1080" dirty="0"/>
          </a:p>
        </p:txBody>
      </p:sp>
      <p:sp>
        <p:nvSpPr>
          <p:cNvPr id="41" name="Text 35"/>
          <p:cNvSpPr/>
          <p:nvPr/>
        </p:nvSpPr>
        <p:spPr>
          <a:xfrm>
            <a:off x="6373368" y="4334256"/>
            <a:ext cx="20848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首页应能看到资源使用、作业状态、队列与账单/报告，支持管理层运营判断。</a:t>
            </a:r>
            <a:endParaRPr lang="en-US" sz="890" dirty="0"/>
          </a:p>
        </p:txBody>
      </p:sp>
      <p:sp>
        <p:nvSpPr>
          <p:cNvPr id="42" name="Shape 36"/>
          <p:cNvSpPr/>
          <p:nvPr/>
        </p:nvSpPr>
        <p:spPr>
          <a:xfrm>
            <a:off x="8961120" y="3913632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9070848" y="4059936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9345168" y="4032504"/>
            <a:ext cx="1783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工单与支持闭环</a:t>
            </a:r>
            <a:endParaRPr lang="en-US" sz="1080" dirty="0"/>
          </a:p>
        </p:txBody>
      </p:sp>
      <p:sp>
        <p:nvSpPr>
          <p:cNvPr id="45" name="Text 39"/>
          <p:cNvSpPr/>
          <p:nvPr/>
        </p:nvSpPr>
        <p:spPr>
          <a:xfrm>
            <a:off x="9070848" y="4334256"/>
            <a:ext cx="20848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门户不仅是“下单入口”，还应接入帮助中心、文档中心和7×24支持能力。</a:t>
            </a:r>
            <a:endParaRPr lang="en-US" sz="890" dirty="0"/>
          </a:p>
        </p:txBody>
      </p:sp>
      <p:sp>
        <p:nvSpPr>
          <p:cNvPr id="47" name="Text 40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项目目标与成功标准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引言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76656" y="1051560"/>
            <a:ext cx="365760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161288"/>
            <a:ext cx="33284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总目标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1417320"/>
            <a:ext cx="3328416" cy="40690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建设一个面向超算中心用户、管理人员与运维人员的统一运营管理门户，实现资源申请、审批流转、作业查询、账单统计、工单服务与公告文档等业务在同一入口完成。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51560"/>
            <a:ext cx="2148840" cy="14630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8016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5544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流程统一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把注册、申请、审批、开通、监控、统计串成闭环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949440" y="105156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051560"/>
            <a:ext cx="2148840" cy="1463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28016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15544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角色清晰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普通用户、PI、审批人、管理员、运维分权分责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326880" y="105156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1051560"/>
            <a:ext cx="2148840" cy="14630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128016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64040" y="15544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数据可视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资源、作业、账单、工单、活跃度可统计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572000" y="260604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606040"/>
            <a:ext cx="2148840" cy="14630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3464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10896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文档完整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章程、可行性、WBS/OBS、风险、预算齐备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949440" y="260604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2606040"/>
            <a:ext cx="2148840" cy="146304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83464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6600" y="310896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计划可执行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任务到人、时间可估、交付可检查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326880" y="2606040"/>
            <a:ext cx="2148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0" y="2606040"/>
            <a:ext cx="2148840" cy="146304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64040" y="2834640"/>
            <a:ext cx="1874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64040" y="310896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评审可量化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对照19条评审要求逐项留证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572000" y="4251960"/>
            <a:ext cx="6903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36592" y="4361688"/>
            <a:ext cx="65745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成功判定（评审视角）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736592" y="4617720"/>
            <a:ext cx="6574536" cy="8686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计划书、章程、可行性三份核心文档齐备；② WBS/OBS/Gantt/里程碑/风险/预算可追踪；③ 五人均有明确负责项与本阶段绩效评价</a:t>
            </a:r>
            <a:r>
              <a:rPr lang="zh-CN" alt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altLang="en-US" sz="104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项目章程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章程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94944" y="1078992"/>
          <a:ext cx="10789920" cy="5074920"/>
        </p:xfrm>
        <a:graphic>
          <a:graphicData uri="http://schemas.openxmlformats.org/drawingml/2006/table">
            <a:tbl>
              <a:tblPr/>
              <a:tblGrid>
                <a:gridCol w="1554480"/>
                <a:gridCol w="923544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项目名称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超算中心运营管理门户网站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项目发起背景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围绕课程选题，以超算中心统一门户为案例完成需求工程项目计划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项目目标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输出完整的项目计划书、项目章程、可行性分析、阶段汇报PPT，并为后续UML与SRS做准备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范围内交付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需求场景、角色分析、业务流程、功能架构、WBS/OBS、甘特图、风险与预算、沟通与配置机制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范围外内容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详细UI实现、后台编码开发、真实上线部署、真实计费系统对接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关键里程碑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M1 选题与调研；M2 计划书评审；M3 需求分析与建模；M4 SRS与变更文档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约束条件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课程周期有限；成员时间分散；以文档与原型为主，不进入正式开发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验收标准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核心文档齐套、计划逻辑闭环、分工到人、评审19项有证据支撑</a:t>
                      </a:r>
                      <a:endParaRPr lang="en-US" sz="11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干系人分析与联系方式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58368" y="1234440"/>
          <a:ext cx="6583680" cy="4389120"/>
        </p:xfrm>
        <a:graphic>
          <a:graphicData uri="http://schemas.openxmlformats.org/drawingml/2006/table">
            <a:tbl>
              <a:tblPr/>
              <a:tblGrid>
                <a:gridCol w="1508760"/>
                <a:gridCol w="1828800"/>
                <a:gridCol w="1828800"/>
                <a:gridCol w="141732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干系人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关注点/职责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主要联系方式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预期响应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指导教师/助教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评审与指导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课堂/学习平台/邮箱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课内节点前1天同步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组长（</a:t>
                      </a:r>
                      <a:r>
                        <a:rPr lang="zh-CN" alt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吴易骏</a:t>
                      </a: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）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计划统筹、里程碑、答辩统稿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微信群/电话/共享文档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当天响应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普通用户代表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提出申请与使用诉求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问卷/访谈/班级群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2天内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项目负责人/PI代表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项目成员授权、资源归属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邮箱/会议纪要确认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2天内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中心管理员代表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审批、配额、账单与公告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工单/邮件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2天内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运维代表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系统运行、告警与故障处理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工单/电话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紧急事项4小时内</a:t>
                      </a:r>
                      <a:endParaRPr lang="en-US" sz="103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234440"/>
            <a:ext cx="3977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7708392" y="1344168"/>
            <a:ext cx="3648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权力-关注度优先级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028432" y="2743200"/>
            <a:ext cx="2926080" cy="0"/>
          </a:xfrm>
          <a:prstGeom prst="line">
            <a:avLst/>
          </a:prstGeom>
          <a:noFill/>
          <a:ln w="15240">
            <a:solidFill>
              <a:srgbClr val="B6C9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91472" y="1517904"/>
            <a:ext cx="0" cy="1572768"/>
          </a:xfrm>
          <a:prstGeom prst="line">
            <a:avLst/>
          </a:prstGeom>
          <a:noFill/>
          <a:ln w="15240">
            <a:solidFill>
              <a:srgbClr val="B6C9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0" y="278892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关注度 →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 rot="16200000">
            <a:off x="7653528" y="1536192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权力 ↑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149840" y="1783080"/>
            <a:ext cx="182880" cy="1828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78440" y="177393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9738360" y="2057400"/>
            <a:ext cx="182880" cy="1828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66960" y="204825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组长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0012680" y="2240280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0" y="223113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管理员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8869680" y="1920240"/>
            <a:ext cx="182880" cy="1828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98280" y="191109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运维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8412480" y="2423160"/>
            <a:ext cx="182880" cy="1828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41080" y="241401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543800" y="3429000"/>
            <a:ext cx="3977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708392" y="3538728"/>
            <a:ext cx="3648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沟通原则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818120" y="3749040"/>
            <a:ext cx="3429000" cy="10972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所有关键沟通均转化为会议纪要/任务单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审批与变更必须有负责人、有时间、有版本号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紧急问题先群内同步，再在共享文档中补录留痕</a:t>
            </a:r>
            <a:endParaRPr lang="en-US" sz="1030" dirty="0"/>
          </a:p>
        </p:txBody>
      </p:sp>
      <p:sp>
        <p:nvSpPr>
          <p:cNvPr id="26" name="Text 23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方案与决策分析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58368" y="1243584"/>
          <a:ext cx="10972800" cy="333756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194560"/>
                <a:gridCol w="274320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候选方案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特点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优点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局限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结论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 分散式入口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（QQ群+表单+命令行）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工具零散、依赖人工协调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上手快、无建设成本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难留痕、统计弱、责任边界模糊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不选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 工单系统为主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（申请+咨询）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适合服务台与问题闭环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审批链可记录、支持工单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作业管理/文件管理/运营看板能力不足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不选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 统一运营门户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（本项目）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账号、申请、审批、作业、统计一体化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体验统一、数据闭环、易于扩展和审计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前期规划要求高，需要角色与流程设计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选定方案</a:t>
                      </a:r>
                      <a:endParaRPr lang="en-US" sz="102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4800600"/>
            <a:ext cx="534924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4910328"/>
            <a:ext cx="50200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为什么采用 B/S 架构？</a:t>
            </a:r>
            <a:endParaRPr lang="en-US" sz="1350" dirty="0"/>
          </a:p>
        </p:txBody>
      </p:sp>
      <p:sp>
        <p:nvSpPr>
          <p:cNvPr id="6" name="Text 6"/>
          <p:cNvSpPr/>
          <p:nvPr/>
        </p:nvSpPr>
        <p:spPr>
          <a:xfrm>
            <a:off x="822960" y="5166360"/>
            <a:ext cx="5020056" cy="65836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1）符合门户访问方式；2）适合跨角色协同；3）课程阶段便于原型与流程表达；4）未来可平滑扩展接口、日志与审计。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172200" y="4800600"/>
            <a:ext cx="54589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36792" y="4910328"/>
            <a:ext cx="5129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方案要求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36792" y="5166360"/>
            <a:ext cx="5129784" cy="65836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统一身份、角色分权、可留痕审批、作业与文件可查询、统计看板、帮助与文档中心、配置可管理。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可行性分析报告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可行性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944" y="1298448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EEF5FF"/>
          </a:solidFill>
          <a:ln w="12700">
            <a:solidFill>
              <a:srgbClr val="2F80ED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408176"/>
            <a:ext cx="4974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技术可行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59536" y="1664208"/>
            <a:ext cx="4974336" cy="11704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采用B/S架构与角色化权限即可支撑课程级门户建模；作业、文件、统计等能力均有成熟对标案例可参考。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6199632" y="1298448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EEF9F1"/>
          </a:solidFill>
          <a:ln w="12700">
            <a:solidFill>
              <a:srgbClr val="27AE60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4224" y="1408176"/>
            <a:ext cx="4974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经济可行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64224" y="1664208"/>
            <a:ext cx="4974336" cy="11704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课程项目以人力投入为主，预算主要是工时成本与少量文档/打印/答辩成本，无需真实采购超算资源。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94944" y="3310128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FFF5E9"/>
          </a:solidFill>
          <a:ln w="12700">
            <a:solidFill>
              <a:srgbClr val="F2994A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" y="3419856"/>
            <a:ext cx="4974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操作可行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9536" y="3675888"/>
            <a:ext cx="4974336" cy="11704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业务主线清晰：注册→申请→审批→开通→作业→统计→支持；普通用户和管理员均易于理解。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199632" y="3310128"/>
            <a:ext cx="5303520" cy="1627632"/>
          </a:xfrm>
          <a:prstGeom prst="roundRect">
            <a:avLst>
              <a:gd name="adj" fmla="val 5618"/>
            </a:avLst>
          </a:prstGeom>
          <a:solidFill>
            <a:srgbClr val="F4F1FF"/>
          </a:solidFill>
          <a:ln w="12700">
            <a:solidFill>
              <a:srgbClr val="7B61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3419856"/>
            <a:ext cx="4974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进度可行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64224" y="3675888"/>
            <a:ext cx="4974336" cy="117043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可按周次拆分为调研、获取、分析、文档、答辩五段；里程碑明确，可通过周例会和甘特图持续跟踪。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1417320" y="5440680"/>
            <a:ext cx="9326880" cy="566928"/>
          </a:xfrm>
          <a:prstGeom prst="roundRect">
            <a:avLst>
              <a:gd name="adj" fmla="val 12903"/>
            </a:avLst>
          </a:prstGeom>
          <a:solidFill>
            <a:srgbClr val="0D2A52"/>
          </a:solidFill>
          <a:ln w="10160">
            <a:solidFill>
              <a:srgbClr val="5DB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5623560"/>
            <a:ext cx="8869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综合结论：本项目选题合理、资料充足、成本可控、进度可排，具备作为需求工程课程项目持续推进的条件。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交付产品与范围边界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5156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61288"/>
            <a:ext cx="51572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范围内交付物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1389888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467612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1461211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项目计划书（含WBS/OBS/甘特图/子计划）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1783080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860804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1854403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项目章程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2176272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253996"/>
            <a:ext cx="155448" cy="1554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2247595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可行性分析报告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2569464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2647188"/>
            <a:ext cx="155448" cy="1554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2640787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需求获取计划与会议纪要模板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2962656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3040380"/>
            <a:ext cx="155448" cy="15544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9576" y="3033979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干系人清单与分工矩阵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3355848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433572"/>
            <a:ext cx="155448" cy="155448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9576" y="3427171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风险管理计划、预算估算、配置管理方案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" y="3749040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3826764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9576" y="3820363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阶段汇报PPT（用于本轮评审）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4142232"/>
            <a:ext cx="50749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4219956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9576" y="4213555"/>
            <a:ext cx="4690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后续延伸：UML概述与SRS文档框架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1051560"/>
            <a:ext cx="5175504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19672" y="1161288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本阶段不做什么？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519672" y="1417320"/>
            <a:ext cx="4846320" cy="157276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不做真实上线部署与生产级开发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不做真实超算资源接入与计费系统联调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不展开详细数据库设计与接口联调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不把PPT当成最终产品，而是作为项目计划评审材料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355080" y="3319272"/>
            <a:ext cx="5175504" cy="2258568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19672" y="3429000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演示材料准备情况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19672" y="3685032"/>
            <a:ext cx="4846320" cy="180136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已准备统一模板PPT、章节目录页、参考资料页、成员评价页；整套汇报按“为什么做—怎么做—谁负责—何时完成—风险如何控”展开，与评审表要求逐条对应。</a:t>
            </a:r>
            <a:endParaRPr lang="en-US" sz="1140" dirty="0"/>
          </a:p>
        </p:txBody>
      </p:sp>
      <p:pic>
        <p:nvPicPr>
          <p:cNvPr id="38" name="Image 0" descr="/mnt/data/assets/xfinity_job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4157" y="3977640"/>
            <a:ext cx="1071086" cy="594360"/>
          </a:xfrm>
          <a:prstGeom prst="rect">
            <a:avLst/>
          </a:prstGeom>
        </p:spPr>
      </p:pic>
      <p:pic>
        <p:nvPicPr>
          <p:cNvPr id="39" name="Image 1" descr="/mnt/data/assets/xfinity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3992432"/>
            <a:ext cx="960120" cy="564776"/>
          </a:xfrm>
          <a:prstGeom prst="rect">
            <a:avLst/>
          </a:prstGeom>
        </p:spPr>
      </p:pic>
      <p:pic>
        <p:nvPicPr>
          <p:cNvPr id="40" name="Image 2" descr="/mnt/data/assets/xfinity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031361"/>
            <a:ext cx="868680" cy="46863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核心业务流程设计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81732" y="1828800"/>
            <a:ext cx="210312" cy="219456"/>
          </a:xfrm>
          <a:prstGeom prst="chevron">
            <a:avLst/>
          </a:prstGeom>
          <a:solidFill>
            <a:srgbClr val="C6DBFF"/>
          </a:solidFill>
          <a:ln w="12700">
            <a:solidFill>
              <a:srgbClr val="C6D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6212" y="1828800"/>
            <a:ext cx="210312" cy="219456"/>
          </a:xfrm>
          <a:prstGeom prst="chevron">
            <a:avLst/>
          </a:prstGeom>
          <a:solidFill>
            <a:srgbClr val="C6DBFF"/>
          </a:solidFill>
          <a:ln w="12700">
            <a:solidFill>
              <a:srgbClr val="C6D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0692" y="1828800"/>
            <a:ext cx="210312" cy="219456"/>
          </a:xfrm>
          <a:prstGeom prst="chevron">
            <a:avLst/>
          </a:prstGeom>
          <a:solidFill>
            <a:srgbClr val="C6DBFF"/>
          </a:solidFill>
          <a:ln w="12700">
            <a:solidFill>
              <a:srgbClr val="C6D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5172" y="1828800"/>
            <a:ext cx="210312" cy="219456"/>
          </a:xfrm>
          <a:prstGeom prst="chevron">
            <a:avLst/>
          </a:prstGeom>
          <a:solidFill>
            <a:srgbClr val="C6DBFF"/>
          </a:solidFill>
          <a:ln w="12700">
            <a:solidFill>
              <a:srgbClr val="C6D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99652" y="1828800"/>
            <a:ext cx="210312" cy="219456"/>
          </a:xfrm>
          <a:prstGeom prst="chevron">
            <a:avLst/>
          </a:prstGeom>
          <a:solidFill>
            <a:srgbClr val="C6DBFF"/>
          </a:solidFill>
          <a:ln w="12700">
            <a:solidFill>
              <a:srgbClr val="C6D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92428" y="1554480"/>
            <a:ext cx="1234440" cy="786384"/>
          </a:xfrm>
          <a:prstGeom prst="roundRect">
            <a:avLst>
              <a:gd name="adj" fmla="val 10465"/>
            </a:avLst>
          </a:prstGeom>
          <a:solidFill>
            <a:srgbClr val="EAF3FF"/>
          </a:solidFill>
          <a:ln w="13970">
            <a:solidFill>
              <a:srgbClr val="9EC7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83868" y="1627632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02156" y="1828800"/>
            <a:ext cx="101498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注册/登录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665580" y="2039112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账号建立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146908" y="1554480"/>
            <a:ext cx="1234440" cy="786384"/>
          </a:xfrm>
          <a:prstGeom prst="roundRect">
            <a:avLst>
              <a:gd name="adj" fmla="val 10465"/>
            </a:avLst>
          </a:prstGeom>
          <a:solidFill>
            <a:srgbClr val="EEF9F1"/>
          </a:solidFill>
          <a:ln w="13970">
            <a:solidFill>
              <a:srgbClr val="A8E1B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38348" y="1627632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56636" y="1828800"/>
            <a:ext cx="101498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资源申请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3220060" y="2039112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试用/正式/扩容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701388" y="1554480"/>
            <a:ext cx="1234440" cy="786384"/>
          </a:xfrm>
          <a:prstGeom prst="roundRect">
            <a:avLst>
              <a:gd name="adj" fmla="val 10465"/>
            </a:avLst>
          </a:prstGeom>
          <a:solidFill>
            <a:srgbClr val="FFF5E9"/>
          </a:solidFill>
          <a:ln w="13970">
            <a:solidFill>
              <a:srgbClr val="FFD39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92828" y="1627632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1116" y="1828800"/>
            <a:ext cx="101498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审批流转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774540" y="2039112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 / 管理员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255868" y="1554480"/>
            <a:ext cx="1234440" cy="786384"/>
          </a:xfrm>
          <a:prstGeom prst="roundRect">
            <a:avLst>
              <a:gd name="adj" fmla="val 10465"/>
            </a:avLst>
          </a:prstGeom>
          <a:solidFill>
            <a:srgbClr val="F4F1FF"/>
          </a:solidFill>
          <a:ln w="13970">
            <a:solidFill>
              <a:srgbClr val="D6CC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47308" y="1627632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65596" y="1828800"/>
            <a:ext cx="101498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账号开通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329020" y="2039112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权限/配额/通知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810348" y="1554480"/>
            <a:ext cx="1234440" cy="786384"/>
          </a:xfrm>
          <a:prstGeom prst="roundRect">
            <a:avLst>
              <a:gd name="adj" fmla="val 10465"/>
            </a:avLst>
          </a:prstGeom>
          <a:solidFill>
            <a:srgbClr val="EAF3FF"/>
          </a:solidFill>
          <a:ln w="13970">
            <a:solidFill>
              <a:srgbClr val="9EC7F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901788" y="1627632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20076" y="1828800"/>
            <a:ext cx="101498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作业运行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7883500" y="2039112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提交/监控/结果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9364828" y="1554480"/>
            <a:ext cx="1234440" cy="786384"/>
          </a:xfrm>
          <a:prstGeom prst="roundRect">
            <a:avLst>
              <a:gd name="adj" fmla="val 10465"/>
            </a:avLst>
          </a:prstGeom>
          <a:solidFill>
            <a:srgbClr val="EEF9F1"/>
          </a:solidFill>
          <a:ln w="13970">
            <a:solidFill>
              <a:srgbClr val="A8E1B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56268" y="1627632"/>
            <a:ext cx="2194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74556" y="1828800"/>
            <a:ext cx="1014984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统计服务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9437980" y="2039112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账单/报表/工单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58495" y="2971800"/>
            <a:ext cx="6537960" cy="25698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3081528"/>
            <a:ext cx="62087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流程说明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22960" y="3337560"/>
            <a:ext cx="6208776" cy="173736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1）普通用户提交试用或正式资源申请；</a:t>
            </a: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2）项目负责人/中心管理员按照角色审批；</a:t>
            </a: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3）审批通过后由管理员开通账号、项目和配额；</a:t>
            </a: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4）用户通过门户提交或查看作业，并可访问文件、日志、结果；</a:t>
            </a: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endParaRPr lang="en-US" sz="1110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5）平台沉淀账单、资源用量、活跃用户和工单数据。</a:t>
            </a:r>
            <a:endParaRPr lang="en-US" sz="1110" dirty="0"/>
          </a:p>
        </p:txBody>
      </p:sp>
      <p:sp>
        <p:nvSpPr>
          <p:cNvPr id="38" name="Shape 36"/>
          <p:cNvSpPr/>
          <p:nvPr/>
        </p:nvSpPr>
        <p:spPr>
          <a:xfrm>
            <a:off x="7452360" y="2971800"/>
            <a:ext cx="4077970" cy="256921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pic>
        <p:nvPicPr>
          <p:cNvPr id="39" name="Image 0" descr="/mnt/data/assets/ms_nod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2020" y="3154680"/>
            <a:ext cx="1889760" cy="1417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635240" y="466344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监控与统计视角</a:t>
            </a:r>
            <a:endParaRPr lang="en-US" sz="1160" dirty="0"/>
          </a:p>
        </p:txBody>
      </p:sp>
      <p:sp>
        <p:nvSpPr>
          <p:cNvPr id="41" name="Text 38"/>
          <p:cNvSpPr/>
          <p:nvPr/>
        </p:nvSpPr>
        <p:spPr>
          <a:xfrm>
            <a:off x="7635240" y="4919472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门户首页需要提供集群节点、作业状态、资源占用与告警摘要，便于用户与管理员快速判断系统状态。</a:t>
            </a:r>
            <a:endParaRPr lang="en-US" sz="1020" dirty="0"/>
          </a:p>
        </p:txBody>
      </p:sp>
      <p:sp>
        <p:nvSpPr>
          <p:cNvPr id="43" name="Text 39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功能架构设计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3977640" cy="4846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pic>
        <p:nvPicPr>
          <p:cNvPr id="7" name="Image 0" descr="/mnt/data/assets/xfinity_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45678"/>
            <a:ext cx="3383280" cy="42580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1078992"/>
            <a:ext cx="662940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56632" y="1188720"/>
            <a:ext cx="63002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我们的门户分层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166360" y="150876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1586484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77256" y="158008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用户服务层：注册登录、实名认证、个人中心、消息通知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66360" y="214884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57800" y="2226564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77256" y="222016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业务申请层：试用申请、正式资源、扩容/变更、审批流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66360" y="278892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7800" y="2866644"/>
            <a:ext cx="155448" cy="1554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77256" y="286024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运行管理层：作业提交、运行状态、日志结果、队列查看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66360" y="342900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57800" y="3506724"/>
            <a:ext cx="155448" cy="1554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77256" y="350032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运营统计层：账单/报表、资源利用率、工单统计、公告培训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166360" y="4069080"/>
            <a:ext cx="59893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57800" y="4146804"/>
            <a:ext cx="155448" cy="15544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77256" y="4140403"/>
            <a:ext cx="56052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平台支撑层：权限控制、配置管理、版本留痕、审计与日志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175504" y="4892040"/>
            <a:ext cx="5989320" cy="621792"/>
          </a:xfrm>
          <a:prstGeom prst="roundRect">
            <a:avLst>
              <a:gd name="adj" fmla="val 11765"/>
            </a:avLst>
          </a:prstGeom>
          <a:solidFill>
            <a:srgbClr val="0D2A52"/>
          </a:solidFill>
          <a:ln w="10160">
            <a:solidFill>
              <a:srgbClr val="5DB0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0680" y="5093208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设计原则：统一入口、角色分权、过程留痕、统计驱动、对后续扩展友好</a:t>
            </a:r>
            <a:endParaRPr lang="en-US" sz="1130" dirty="0"/>
          </a:p>
        </p:txBody>
      </p:sp>
      <p:sp>
        <p:nvSpPr>
          <p:cNvPr id="28" name="Text 24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需求获取计划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495" y="1060450"/>
            <a:ext cx="3657600" cy="514985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70432"/>
            <a:ext cx="33284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获取方法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1481328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559052"/>
            <a:ext cx="155448" cy="1554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9576" y="1552651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文献/官网调研：梳理现有超算门户共性能力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2093976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171700"/>
            <a:ext cx="155448" cy="1554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9576" y="2165299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竞品分析：对标 Open OnDemand、Xfinity、TACC、北京超算云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2706624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784348"/>
            <a:ext cx="155448" cy="155448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2777947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半结构化访谈：面向“普通用户 / PI / 管理员 / 运维”四类角色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319272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396996"/>
            <a:ext cx="155448" cy="15544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3390595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问卷与场景卡片：收集高频功能和痛点优先级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3931920"/>
            <a:ext cx="32461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160">
            <a:solidFill>
              <a:srgbClr val="D9E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009644"/>
            <a:ext cx="155448" cy="155448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9576" y="4003243"/>
            <a:ext cx="28620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需求评审会：对功能范围、术语与边界进行统一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1060704"/>
            <a:ext cx="7004304" cy="217627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90872" y="1170432"/>
            <a:ext cx="6675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时间安排（为什么现在做？）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90872" y="1426464"/>
            <a:ext cx="6675120" cy="171907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阶段是项目计划与立项评审阶段，需求获取必须前置：一方面帮助明确“到底做什么、不做什么”，另一方面为后续UML建模、SRS编制和变更管理建立统一术语与范围基线。若跳过该阶段，后续WBS、预算与风险判断都将失真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526280" y="3502025"/>
            <a:ext cx="7004050" cy="2710815"/>
          </a:xfrm>
          <a:prstGeom prst="roundRect">
            <a:avLst>
              <a:gd name="adj" fmla="val 395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90872" y="3611880"/>
            <a:ext cx="6675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输出物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4677537" y="3928110"/>
          <a:ext cx="6583680" cy="1774190"/>
        </p:xfrm>
        <a:graphic>
          <a:graphicData uri="http://schemas.openxmlformats.org/drawingml/2006/table">
            <a:tbl>
              <a:tblPr/>
              <a:tblGrid>
                <a:gridCol w="1097280"/>
                <a:gridCol w="2514600"/>
                <a:gridCol w="29718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阶段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调研与竞品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官网资料、对标平台截图、课程要求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调研摘要、术语表、初始需求清单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访谈与问卷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角色画像、场景假设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访谈纪要、需求优先级、痛点清单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需求评审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初版功能范围、流程草图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范围基线、待确认事项、评审意见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会议机制、纪要与配置管理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88720"/>
            <a:ext cx="51114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会议机制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68680" y="1417320"/>
          <a:ext cx="4983480" cy="196596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1463040"/>
                <a:gridCol w="178308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会议类型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频率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目的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周例会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每周1次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检查进度/风险/依赖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会议纪要、任务清单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需求评审会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关键节点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统一术语、确认边界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评审意见、待确认项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文档统稿会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提交前1次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统一模板、修正格式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最终版本、提交包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答辩彩排会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答辩前1次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校准时长与分工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讲稿、发言顺序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96112" y="370332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纪要模板最少包含：会议主题、时间、与会人、结论、待办、负责人、截止时间、版本号。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336792" y="1078992"/>
            <a:ext cx="5193792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01384" y="1188720"/>
            <a:ext cx="4864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配置管理与并行工作空间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65392" y="14447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版本策略</a:t>
            </a:r>
            <a:endParaRPr lang="en-US" sz="1210" dirty="0"/>
          </a:p>
        </p:txBody>
      </p:sp>
      <p:sp>
        <p:nvSpPr>
          <p:cNvPr id="14" name="Text 11"/>
          <p:cNvSpPr/>
          <p:nvPr/>
        </p:nvSpPr>
        <p:spPr>
          <a:xfrm>
            <a:off x="6565392" y="1700784"/>
            <a:ext cx="4526280" cy="7772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文档版本：v0.x 草稿、v1.0 提交版、v1.x 评审修订版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命名规则：项目-文档名-日期-版本号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共享空间：总稿区 / 个人工作区 / 提交归档区分离</a:t>
            </a:r>
            <a:endParaRPr lang="en-US" sz="1040" dirty="0"/>
          </a:p>
        </p:txBody>
      </p:sp>
      <p:sp>
        <p:nvSpPr>
          <p:cNvPr id="8" name="Text 12"/>
          <p:cNvSpPr/>
          <p:nvPr/>
        </p:nvSpPr>
        <p:spPr>
          <a:xfrm>
            <a:off x="6565392" y="2761488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并行协作做法</a:t>
            </a:r>
            <a:endParaRPr lang="en-US" sz="1210" dirty="0"/>
          </a:p>
        </p:txBody>
      </p:sp>
      <p:sp>
        <p:nvSpPr>
          <p:cNvPr id="16" name="Text 13"/>
          <p:cNvSpPr/>
          <p:nvPr/>
        </p:nvSpPr>
        <p:spPr>
          <a:xfrm>
            <a:off x="6565392" y="2999232"/>
            <a:ext cx="4526280" cy="9144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一人一模块一工作区，避免多人同时覆盖总稿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组长负责合并，合并前先检查冲突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关键版本只允许“提交人 + 组长”修改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所有变更在变更记录表中留痕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6565392" y="4251960"/>
            <a:ext cx="4572000" cy="868680"/>
          </a:xfrm>
          <a:prstGeom prst="roundRect">
            <a:avLst>
              <a:gd name="adj" fmla="val 7368"/>
            </a:avLst>
          </a:prstGeom>
          <a:solidFill>
            <a:srgbClr val="EEF5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48272" y="454456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配置基线：项目计划书 / 项目章程 / 可行性分析 / 阶段PPT / 会议纪要 / 风险清单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 总览：5个项目阶段 + 2个需求工程阶段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0" y="1783080"/>
            <a:ext cx="0" cy="411480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4208" y="2194560"/>
            <a:ext cx="8668512" cy="0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2496" y="2194560"/>
            <a:ext cx="0" cy="384048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31336" y="2194560"/>
            <a:ext cx="0" cy="384048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0176" y="2194560"/>
            <a:ext cx="0" cy="384048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9016" y="2194560"/>
            <a:ext cx="0" cy="384048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77856" y="2194560"/>
            <a:ext cx="0" cy="384048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960120"/>
            <a:ext cx="2697480" cy="768096"/>
          </a:xfrm>
          <a:prstGeom prst="roundRect">
            <a:avLst>
              <a:gd name="adj" fmla="val 9524"/>
            </a:avLst>
          </a:prstGeom>
          <a:solidFill>
            <a:srgbClr val="0D2A52"/>
          </a:solidFill>
          <a:ln w="12700">
            <a:solidFill>
              <a:srgbClr val="5DB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155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项目总工作包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超算中心运营管理门户网站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2578608"/>
            <a:ext cx="13533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2724912"/>
            <a:ext cx="12070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启动准备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97280" y="29443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选题、调研、章程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154680" y="2578608"/>
            <a:ext cx="13533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2724912"/>
            <a:ext cx="12070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 需求获取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29443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访谈、问卷、竞品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303520" y="2578608"/>
            <a:ext cx="13533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2724912"/>
            <a:ext cx="12070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P3 分析与建模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29443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流程、用例、术语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452360" y="2578608"/>
            <a:ext cx="13533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25512" y="2724912"/>
            <a:ext cx="12070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P4 文档编制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43800" y="29443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计划书、可行性、PPT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9601200" y="2578608"/>
            <a:ext cx="13533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74352" y="2724912"/>
            <a:ext cx="12070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P5 评审收尾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92640" y="29443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整改、归档、答辩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786384" y="388620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50976" y="3995928"/>
            <a:ext cx="51114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需求工程两大阶段映射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51230" y="42616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需求开发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65630" y="426161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 P2～P4：需求获取、需求分析、需求规格化与评审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951230" y="4617720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需求管理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65630" y="4691380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 P1 / P5：范围基线、版本配置、变更记录、评审整改与追踪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6400800" y="3886200"/>
            <a:ext cx="51206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65392" y="3995928"/>
            <a:ext cx="47914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 使用原则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565392" y="4408170"/>
            <a:ext cx="4791456" cy="1024128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任务必须“可交付、可度量、可分配、可估时”；每个工作包都要有输入、输出、负责人和预估完成时间。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 任务字典（上）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66928" y="1078992"/>
          <a:ext cx="11064240" cy="5349240"/>
        </p:xfrm>
        <a:graphic>
          <a:graphicData uri="http://schemas.openxmlformats.org/drawingml/2006/table">
            <a:tbl>
              <a:tblPr/>
              <a:tblGrid>
                <a:gridCol w="594360"/>
                <a:gridCol w="960120"/>
                <a:gridCol w="1965960"/>
                <a:gridCol w="1828800"/>
                <a:gridCol w="2148840"/>
                <a:gridCol w="685800"/>
                <a:gridCol w="82296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编码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任务说明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工期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负责人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1.1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选题确认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明确课题边界与汇报目标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课程要求、评审表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选题说明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b="0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吴易骏</a:t>
                      </a:r>
                      <a:endParaRPr lang="zh-CN" altLang="en-US" sz="910" b="0" dirty="0">
                        <a:solidFill>
                          <a:srgbClr val="1E2A3A"/>
                        </a:solidFill>
                        <a:latin typeface="Noto Sans CJK SC" pitchFamily="34" charset="0"/>
                        <a:ea typeface="Noto Sans CJK SC" pitchFamily="34" charset="-122"/>
                        <a:cs typeface="Noto Sans CJK SC" pitchFamily="34" charset="-12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1.2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外部调研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收集超算门户案例与资料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官网资料、截图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调研摘要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吴易骏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1.3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项目章程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定义目标、范围、里程碑与约束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调研摘要、模板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项目章程 v1.0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肖泓宇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2.1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干系人识别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识别用户/PI/管理员/运维/教师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场景假设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干系人清单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肖泓宇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2.2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获取方案设计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设计访谈提纲、问卷与会议议程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干系人清单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访谈提纲/问卷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蒋长麟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2.3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需求获取会议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开展讨论并记录结论与待办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提纲、问卷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会议纪要、需求清单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蒋长麟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3.1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需求分析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梳理角色、场景、功能优先级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需求清单、纪要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分析结论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陈许恺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3.2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流程与用例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形成核心业务流程与用例草图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分析结论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流程图、用例清单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王</a:t>
                      </a: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涛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 任务字典（下）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66928" y="1078992"/>
          <a:ext cx="11064240" cy="5349240"/>
        </p:xfrm>
        <a:graphic>
          <a:graphicData uri="http://schemas.openxmlformats.org/drawingml/2006/table">
            <a:tbl>
              <a:tblPr/>
              <a:tblGrid>
                <a:gridCol w="594360"/>
                <a:gridCol w="960120"/>
                <a:gridCol w="1965960"/>
                <a:gridCol w="1828800"/>
                <a:gridCol w="2148840"/>
                <a:gridCol w="685800"/>
                <a:gridCol w="82296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编码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任务说明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输入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输出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工期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负责人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4.1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可行性分析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完成技术/经济/操作/进度分析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分析结论、调研资料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可行性报告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肖泓宇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4.2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项目计划书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形成WBS/OBS/Gantt/子计划总稿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章程、需求清单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项目计划书 v1.0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b="0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吴易骏，蒋长麟，陈许恺</a:t>
                      </a:r>
                      <a:endParaRPr lang="zh-CN" altLang="en-US" sz="910" b="0" dirty="0">
                        <a:solidFill>
                          <a:srgbClr val="1E2A3A"/>
                        </a:solidFill>
                        <a:latin typeface="Noto Sans CJK SC" pitchFamily="34" charset="0"/>
                        <a:ea typeface="Noto Sans CJK SC" pitchFamily="34" charset="-122"/>
                        <a:cs typeface="Noto Sans CJK SC" pitchFamily="34" charset="-12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4.3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答辩PPT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按评审表重组表达逻辑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计划书、章程、报告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汇报PPT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肖泓宇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5.1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风险与预算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编制风险清单、应对方案、预算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计划书草稿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风险计划、预算表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王涛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5.2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配置与变更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建立版本命名、基线与变更记录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共享文档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变更表、配置基线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持续进行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吴易骏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5.3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统稿与检查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检查格式、数据、引用与一致性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全部文档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提交版文档包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蒋长麟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5.4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评审整改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根据老师意见补充修订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评审反馈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修订版 v1.1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全员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5.5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归档收尾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归档文档、分工与绩效记录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最终版文档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归档包、绩效表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0.5周</a:t>
                      </a:r>
                      <a:endParaRPr 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1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陈许恺</a:t>
                      </a:r>
                      <a:endParaRPr lang="zh-CN" altLang="en-US" sz="91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 组织结构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对应评审项：是否明确组织结构、是否给出 OBS 图。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9904" y="1700784"/>
            <a:ext cx="0" cy="384048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1600200" y="2084832"/>
            <a:ext cx="8961120" cy="0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1645920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3895344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6144768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8394192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10643616" y="2084832"/>
            <a:ext cx="0" cy="329184"/>
          </a:xfrm>
          <a:prstGeom prst="line">
            <a:avLst/>
          </a:prstGeom>
          <a:noFill/>
          <a:ln w="17780">
            <a:solidFill>
              <a:srgbClr val="AFC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969264"/>
            <a:ext cx="2267712" cy="713232"/>
          </a:xfrm>
          <a:prstGeom prst="roundRect">
            <a:avLst>
              <a:gd name="adj" fmla="val 10256"/>
            </a:avLst>
          </a:prstGeom>
          <a:solidFill>
            <a:srgbClr val="0D2A52"/>
          </a:solidFill>
          <a:ln w="12700">
            <a:solidFill>
              <a:srgbClr val="5DB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133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项目组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G06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1024128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8"/>
            </p:custDataLst>
          </p:nvPr>
        </p:nvSpPr>
        <p:spPr>
          <a:xfrm>
            <a:off x="1024128" y="2414016"/>
            <a:ext cx="1243584" cy="1280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1097280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dirty="0"/>
              <a:t>吴易骏</a:t>
            </a:r>
            <a:endParaRPr lang="zh-CN" altLang="en-US" sz="1040" dirty="0"/>
          </a:p>
        </p:txBody>
      </p:sp>
      <p:sp>
        <p:nvSpPr>
          <p:cNvPr id="18" name="Text 16"/>
          <p:cNvSpPr/>
          <p:nvPr>
            <p:custDataLst>
              <p:tags r:id="rId10"/>
            </p:custDataLst>
          </p:nvPr>
        </p:nvSpPr>
        <p:spPr>
          <a:xfrm>
            <a:off x="1115568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统筹计划、里程碑、统稿与答辩</a:t>
            </a:r>
            <a:endParaRPr lang="en-US" sz="860" dirty="0"/>
          </a:p>
        </p:txBody>
      </p:sp>
      <p:sp>
        <p:nvSpPr>
          <p:cNvPr id="19" name="Shape 17"/>
          <p:cNvSpPr/>
          <p:nvPr>
            <p:custDataLst>
              <p:tags r:id="rId11"/>
            </p:custDataLst>
          </p:nvPr>
        </p:nvSpPr>
        <p:spPr>
          <a:xfrm>
            <a:off x="3273552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2"/>
            </p:custDataLst>
          </p:nvPr>
        </p:nvSpPr>
        <p:spPr>
          <a:xfrm>
            <a:off x="3273552" y="2414016"/>
            <a:ext cx="1243584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3"/>
            </p:custDataLst>
          </p:nvPr>
        </p:nvSpPr>
        <p:spPr>
          <a:xfrm>
            <a:off x="3346704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dirty="0"/>
              <a:t>肖泓宇</a:t>
            </a:r>
            <a:endParaRPr lang="zh-CN" altLang="en-US" sz="1040" dirty="0"/>
          </a:p>
        </p:txBody>
      </p:sp>
      <p:sp>
        <p:nvSpPr>
          <p:cNvPr id="22" name="Text 20"/>
          <p:cNvSpPr/>
          <p:nvPr>
            <p:custDataLst>
              <p:tags r:id="rId14"/>
            </p:custDataLst>
          </p:nvPr>
        </p:nvSpPr>
        <p:spPr>
          <a:xfrm>
            <a:off x="3364992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章程、可行性、外部调研</a:t>
            </a:r>
            <a:endParaRPr lang="en-US" sz="860" dirty="0"/>
          </a:p>
        </p:txBody>
      </p:sp>
      <p:sp>
        <p:nvSpPr>
          <p:cNvPr id="23" name="Shape 21"/>
          <p:cNvSpPr/>
          <p:nvPr>
            <p:custDataLst>
              <p:tags r:id="rId15"/>
            </p:custDataLst>
          </p:nvPr>
        </p:nvSpPr>
        <p:spPr>
          <a:xfrm>
            <a:off x="5522976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6"/>
            </p:custDataLst>
          </p:nvPr>
        </p:nvSpPr>
        <p:spPr>
          <a:xfrm>
            <a:off x="5522976" y="2414016"/>
            <a:ext cx="1243584" cy="12801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7"/>
            </p:custDataLst>
          </p:nvPr>
        </p:nvSpPr>
        <p:spPr>
          <a:xfrm>
            <a:off x="5596128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dirty="0"/>
              <a:t>蒋长麟</a:t>
            </a:r>
            <a:endParaRPr lang="zh-CN" altLang="en-US" sz="1040" dirty="0"/>
          </a:p>
        </p:txBody>
      </p:sp>
      <p:sp>
        <p:nvSpPr>
          <p:cNvPr id="26" name="Text 24"/>
          <p:cNvSpPr/>
          <p:nvPr>
            <p:custDataLst>
              <p:tags r:id="rId18"/>
            </p:custDataLst>
          </p:nvPr>
        </p:nvSpPr>
        <p:spPr>
          <a:xfrm>
            <a:off x="5614416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流程分析、WBS/OBS、甘特图</a:t>
            </a:r>
            <a:endParaRPr lang="en-US" sz="860" dirty="0"/>
          </a:p>
        </p:txBody>
      </p:sp>
      <p:sp>
        <p:nvSpPr>
          <p:cNvPr id="27" name="Shape 25"/>
          <p:cNvSpPr/>
          <p:nvPr>
            <p:custDataLst>
              <p:tags r:id="rId19"/>
            </p:custDataLst>
          </p:nvPr>
        </p:nvSpPr>
        <p:spPr>
          <a:xfrm>
            <a:off x="7772400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8" name="Shape 26"/>
          <p:cNvSpPr/>
          <p:nvPr>
            <p:custDataLst>
              <p:tags r:id="rId20"/>
            </p:custDataLst>
          </p:nvPr>
        </p:nvSpPr>
        <p:spPr>
          <a:xfrm>
            <a:off x="7772400" y="2414016"/>
            <a:ext cx="1243584" cy="1280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1"/>
            </p:custDataLst>
          </p:nvPr>
        </p:nvSpPr>
        <p:spPr>
          <a:xfrm>
            <a:off x="7845552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陈许恺</a:t>
            </a:r>
            <a:endParaRPr lang="zh-CN" altLang="en-US" sz="1040" b="1" dirty="0">
              <a:solidFill>
                <a:srgbClr val="1E2A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0" name="Text 28"/>
          <p:cNvSpPr/>
          <p:nvPr>
            <p:custDataLst>
              <p:tags r:id="rId22"/>
            </p:custDataLst>
          </p:nvPr>
        </p:nvSpPr>
        <p:spPr>
          <a:xfrm>
            <a:off x="7863840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需求获取、干系人、会议纪要</a:t>
            </a:r>
            <a:endParaRPr lang="en-US" sz="860" dirty="0"/>
          </a:p>
        </p:txBody>
      </p:sp>
      <p:sp>
        <p:nvSpPr>
          <p:cNvPr id="31" name="Shape 29"/>
          <p:cNvSpPr/>
          <p:nvPr>
            <p:custDataLst>
              <p:tags r:id="rId23"/>
            </p:custDataLst>
          </p:nvPr>
        </p:nvSpPr>
        <p:spPr>
          <a:xfrm>
            <a:off x="10021824" y="2414016"/>
            <a:ext cx="1243584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2" name="Shape 30"/>
          <p:cNvSpPr/>
          <p:nvPr>
            <p:custDataLst>
              <p:tags r:id="rId24"/>
            </p:custDataLst>
          </p:nvPr>
        </p:nvSpPr>
        <p:spPr>
          <a:xfrm>
            <a:off x="10021824" y="2414016"/>
            <a:ext cx="1243584" cy="128016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33" name="Text 31"/>
          <p:cNvSpPr/>
          <p:nvPr>
            <p:custDataLst>
              <p:tags r:id="rId25"/>
            </p:custDataLst>
          </p:nvPr>
        </p:nvSpPr>
        <p:spPr>
          <a:xfrm>
            <a:off x="10094976" y="26151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40" dirty="0"/>
              <a:t>王涛</a:t>
            </a:r>
            <a:endParaRPr lang="zh-CN" altLang="en-US" sz="1040" dirty="0"/>
          </a:p>
        </p:txBody>
      </p:sp>
      <p:sp>
        <p:nvSpPr>
          <p:cNvPr id="34" name="Text 32"/>
          <p:cNvSpPr/>
          <p:nvPr>
            <p:custDataLst>
              <p:tags r:id="rId26"/>
            </p:custDataLst>
          </p:nvPr>
        </p:nvSpPr>
        <p:spPr>
          <a:xfrm>
            <a:off x="10113264" y="2907792"/>
            <a:ext cx="10607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风险、预算、配置管理、PPT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822960" y="4069080"/>
            <a:ext cx="10789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87552" y="4178808"/>
            <a:ext cx="10460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组织原则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87552" y="4434840"/>
            <a:ext cx="10460736" cy="105156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组长负责计划与基线控制；各成员对自己模块“内容正确 + 格式统一 + 按时提交”负责；交付前必须经过统稿与检查。</a:t>
            </a:r>
            <a:endParaRPr lang="en-US" sz="1110" dirty="0"/>
          </a:p>
        </p:txBody>
      </p:sp>
      <p:sp>
        <p:nvSpPr>
          <p:cNvPr id="38" name="Text 3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五人分工与责任矩阵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对应评审项：是否明确每个成员分工、是否指定负责人。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分工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658368" y="1188720"/>
          <a:ext cx="7818120" cy="4480560"/>
        </p:xfrm>
        <a:graphic>
          <a:graphicData uri="http://schemas.openxmlformats.org/drawingml/2006/table">
            <a:tbl>
              <a:tblPr/>
              <a:tblGrid>
                <a:gridCol w="1508760"/>
                <a:gridCol w="914400"/>
                <a:gridCol w="749808"/>
                <a:gridCol w="749808"/>
                <a:gridCol w="749808"/>
                <a:gridCol w="749808"/>
                <a:gridCol w="100584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工作包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成员1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组长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成员2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成员3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成员4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成员5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最终负责人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选题/章程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成员2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外部调研/对标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成员2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需求获取/干系人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成员4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流程分析/WBS/OBS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成员3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甘特图/里程碑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成员3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风险/预算/配置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成员5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PPT统稿与答辩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成员1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32520" y="1188720"/>
            <a:ext cx="2788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897112" y="1298448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897112" y="1554480"/>
            <a:ext cx="2459736" cy="155448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= Accountable 直接负责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= Responsible 具体执行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= Consulted 协同参与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 = Informed 被同步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32520" y="3493008"/>
            <a:ext cx="2788920" cy="217627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97112" y="3602736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落实要求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897112" y="3858768"/>
            <a:ext cx="2459736" cy="1719072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每个工作包至少有1名最终负责人；所有阶段成果都能追溯到具体成员；组长负责检查接口项与提交质量。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项目进度总表与甘特图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对应评审项：是否使用 Project 工具思维表达 Gantt 图，是否能看清任务、时间与依赖。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143000"/>
            <a:ext cx="109728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89888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0280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8536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88536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2664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12664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36792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5048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85048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9176" y="1280160"/>
            <a:ext cx="1024128" cy="347472"/>
          </a:xfrm>
          <a:prstGeom prst="rect">
            <a:avLst/>
          </a:prstGeom>
          <a:solidFill>
            <a:srgbClr val="EAF3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09176" y="1371600"/>
            <a:ext cx="102412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09176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33304" y="1627632"/>
            <a:ext cx="0" cy="4425696"/>
          </a:xfrm>
          <a:prstGeom prst="line">
            <a:avLst/>
          </a:prstGeom>
          <a:noFill/>
          <a:ln w="12700">
            <a:solidFill>
              <a:srgbClr val="EEF3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1874520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启动准备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822960" y="2167128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95144" y="1828800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2F80ED"/>
          </a:solidFill>
          <a:ln w="7620">
            <a:solidFill>
              <a:srgbClr val="2F80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2386584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 外部调研/竞品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822960" y="2679192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95144" y="2340864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762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2898648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P3 需求获取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822960" y="3191256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19272" y="2852928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F2994A"/>
          </a:solidFill>
          <a:ln w="7620">
            <a:solidFill>
              <a:srgbClr val="F299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3410712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P4 分析与建模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822960" y="3703320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400" y="3364992"/>
            <a:ext cx="2962656" cy="237744"/>
          </a:xfrm>
          <a:prstGeom prst="roundRect">
            <a:avLst>
              <a:gd name="adj" fmla="val 23077"/>
            </a:avLst>
          </a:prstGeom>
          <a:solidFill>
            <a:srgbClr val="7B61FF"/>
          </a:solidFill>
          <a:ln w="762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3922776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P5 文档编制</a:t>
            </a:r>
            <a:endParaRPr lang="en-US" sz="1010" dirty="0"/>
          </a:p>
        </p:txBody>
      </p:sp>
      <p:sp>
        <p:nvSpPr>
          <p:cNvPr id="46" name="Shape 44"/>
          <p:cNvSpPr/>
          <p:nvPr/>
        </p:nvSpPr>
        <p:spPr>
          <a:xfrm>
            <a:off x="822960" y="4215384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67528" y="3877056"/>
            <a:ext cx="3986784" cy="237744"/>
          </a:xfrm>
          <a:prstGeom prst="roundRect">
            <a:avLst>
              <a:gd name="adj" fmla="val 23077"/>
            </a:avLst>
          </a:prstGeom>
          <a:solidFill>
            <a:srgbClr val="2D9CDB"/>
          </a:solidFill>
          <a:ln w="7620">
            <a:solidFill>
              <a:srgbClr val="2D9C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4434840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P6 风险/预算/配置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822960" y="4727448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91656" y="4389120"/>
            <a:ext cx="2962656" cy="237744"/>
          </a:xfrm>
          <a:prstGeom prst="roundRect">
            <a:avLst>
              <a:gd name="adj" fmla="val 23077"/>
            </a:avLst>
          </a:prstGeom>
          <a:solidFill>
            <a:srgbClr val="EB5757"/>
          </a:solidFill>
          <a:ln w="7620">
            <a:solidFill>
              <a:srgbClr val="EB57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4946904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P7 PPT统稿与彩排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822960" y="5239512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39912" y="4901184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F2C94C"/>
          </a:solidFill>
          <a:ln w="7620">
            <a:solidFill>
              <a:srgbClr val="F2C9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" y="5458968"/>
            <a:ext cx="11887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P8 评审整改与归档</a:t>
            </a:r>
            <a:endParaRPr lang="en-US" sz="1010" dirty="0"/>
          </a:p>
        </p:txBody>
      </p:sp>
      <p:sp>
        <p:nvSpPr>
          <p:cNvPr id="55" name="Shape 53"/>
          <p:cNvSpPr/>
          <p:nvPr/>
        </p:nvSpPr>
        <p:spPr>
          <a:xfrm>
            <a:off x="822960" y="5751576"/>
            <a:ext cx="10058400" cy="0"/>
          </a:xfrm>
          <a:prstGeom prst="line">
            <a:avLst/>
          </a:prstGeom>
          <a:noFill/>
          <a:ln w="12700">
            <a:solidFill>
              <a:srgbClr val="F0F4F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64040" y="541324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6FCF97"/>
          </a:solidFill>
          <a:ln w="7620">
            <a:solidFill>
              <a:srgbClr val="6FCF9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5971032"/>
            <a:ext cx="93268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注：课程阶段按周次编排，重点保证前4周完成计划基线，后4周完成文档与答辩材料。</a:t>
            </a:r>
            <a:endParaRPr lang="en-US" sz="1020" dirty="0"/>
          </a:p>
        </p:txBody>
      </p:sp>
      <p:sp>
        <p:nvSpPr>
          <p:cNvPr id="58" name="Text 5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里程碑与网络图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对应评审项：是否在甘特图之外，清晰标注了关键里程碑与任务依赖关系。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里程碑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59152" y="2029968"/>
            <a:ext cx="411480" cy="201168"/>
          </a:xfrm>
          <a:prstGeom prst="chevron">
            <a:avLst/>
          </a:prstGeom>
          <a:solidFill>
            <a:srgbClr val="C9DBF7"/>
          </a:solidFill>
          <a:ln w="12700">
            <a:solidFill>
              <a:srgbClr val="C9D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16552" y="2029968"/>
            <a:ext cx="411480" cy="201168"/>
          </a:xfrm>
          <a:prstGeom prst="chevron">
            <a:avLst/>
          </a:prstGeom>
          <a:solidFill>
            <a:srgbClr val="C9DBF7"/>
          </a:solidFill>
          <a:ln w="12700">
            <a:solidFill>
              <a:srgbClr val="C9DB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73952" y="2029968"/>
            <a:ext cx="411480" cy="201168"/>
          </a:xfrm>
          <a:prstGeom prst="chevron">
            <a:avLst/>
          </a:prstGeom>
          <a:solidFill>
            <a:srgbClr val="C9DBF7"/>
          </a:solidFill>
          <a:ln w="12700">
            <a:solidFill>
              <a:srgbClr val="C9DB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31352" y="2029968"/>
            <a:ext cx="411480" cy="201168"/>
          </a:xfrm>
          <a:prstGeom prst="chevron">
            <a:avLst/>
          </a:prstGeom>
          <a:solidFill>
            <a:srgbClr val="C9DBF7"/>
          </a:solidFill>
          <a:ln w="12700">
            <a:solidFill>
              <a:srgbClr val="C9DB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选题定稿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1704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章程框架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1546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278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调研完成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32278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需求清单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2120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852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计划书完成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52852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WBS/OBS/Gantt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2694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426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汇报定稿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3426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风险/预算/PPT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9326880" y="1691640"/>
            <a:ext cx="12618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7780">
            <a:solidFill>
              <a:srgbClr val="EB5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1792224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00032" y="2057400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评审整改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9400032" y="2276856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归档提交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22960" y="3246120"/>
            <a:ext cx="10789920" cy="2235835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3493008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依赖逻辑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3767328"/>
            <a:ext cx="10012680" cy="65836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M1 是所有后续任务起点；M2 确认需求后，才能进入流程分析与工作分解；M3 完成后，预算、风险、PPT 才能基于基线填充；M4 结束后统一进入答辩与整改；M5 作为阶段性收尾，沉淀文档与绩效评价。</a:t>
            </a:r>
            <a:endParaRPr lang="en-US" sz="1110" dirty="0"/>
          </a:p>
        </p:txBody>
      </p:sp>
      <p:sp>
        <p:nvSpPr>
          <p:cNvPr id="33" name="Text 31"/>
          <p:cNvSpPr/>
          <p:nvPr/>
        </p:nvSpPr>
        <p:spPr>
          <a:xfrm>
            <a:off x="1051560" y="461772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关键检查点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846320"/>
            <a:ext cx="7498080" cy="438912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每个里程碑都有负责人、输入/输出和评审标准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任一关键节点延期，组长触发进度调整与任务再分配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里程碑通过后，相关文档进入配置基线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项目子计划总览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对应评审项：是否补充风险、人力资源、预算、沟通、配置等配套子计划。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子计划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143000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43000"/>
            <a:ext cx="128016" cy="87782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8930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范围管理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2231136" y="1289304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边界、需求基线、超范围控制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373368" y="1143000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143000"/>
            <a:ext cx="128016" cy="8778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289304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时间管理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854696" y="1289304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周计划、甘特图、延期预警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49808" y="2212848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212848"/>
            <a:ext cx="128016" cy="87782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3591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成本管理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231136" y="2359152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工时估算、预算表、预备金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373368" y="2212848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2212848"/>
            <a:ext cx="128016" cy="87782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35915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资源管理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854696" y="2359152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五人分工、资料与共享空间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49808" y="3282696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282696"/>
            <a:ext cx="128016" cy="877824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42900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沟通管理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2231136" y="3429000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周例会、纪要、答辩彩排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373368" y="3282696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3282696"/>
            <a:ext cx="128016" cy="877824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42900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干系人管理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7854696" y="3429000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教师/用户/管理员/运维协同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749808" y="4352544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352544"/>
            <a:ext cx="128016" cy="87782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49884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配置管理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2231136" y="4498848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版本命名、基线、变更记录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6373368" y="4352544"/>
            <a:ext cx="50749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4352544"/>
            <a:ext cx="128016" cy="8778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498848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质量管理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7854696" y="4498848"/>
            <a:ext cx="3337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模板统一、交叉检查、里程碑评审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749808" y="5623560"/>
            <a:ext cx="10863072" cy="402336"/>
          </a:xfrm>
          <a:prstGeom prst="roundRect">
            <a:avLst>
              <a:gd name="adj" fmla="val 15909"/>
            </a:avLst>
          </a:prstGeom>
          <a:solidFill>
            <a:srgbClr val="EEF5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5733288"/>
            <a:ext cx="104973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子计划不是附属材料，而是对“怎么保证计划执行”的具体控制措施。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风险管理计划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对应评审项：是否识别风险、是否给出针对每个已识别风险的应对措施。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640080" y="1170432"/>
          <a:ext cx="7818120" cy="4754880"/>
        </p:xfrm>
        <a:graphic>
          <a:graphicData uri="http://schemas.openxmlformats.org/drawingml/2006/table">
            <a:tbl>
              <a:tblPr/>
              <a:tblGrid>
                <a:gridCol w="411480"/>
                <a:gridCol w="1417320"/>
                <a:gridCol w="594360"/>
                <a:gridCol w="594360"/>
                <a:gridCol w="1691640"/>
                <a:gridCol w="310896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ID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概率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影响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触发信号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应对措施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R1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需求理解偏差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中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同一术语出现多种解释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建立术语表，评审会上统一口径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R2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成员时间冲突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中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任务延期或会议缺席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采用周例会 + 任务再分配机制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R3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文档风格不一致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中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中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同一文档格式混乱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统一模板，提交前设统稿会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R4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范围蔓延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中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新增功能持续增加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以范围基线为准，超范围进入变更表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R5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答辩时间失控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中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单页信息过多、讲解超时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彩排计时，删减冗余页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R6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版本覆盖/文件丢失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低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高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总稿被误覆盖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分区存储、版本号、归档区只读</a:t>
                      </a:r>
                      <a:endParaRPr lang="en-US" sz="9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32520" y="1170432"/>
            <a:ext cx="27889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897112" y="1280160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风险热度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89720" y="2761488"/>
            <a:ext cx="182880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89720" y="1481328"/>
            <a:ext cx="0" cy="128016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02368" y="1481328"/>
            <a:ext cx="0" cy="1280160"/>
          </a:xfrm>
          <a:prstGeom prst="line">
            <a:avLst/>
          </a:prstGeom>
          <a:noFill/>
          <a:ln w="12700">
            <a:solidFill>
              <a:srgbClr val="E5EE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415016" y="1481328"/>
            <a:ext cx="0" cy="1280160"/>
          </a:xfrm>
          <a:prstGeom prst="line">
            <a:avLst/>
          </a:prstGeom>
          <a:noFill/>
          <a:ln w="12700">
            <a:solidFill>
              <a:srgbClr val="E5EE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89720" y="2331720"/>
            <a:ext cx="1828800" cy="0"/>
          </a:xfrm>
          <a:prstGeom prst="line">
            <a:avLst/>
          </a:prstGeom>
          <a:noFill/>
          <a:ln w="12700">
            <a:solidFill>
              <a:srgbClr val="E5EE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 rot="16200000">
            <a:off x="8796528" y="1499616"/>
            <a:ext cx="4572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 ↑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78440" y="2798064"/>
            <a:ext cx="5486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 →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351008" y="1682496"/>
            <a:ext cx="164592" cy="164592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33888" y="1673352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R1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10076688" y="2029968"/>
            <a:ext cx="164592" cy="16459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59568" y="2020824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R2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9857232" y="2084832"/>
            <a:ext cx="164592" cy="16459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40112" y="2075688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R3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10296144" y="1865376"/>
            <a:ext cx="164592" cy="164592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479024" y="1856232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R4</a:t>
            </a:r>
            <a:endParaRPr lang="en-US" sz="860" dirty="0"/>
          </a:p>
        </p:txBody>
      </p:sp>
      <p:sp>
        <p:nvSpPr>
          <p:cNvPr id="6" name="Shape 21"/>
          <p:cNvSpPr/>
          <p:nvPr/>
        </p:nvSpPr>
        <p:spPr>
          <a:xfrm>
            <a:off x="9564624" y="2231136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47504" y="2221992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R5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9491472" y="1883664"/>
            <a:ext cx="164592" cy="16459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74352" y="1874520"/>
            <a:ext cx="29260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R6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8732520" y="3547872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897112" y="3657600"/>
            <a:ext cx="2459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处置原则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897112" y="3913632"/>
            <a:ext cx="2459736" cy="1463040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高影响风险必须设置负责人和预案；中风险纳入周例会追踪；低风险采用观察清单管理。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预算与资源估算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估算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88720"/>
            <a:ext cx="34198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预算假设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3246120" cy="9601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课程阶段以人力工时为主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估算口径：220 工时 × 25 元/小时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工具/打印/答辩材料为少量辅助成本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设置 300 元预备金应对临时打印与修改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人力工时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1920240" y="2834640"/>
            <a:ext cx="1784555" cy="164592"/>
          </a:xfrm>
          <a:prstGeom prst="roundRect">
            <a:avLst>
              <a:gd name="adj" fmla="val 22222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847721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¥5500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工具/素材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1920240" y="3246120"/>
            <a:ext cx="81116" cy="164592"/>
          </a:xfrm>
          <a:prstGeom prst="roundRect">
            <a:avLst>
              <a:gd name="adj" fmla="val 4509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4590" y="3242310"/>
            <a:ext cx="502920" cy="10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¥250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打印/答辩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920240" y="3657600"/>
            <a:ext cx="48670" cy="164592"/>
          </a:xfrm>
          <a:prstGeom prst="roundRect">
            <a:avLst>
              <a:gd name="adj" fmla="val 75151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4590" y="3648456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¥150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14400" y="40690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预备金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1920240" y="4069080"/>
            <a:ext cx="97339" cy="164592"/>
          </a:xfrm>
          <a:prstGeom prst="roundRect">
            <a:avLst>
              <a:gd name="adj" fmla="val 37576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4590" y="4059936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7B61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¥300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914400" y="510235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6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总预算：¥6,200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4663440" y="1234440"/>
          <a:ext cx="2834640" cy="41148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73152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阶段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工时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启动与调研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28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700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需求获取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56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1400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分析与建模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1500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文档与汇报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52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1300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整改与收尾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24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600</a:t>
                      </a:r>
                      <a:endParaRPr lang="en-US" sz="10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726680" y="1078992"/>
            <a:ext cx="3794760" cy="47091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891272" y="1188720"/>
            <a:ext cx="3465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资源估算补充</a:t>
            </a:r>
            <a:endParaRPr lang="en-US" sz="1350" dirty="0"/>
          </a:p>
        </p:txBody>
      </p:sp>
      <p:sp>
        <p:nvSpPr>
          <p:cNvPr id="22" name="Text 22"/>
          <p:cNvSpPr/>
          <p:nvPr/>
        </p:nvSpPr>
        <p:spPr>
          <a:xfrm>
            <a:off x="7973568" y="1444752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人力资源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973568" y="1700784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5名成员，平均每人约 44 工时；高峰期集中在 W3-W7。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973568" y="23317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文档/工具资源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73568" y="2578608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课程模板、共享云盘、绘图/演示软件、答辩设备。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973568" y="318211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控制原则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973568" y="3429000"/>
            <a:ext cx="3246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以人力成本为主，不虚高；若新增范围，先变更后预算。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973568" y="4041648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合理性说明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973568" y="4288536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符合课程项目“低硬成本、高人力投入”的实际情况，也便于与进度和任务分配联动。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质量保证与阶段评审机制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078992"/>
            <a:ext cx="67208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88720"/>
            <a:ext cx="639165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阶段评审关口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1481328"/>
            <a:ext cx="6172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700784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87652"/>
            <a:ext cx="310896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 1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554480" y="1664208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计划基线评审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1554480" y="1901952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检查章程、范围、WBS/OBS、甘特图是否闭环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914400" y="2606040"/>
            <a:ext cx="6172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825496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912364"/>
            <a:ext cx="310896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 2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554480" y="2788920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文档一致性评审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554480" y="3026664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检查术语、格式、引用、版本号是否统一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914400" y="3730752"/>
            <a:ext cx="6172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950208"/>
            <a:ext cx="310896" cy="310896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037076"/>
            <a:ext cx="310896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 3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554480" y="3913632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答辩材料评审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1554480" y="4151376"/>
            <a:ext cx="5166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71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检查逻辑完整性、时间控制和重点覆盖度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7635240" y="1078992"/>
            <a:ext cx="38862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99832" y="1188720"/>
            <a:ext cx="35570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成员绩效评价口径</a:t>
            </a:r>
            <a:endParaRPr lang="en-US" sz="13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7909560" y="1481328"/>
          <a:ext cx="3337560" cy="1975104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维度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权重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完成度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30%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准时性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25%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文档质量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25%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协作与反馈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4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20%</a:t>
                      </a:r>
                      <a:endParaRPr lang="en-US" sz="104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3"/>
          <p:cNvSpPr/>
          <p:nvPr/>
        </p:nvSpPr>
        <p:spPr>
          <a:xfrm>
            <a:off x="7909560" y="37673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评价方式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909560" y="4041648"/>
            <a:ext cx="3154680" cy="80467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周例会记录到人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关键交付物由组长验收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阶段结束形成5人绩效表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评审反馈作为修订绩效加分依据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里程碑</a:t>
            </a: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阶段评价：五人绩效与本阶段贡献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成员评价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621792" y="1280160"/>
          <a:ext cx="10972800" cy="443484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2743200"/>
                <a:gridCol w="1280160"/>
                <a:gridCol w="292608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成员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本阶段负责内容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主要产出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绩效评分（5分）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吴易骏</a:t>
                      </a:r>
                      <a:endParaRPr lang="zh-CN" alt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统筹计划、统稿、答辩组织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总体计划基线、提交包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4.9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推进及时，统筹作用明显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b="0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肖泓宇</a:t>
                      </a:r>
                      <a:endParaRPr lang="zh-CN" altLang="en-US" sz="980" b="0" dirty="0">
                        <a:solidFill>
                          <a:srgbClr val="1E2A3A"/>
                        </a:solidFill>
                        <a:latin typeface="Noto Sans CJK SC" pitchFamily="34" charset="0"/>
                        <a:ea typeface="Noto Sans CJK SC" pitchFamily="34" charset="-122"/>
                        <a:cs typeface="Noto Sans CJK SC" pitchFamily="34" charset="-12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章程、可行性、外部调研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章程初稿、可行性分析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4.8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调研充分，论证完整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蒋长麟</a:t>
                      </a:r>
                      <a:endParaRPr lang="zh-CN" alt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流程分析、WBS/OBS/Gantt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流程图、WBS/OBS、进度图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4.8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结构清晰，图表到位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陈许恺</a:t>
                      </a:r>
                      <a:endParaRPr lang="zh-CN" alt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需求获取、干系人、纪要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访谈提纲、会议纪要、清单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4.8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记录规范，支撑充分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98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王涛</a:t>
                      </a:r>
                      <a:endParaRPr lang="zh-CN" alt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风险、预算、配置、PPT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风险表、预算表、PPT整合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4.8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 dirty="0">
                          <a:solidFill>
                            <a:srgbClr val="1E2A3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表达完整，美化效果好</a:t>
                      </a:r>
                      <a:endParaRPr lang="en-US" sz="98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7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B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参考资料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9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包含对标网站、官方文档与课程材料；本页对应目录中的“引用文件”。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287000" y="182880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EAF2FF"/>
          </a:solidFill>
          <a:ln w="10160">
            <a:solidFill>
              <a:srgbClr val="CD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233172"/>
            <a:ext cx="13533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80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引用文件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900176"/>
            <a:ext cx="10972800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9E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Open OnDemand, Introducing Open OnDemand（官方介绍 PDF）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TAMU HPRC OnDemand Portal（门户服务说明）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TACC Analysis Portal (TAP)（交互式作业门户）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TACC Frontera Documentation（Allocation / MFA / User Portal）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NCAR HPC Documentation（Allocation / Usage Reports / SAM）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上海超级计算中心 Xfinity（基于 Web 的高性能计算服务平台）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4630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 国家超级计算郑州中心 用户申请说明（试用、审批、开通）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 超算互联网帮助中心（7×24 支持、文档中心、费用管理）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8346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9. 北京超级云计算中心服务平台正式上线（门户功能介绍）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 中国科学技术大学超级计算中心 运行监控页面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42062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11. 课程大作业评审检查表（用户提供）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489204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12. 用户提供的两份示例 PPT（G06 基础稿、G09 结构参考）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bsc.jpg"/>
          <p:cNvPicPr>
            <a:picLocks noChangeAspect="1"/>
          </p:cNvPicPr>
          <p:nvPr/>
        </p:nvPicPr>
        <p:blipFill>
          <a:blip r:embed="rId1"/>
          <a:srcRect l="10495" r="1049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4">
              <a:alpha val="80000"/>
            </a:srgbClr>
          </a:solidFill>
          <a:ln w="12700">
            <a:solidFill>
              <a:srgbClr val="071B3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68680" y="11430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谢谢聆听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96112" y="178308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9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欢迎老师与同学批评指正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41248" y="2834640"/>
            <a:ext cx="4800600" cy="2377440"/>
          </a:xfrm>
          <a:prstGeom prst="roundRect">
            <a:avLst>
              <a:gd name="adj" fmla="val 3846"/>
            </a:avLst>
          </a:prstGeom>
          <a:solidFill>
            <a:srgbClr val="0B2648">
              <a:alpha val="82000"/>
            </a:srgbClr>
          </a:solidFill>
          <a:ln w="12700">
            <a:solidFill>
              <a:srgbClr val="5CB0FF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3246120"/>
            <a:ext cx="42519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第6组（5人）</a:t>
            </a:r>
            <a:endParaRPr lang="en-US" sz="1600" dirty="0"/>
          </a:p>
          <a:p>
            <a:pPr marL="0" indent="0" algn="ctr">
              <a:buNone/>
            </a:pPr>
            <a:r>
              <a:rPr lang="zh-CN" alt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吴易骏</a:t>
            </a: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｜</a:t>
            </a:r>
            <a:r>
              <a:rPr lang="zh-CN" alt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肖泓宇</a:t>
            </a: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｜</a:t>
            </a:r>
            <a:r>
              <a:rPr lang="zh-CN" alt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蒋长麟</a:t>
            </a: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｜</a:t>
            </a:r>
            <a:r>
              <a:rPr lang="zh-CN" alt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陈许恺</a:t>
            </a: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｜</a:t>
            </a:r>
            <a:r>
              <a:rPr lang="zh-CN" alt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王涛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60920" y="19202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3E4FF"/>
            </a:solidFill>
            <a:prstDash val="solid"/>
          </a:ln>
        </p:spPr>
      </p:sp>
      <p:pic>
        <p:nvPicPr>
          <p:cNvPr id="9" name="Image 1" descr="/mnt/data/assets/tap_home.png"/>
          <p:cNvPicPr>
            <a:picLocks noChangeAspect="1"/>
          </p:cNvPicPr>
          <p:nvPr/>
        </p:nvPicPr>
        <p:blipFill>
          <a:blip r:embed="rId2"/>
          <a:srcRect l="4449" r="4449"/>
          <a:stretch>
            <a:fillRect/>
          </a:stretch>
        </p:blipFill>
        <p:spPr>
          <a:xfrm>
            <a:off x="7498080" y="2057400"/>
            <a:ext cx="3246120" cy="1965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43800" y="4754880"/>
            <a:ext cx="3154680" cy="475488"/>
          </a:xfrm>
          <a:prstGeom prst="roundRect">
            <a:avLst>
              <a:gd name="adj" fmla="val 15385"/>
            </a:avLst>
          </a:prstGeom>
          <a:solidFill>
            <a:srgbClr val="0D2A52">
              <a:alpha val="88000"/>
            </a:srgbClr>
          </a:solidFill>
          <a:ln w="10160">
            <a:solidFill>
              <a:srgbClr val="5DB0FF">
                <a:alpha val="6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99248" y="4910328"/>
            <a:ext cx="28346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统一入口 · 清晰计划 · 可追踪交付</a:t>
            </a:r>
            <a:endParaRPr lang="en-US" sz="1020" dirty="0"/>
          </a:p>
        </p:txBody>
      </p:sp>
      <p:sp>
        <p:nvSpPr>
          <p:cNvPr id="13" name="Text 8"/>
          <p:cNvSpPr/>
          <p:nvPr/>
        </p:nvSpPr>
        <p:spPr>
          <a:xfrm>
            <a:off x="11475720" y="6483096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2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3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4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5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6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7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8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9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0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1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2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3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4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5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6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7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8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19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20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21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22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23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24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25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ags/tag26.xml><?xml version="1.0" encoding="utf-8"?>
<p:tagLst xmlns:p="http://schemas.openxmlformats.org/presentationml/2006/main">
  <p:tag name="KSO_WM_DIAGRAM_VIRTUALLY_FRAME" val="{&quot;height&quot;:115.2,&quot;left&quot;:80.64,&quot;top&quot;:164.16,&quot;width&quot;:806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7933</Words>
  <Application>WPS 演示</Application>
  <PresentationFormat>On-screen Show (16:9)</PresentationFormat>
  <Paragraphs>1606</Paragraphs>
  <Slides>28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等线</vt:lpstr>
      <vt:lpstr>微软雅黑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超算中心运营管理门户网站 项目计划书评审汇报</dc:title>
  <dc:creator>OpenAI</dc:creator>
  <dc:subject>超算中心运营管理门户网站 项目计划书评审汇报</dc:subject>
  <cp:lastModifiedBy>plane</cp:lastModifiedBy>
  <cp:revision>6</cp:revision>
  <dcterms:created xsi:type="dcterms:W3CDTF">2026-03-24T10:03:00Z</dcterms:created>
  <dcterms:modified xsi:type="dcterms:W3CDTF">2026-03-25T11:06:47Z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815F3155A259442FA6F9C4CA75D844C6_12</vt:lpwstr>
  </property>
</Properties>
</file>