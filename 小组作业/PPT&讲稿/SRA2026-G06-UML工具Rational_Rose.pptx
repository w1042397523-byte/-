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1" r:id="rId7"/>
    <p:sldId id="281" r:id="rId8"/>
    <p:sldId id="262" r:id="rId9"/>
    <p:sldId id="263" r:id="rId10"/>
    <p:sldId id="264" r:id="rId11"/>
    <p:sldId id="282" r:id="rId12"/>
    <p:sldId id="266" r:id="rId13"/>
    <p:sldId id="267" r:id="rId14"/>
    <p:sldId id="268" r:id="rId15"/>
    <p:sldId id="283" r:id="rId16"/>
    <p:sldId id="269" r:id="rId17"/>
    <p:sldId id="270" r:id="rId18"/>
    <p:sldId id="284" r:id="rId19"/>
    <p:sldId id="271" r:id="rId20"/>
    <p:sldId id="272" r:id="rId21"/>
    <p:sldId id="273" r:id="rId22"/>
    <p:sldId id="285" r:id="rId23"/>
    <p:sldId id="276" r:id="rId24"/>
    <p:sldId id="286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Rational Rose界面截图：https://www.modeliosoft.com/images/stories/services/rose.png
- 项目模块与成员信息参考：用户上传《超算中心运营管理门户网站-项目计划书评审汇报-优化版.pptx》
- 数据中心图片：Barcelona Supercomputing Center photo https://www.eosc.eu/sites/default/files/styles/900x400/public/2023-05/2018_bsc_superordenador_marenostrum_4_barcelona_supercomputing_center_posterior.jpg?itok=4YDqWPzb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目录结构参考用户上传《uml_clean_revised.pptx》的“概念—分类—项目结合—推进计划—收尾信息”思路，并按本次专题扩充。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Rational Rose Enterprise Edition Reviewer’s Guide 2003
- IBM Support - Rational Rose Data Modeler 7.0.x lifecycle
- IBM Support - IBM Rational Rose Professional Data Modeler 7.0.0.4 iFix003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 UML 2.5.1 About-UML
- IBM Rational Rose Enterprise Edition Reviewer’s Guide 2003
- IBM Introduction to Visual Modeling Using Rational Rose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Rational Rose界面示意截图：https://www.modeliosoft.com/images/stories/services/rose.png
- IBM Docs - User interface reference for Rose users
- IBM Rational Rose Enterprise Edition Reviewer’s Guide 2003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Rational Rose Enterprise Edition Reviewer’s Guide 2003
- IBM Introduction to Visual Modeling Using Rational Rose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Introduction to Visual Modeling Using Rational Rose
- 项目流程与范围参考：用户上传《超算中心运营管理门户网站-项目计划书评审汇报-优化版.pptx》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项目目标、角色与模块来自用户上传《超算中心运营管理门户网站-项目计划书评审汇报-优化版.pptx》。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项目业务流程来自用户上传《超算中心运营管理门户网站-项目计划书评审汇报-优化版.pptx》
- Rose工作流与建模方法参考 IBM Introduction to Visual Modeling Using Rational Rose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本页用例图内容基于用户上传《超算中心运营管理门户网站-项目计划书评审汇报-优化版.pptx》中的角色、模块与流程整理。
- 此前 UML 概要分享中也已将该项目作为 UML 示例对象（用户上传《uml_clean_revised.pptx》）。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本页活动流依据用户上传《超算中心运营管理门户网站-项目计划书评审汇报-优化版.pptx》中的核心业务流程设计整理。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项目对象与消息流根据用户上传《超算中心运营管理门户网站-项目计划书评审汇报-优化版.pptx》中的流程、角色和模块推导。
- 顺序图表达价值参考 IBM Introduction to Visual Modeling Using Rational Rose。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本页类图对象来自用户上传《超算中心运营管理门户网站-项目计划书评审汇报-优化版.pptx》中的功能架构、流程和统计服务模块，并结合此前 UML 概要分享中的“角色—流程—对象”思路整理。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项目分层来自用户上传《超算中心运营管理门户网站-项目计划书评审汇报-优化版.pptx》中的功能架构设计。
- TACC Analysis Portal screenshot/documentation used only as portal visual reference: https://docs.tacc.utexas.edu/tutorials/TAP/ and https://docs.tacc.utexas.edu/tutorials/imgs/1TAP.png
- BSC data center image only as HPC environment visual reference: https://www.eosc.eu/sites/default/files/styles/900x400/public/2023-05/2018_bsc_superordenador_marenostrum_4_barcelona_supercomputing_center_posterior.jpg?itok=4YDqWPzb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 UML 2.5.1 About-UML
- IBM Rational Rose Enterprise Edition Reviewer’s Guide 2003
- IBM Support - Rational Rose Data Modeler 7.0.x lifecycle
- IBM Support - IBM Rational Rose Professional Data Modeler 7.0.0.4 iFix003
- IBM Docs / IBM product docs on Rose model migration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组员姓名与既有职责参考用户上传《超算中心运营管理门户网站-项目计划书评审汇报-优化版.pptx》中的 OBS 与成员评价页。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本页汇总本套PPT使用的主要参考文献与素材来源。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结束页使用 TACC Analysis Portal screenshot as decorative project-related portal visual: https://docs.tacc.utexas.edu/tutorials/TAP/ and https://docs.tacc.utexas.edu/tutorials/imgs/1TAP.png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0B1E5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E59"/>
          </a:solidFill>
          <a:ln w="12700">
            <a:solidFill>
              <a:srgbClr val="0B1E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335657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13A"/>
                </a:solidFill>
              </a:rPr>
              <a:t>UML工具：Rational Rose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58368" y="3337433"/>
            <a:ext cx="1783080" cy="292608"/>
          </a:xfrm>
          <a:prstGeom prst="rect">
            <a:avLst/>
          </a:prstGeom>
          <a:solidFill>
            <a:srgbClr val="4F86FF"/>
          </a:solidFill>
          <a:ln>
            <a:solidFill>
              <a:srgbClr val="4F8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翻转课堂 / 专题汇报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566928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E59"/>
                </a:solidFill>
              </a:rPr>
              <a:t>第6组｜吴易骏 肖泓宇 蒋长麟 陈许恺 王涛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749808"/>
            <a:ext cx="51206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96926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13A"/>
                </a:solidFill>
              </a:rPr>
              <a:t>Rational Rose 界面示意</a:t>
            </a:r>
            <a:endParaRPr lang="en-US" sz="1350" dirty="0"/>
          </a:p>
        </p:txBody>
      </p:sp>
      <p:pic>
        <p:nvPicPr>
          <p:cNvPr id="11" name="Image 0" descr="/mnt/data/rose-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1329" y="1298448"/>
            <a:ext cx="3996703" cy="1920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355080" y="3730752"/>
            <a:ext cx="5120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39319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0213A"/>
                </a:solidFill>
              </a:rPr>
              <a:t>项目语境：超算中心门户</a:t>
            </a:r>
            <a:endParaRPr lang="en-US" sz="1350" dirty="0"/>
          </a:p>
        </p:txBody>
      </p:sp>
      <p:pic>
        <p:nvPicPr>
          <p:cNvPr id="14" name="Image 1" descr="/mnt/data/bsc-datacenter.jpg"/>
          <p:cNvPicPr>
            <a:picLocks noChangeAspect="1"/>
          </p:cNvPicPr>
          <p:nvPr/>
        </p:nvPicPr>
        <p:blipFill>
          <a:blip r:embed="rId2"/>
          <a:srcRect l="5338" r="5338"/>
          <a:stretch>
            <a:fillRect/>
          </a:stretch>
        </p:blipFill>
        <p:spPr>
          <a:xfrm>
            <a:off x="6537960" y="4224528"/>
            <a:ext cx="1874520" cy="9326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41080" y="4242816"/>
            <a:ext cx="2606040" cy="8046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将项目计划书中的 5 条主线——用户服务、资源申请、审批流转、作业监控、运营统计——映射到 Rose 模型中。</a:t>
            </a:r>
            <a:endParaRPr lang="en-US" sz="1110" dirty="0"/>
          </a:p>
        </p:txBody>
      </p:sp>
      <p:sp>
        <p:nvSpPr>
          <p:cNvPr id="16" name="Text 12"/>
          <p:cNvSpPr/>
          <p:nvPr/>
        </p:nvSpPr>
        <p:spPr>
          <a:xfrm>
            <a:off x="8641080" y="5102352"/>
            <a:ext cx="2606040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封面引注：[2][8][11]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目录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52144"/>
            <a:ext cx="749808" cy="566928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9344" y="1097280"/>
            <a:ext cx="9180576" cy="676656"/>
          </a:xfrm>
          <a:prstGeom prst="rect">
            <a:avLst/>
          </a:prstGeom>
          <a:solidFill>
            <a:srgbClr val="EEF4FF"/>
          </a:solidFill>
          <a:ln>
            <a:solidFill>
              <a:srgbClr val="2F69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工具定位：Rational Rose 是什么、和 UML 什么关系、为什么还值得讲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822960" y="2084832"/>
            <a:ext cx="749808" cy="566928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9344" y="2029968"/>
            <a:ext cx="9180576" cy="676656"/>
          </a:xfrm>
          <a:prstGeom prst="rect">
            <a:avLst/>
          </a:prstGeom>
          <a:solidFill>
            <a:srgbClr val="F4EEFF"/>
          </a:solidFill>
          <a:ln>
            <a:solidFill>
              <a:srgbClr val="7C4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工具能力：界面、核心功能、建模工作流与课程价值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822960" y="3017520"/>
            <a:ext cx="749808" cy="5669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9344" y="2962656"/>
            <a:ext cx="9180576" cy="676656"/>
          </a:xfrm>
          <a:prstGeom prst="rect">
            <a:avLst/>
          </a:prstGeom>
          <a:solidFill>
            <a:srgbClr val="FFF5E6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项目结合：把超算门户映射到用例图、活动图、顺序图、类图、部署图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822960" y="3950208"/>
            <a:ext cx="749808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9344" y="3895344"/>
            <a:ext cx="9180576" cy="676656"/>
          </a:xfrm>
          <a:prstGeom prst="rect">
            <a:avLst/>
          </a:prstGeom>
          <a:solidFill>
            <a:srgbClr val="EAFBF5"/>
          </a:solidFill>
          <a:ln>
            <a:solidFill>
              <a:srgbClr val="10B98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评价准备：优缺点、分工、演示安排与答疑准备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822960" y="4882896"/>
            <a:ext cx="749808" cy="566928"/>
          </a:xfrm>
          <a:prstGeom prst="rect">
            <a:avLst/>
          </a:prstGeom>
          <a:solidFill>
            <a:srgbClr val="4F86FF"/>
          </a:solidFill>
          <a:ln>
            <a:solidFill>
              <a:srgbClr val="4F8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09344" y="4828032"/>
            <a:ext cx="9180576" cy="676656"/>
          </a:xfrm>
          <a:prstGeom prst="rect">
            <a:avLst/>
          </a:prstGeom>
          <a:solidFill>
            <a:srgbClr val="EEF4FF"/>
          </a:solidFill>
          <a:ln>
            <a:solidFill>
              <a:srgbClr val="4F8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收尾信息：参考文献与致谢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Rational Rose 是什么？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70432"/>
            <a:ext cx="5486400" cy="2267712"/>
          </a:xfrm>
          <a:prstGeom prst="rect">
            <a:avLst/>
          </a:prstGeom>
          <a:solidFill>
            <a:srgbClr val="EEF4FF"/>
          </a:solidFill>
          <a:ln w="12700">
            <a:solidFill>
              <a:srgbClr val="2F6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280160"/>
            <a:ext cx="713232" cy="237744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定义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2376" y="1600200"/>
            <a:ext cx="52303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一个经典的 UML 可视化建模工具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" y="1883664"/>
            <a:ext cx="5230368" cy="1444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IBM 的资料把 Rational Rose 描述为 visual modeling tool。2003 版 Reviewer’s Guide 写到：Rose 支持 8 种 UML 1.3 图，并面向业务、应用、数据和 Web 建模。[2]</a:t>
            </a:r>
            <a:endParaRPr lang="en-US" sz="1110" dirty="0"/>
          </a:p>
          <a:p>
            <a:pPr marL="0" indent="0" algn="l">
              <a:buNone/>
            </a:pPr>
            <a:endParaRPr lang="en-US" sz="1110" dirty="0"/>
          </a:p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对课堂来说，它的意义不在“是否最新”，而在于它把 UML 建模、文档和代码关联思路讲得很清楚。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355080" y="1170432"/>
            <a:ext cx="52120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38988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A"/>
                </a:solidFill>
              </a:rPr>
              <a:t>从资料可读出的时间线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1783080"/>
            <a:ext cx="713232" cy="237744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79792" y="1773936"/>
            <a:ext cx="379476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0213A"/>
                </a:solidFill>
              </a:rPr>
              <a:t>Reviewer’s Guide 介绍 Enterprise Edition，强调 8 种 UML 图与 round-trip engineering。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629400" y="2313432"/>
            <a:ext cx="713232" cy="237744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9792" y="2304288"/>
            <a:ext cx="379476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0213A"/>
                </a:solidFill>
              </a:rPr>
              <a:t>IBM 支持页显示 Data Modeler 7.0.x 的 GA 时间为 2006-06-06。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629400" y="2843784"/>
            <a:ext cx="713232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2018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79792" y="2834640"/>
            <a:ext cx="379476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0213A"/>
                </a:solidFill>
              </a:rPr>
              <a:t>IBM 仍保留 7.0.0.4 iFix 页面，说明它已进入典型 legacy 工具状态。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4360" y="3822192"/>
            <a:ext cx="10972800" cy="1426464"/>
          </a:xfrm>
          <a:prstGeom prst="rect">
            <a:avLst/>
          </a:prstGeom>
          <a:solidFill>
            <a:srgbClr val="FFF5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931920"/>
            <a:ext cx="713232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结论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2376" y="4251960"/>
            <a:ext cx="107167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本页结论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4535424"/>
            <a:ext cx="10716768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Rational Rose 是“经典但偏旧”的 UML 建模工具：适合拿来理解 UML 建模思维、需求到设计的映射关系，以及模型与代码之间如何形成闭环；不应把它误认为当前最先进的团队协作平台。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引注：[2][5][6]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Rational Rose 与 UML 的关系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88720"/>
            <a:ext cx="2880360" cy="310896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标准层面：UML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87952" y="1188720"/>
            <a:ext cx="2926080" cy="310896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工具层面：Rose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1188720"/>
            <a:ext cx="3822192" cy="3108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对本次汇报的启示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1755648"/>
            <a:ext cx="731520" cy="713232"/>
          </a:xfrm>
          <a:prstGeom prst="rect">
            <a:avLst/>
          </a:prstGeom>
          <a:solidFill>
            <a:srgbClr val="0B1E59"/>
          </a:solidFill>
          <a:ln>
            <a:solidFill>
              <a:srgbClr val="0B1E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本质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00784" y="1755648"/>
            <a:ext cx="2313432" cy="713232"/>
          </a:xfrm>
          <a:prstGeom prst="rect">
            <a:avLst/>
          </a:prstGeom>
          <a:solidFill>
            <a:srgbClr val="F7FAFF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OMG 将 UML 定义为 visualizing、specifying、constructing、documenting 的图形化语言。[1]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4187952" y="1755648"/>
            <a:ext cx="2926080" cy="713232"/>
          </a:xfrm>
          <a:prstGeom prst="rect">
            <a:avLst/>
          </a:prstGeom>
          <a:solidFill>
            <a:srgbClr val="FAF7FF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IBM 把 Rose 描述为 visual modeling tool，用来创建和维护模型。[2][3]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7498080" y="1755648"/>
            <a:ext cx="3822192" cy="713232"/>
          </a:xfrm>
          <a:prstGeom prst="rect">
            <a:avLst/>
          </a:prstGeom>
          <a:solidFill>
            <a:srgbClr val="F7FFF9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介绍 Rose 时，不能把“工具按钮”当主题，核心仍然是 UML 建模思想。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868680" y="2962656"/>
            <a:ext cx="731520" cy="713232"/>
          </a:xfrm>
          <a:prstGeom prst="rect">
            <a:avLst/>
          </a:prstGeom>
          <a:solidFill>
            <a:srgbClr val="0B1E59"/>
          </a:solidFill>
          <a:ln>
            <a:solidFill>
              <a:srgbClr val="0B1E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图种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00784" y="2962656"/>
            <a:ext cx="2313432" cy="713232"/>
          </a:xfrm>
          <a:prstGeom prst="rect">
            <a:avLst/>
          </a:prstGeom>
          <a:solidFill>
            <a:srgbClr val="F7FAFF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教学上常参考 UML 2.x 规范。[1]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4187952" y="2962656"/>
            <a:ext cx="2926080" cy="713232"/>
          </a:xfrm>
          <a:prstGeom prst="rect">
            <a:avLst/>
          </a:prstGeom>
          <a:solidFill>
            <a:srgbClr val="FAF7FF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Rose 资料明确写的是 8 种 UML 1.3 图。[2]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498080" y="2962656"/>
            <a:ext cx="3822192" cy="713232"/>
          </a:xfrm>
          <a:prstGeom prst="rect">
            <a:avLst/>
          </a:prstGeom>
          <a:solidFill>
            <a:srgbClr val="F7FFF9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课堂展示优先讲基础图：用例、活动/顺序、类图、部署图。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868680" y="4169664"/>
            <a:ext cx="731520" cy="713232"/>
          </a:xfrm>
          <a:prstGeom prst="rect">
            <a:avLst/>
          </a:prstGeom>
          <a:solidFill>
            <a:srgbClr val="0B1E59"/>
          </a:solidFill>
          <a:ln>
            <a:solidFill>
              <a:srgbClr val="0B1E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价值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00784" y="4169664"/>
            <a:ext cx="2313432" cy="713232"/>
          </a:xfrm>
          <a:prstGeom prst="rect">
            <a:avLst/>
          </a:prstGeom>
          <a:solidFill>
            <a:srgbClr val="F7FAFF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UML 解决“统一表达”的问题。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4187952" y="4169664"/>
            <a:ext cx="2926080" cy="713232"/>
          </a:xfrm>
          <a:prstGeom prst="rect">
            <a:avLst/>
          </a:prstGeom>
          <a:solidFill>
            <a:srgbClr val="FAF7FF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Rose 解决“如何用具体工具落地模型”的问题。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7498080" y="4169664"/>
            <a:ext cx="3822192" cy="713232"/>
          </a:xfrm>
          <a:prstGeom prst="rect">
            <a:avLst/>
          </a:prstGeom>
          <a:solidFill>
            <a:srgbClr val="F7FFF9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A"/>
                </a:solidFill>
              </a:rPr>
              <a:t>二者结合，才有“概念讲得准 + 案例讲得实”的效果。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786384" y="5742432"/>
            <a:ext cx="10607040" cy="347472"/>
          </a:xfrm>
          <a:prstGeom prst="rect">
            <a:avLst/>
          </a:prstGeom>
          <a:solidFill>
            <a:srgbClr val="EEF4FF"/>
          </a:solidFill>
          <a:ln>
            <a:solidFill>
              <a:srgbClr val="2F69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F69FF"/>
                </a:solidFill>
              </a:rPr>
              <a:t>一句话：UML 负责“说什么”，Rose 负责“怎么把它画成可交流、可复用的模型”。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引注：[1][2][3]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601968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G06 · Rational Rose 专题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6601968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互动Q1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14560" y="146304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959FF"/>
                </a:solidFill>
                <a:latin typeface="微软雅黑" panose="020B0503020204020204" charset="-122"/>
              </a:rPr>
              <a:t>软件需求分析原理与实践｜第6组</a:t>
            </a:r>
            <a:endParaRPr sz="700" b="0">
              <a:solidFill>
                <a:srgbClr val="1959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02B41"/>
                </a:solidFill>
                <a:latin typeface="微软雅黑" panose="020B0503020204020204" charset="-122"/>
              </a:rPr>
              <a:t>课堂互动问题 1</a:t>
            </a:r>
            <a:endParaRPr sz="22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" y="868680"/>
            <a:ext cx="1143000" cy="310896"/>
          </a:xfrm>
          <a:prstGeom prst="round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互动提问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881360" cy="868680"/>
          </a:xfrm>
          <a:prstGeom prst="roundRect">
            <a:avLst/>
          </a:prstGeom>
          <a:solidFill>
            <a:srgbClr val="EBF1FF"/>
          </a:solidFill>
          <a:ln w="1524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202B41"/>
                </a:solidFill>
                <a:latin typeface="微软雅黑" panose="020B0503020204020204" charset="-122"/>
              </a:rPr>
              <a:t>下面哪句话更准确地说明了 UML 和 Rational Rose 的关系？</a:t>
            </a:r>
            <a:endParaRPr sz="18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810" y="2624455"/>
            <a:ext cx="481965" cy="438785"/>
          </a:xfrm>
          <a:prstGeom prst="roundRect">
            <a:avLst/>
          </a:prstGeom>
          <a:solidFill>
            <a:srgbClr val="7B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10241280" cy="658368"/>
          </a:xfrm>
          <a:prstGeom prst="roundRect">
            <a:avLst/>
          </a:prstGeom>
          <a:solidFill>
            <a:srgbClr val="F4ECFF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UML 是建模工具，Rational Rose 是标准语言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4810" y="3584575"/>
            <a:ext cx="469265" cy="4387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10241280" cy="658368"/>
          </a:xfrm>
          <a:prstGeom prst="roundRect">
            <a:avLst/>
          </a:prstGeom>
          <a:solidFill>
            <a:srgbClr val="FFF4E6"/>
          </a:solidFill>
          <a:ln w="1778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UML 是标准建模语言，Rational Rose 是把模型画出来的工具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810" y="4544695"/>
            <a:ext cx="481965" cy="438785"/>
          </a:xfrm>
          <a:prstGeom prst="roundRect">
            <a:avLst/>
          </a:prstGeom>
          <a:solidFill>
            <a:srgbClr val="24B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C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8680" y="4434840"/>
            <a:ext cx="10241280" cy="658368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两者本质上没有区别，只是叫法不同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3232" y="5623560"/>
            <a:ext cx="10789920" cy="475488"/>
          </a:xfrm>
          <a:prstGeom prst="roundRect">
            <a:avLst/>
          </a:prstGeom>
          <a:solidFill>
            <a:srgbClr val="F6F8FC"/>
          </a:solidFill>
          <a:ln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6E7887"/>
                </a:solidFill>
                <a:latin typeface="微软雅黑" panose="020B0503020204020204" charset="-122"/>
              </a:rPr>
              <a:t>请同学们快速选择 A / B / C，我们再一起解释原因。</a:t>
            </a:r>
            <a:endParaRPr sz="11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Rational Rose 的界面与工作区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70432"/>
            <a:ext cx="69951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5331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13A"/>
                </a:solidFill>
              </a:rPr>
              <a:t>界面截图（示意）</a:t>
            </a:r>
            <a:endParaRPr lang="en-US" sz="1400" dirty="0"/>
          </a:p>
        </p:txBody>
      </p:sp>
      <p:pic>
        <p:nvPicPr>
          <p:cNvPr id="10" name="Image 0" descr="/mnt/data/rose-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082"/>
            <a:ext cx="6492240" cy="3119236"/>
          </a:xfrm>
          <a:prstGeom prst="rect">
            <a:avLst/>
          </a:prstGeom>
        </p:spPr>
      </p:pic>
      <p:sp>
        <p:nvSpPr>
          <p:cNvPr id="11" name="Shape 8"/>
          <p:cNvSpPr/>
          <p:nvPr>
            <p:custDataLst>
              <p:tags r:id="rId2"/>
            </p:custDataLst>
          </p:nvPr>
        </p:nvSpPr>
        <p:spPr>
          <a:xfrm>
            <a:off x="7882128" y="1170432"/>
            <a:ext cx="3657600" cy="932688"/>
          </a:xfrm>
          <a:prstGeom prst="rect">
            <a:avLst/>
          </a:prstGeom>
          <a:solidFill>
            <a:srgbClr val="EEF4FF"/>
          </a:solidFill>
          <a:ln w="12700">
            <a:solidFill>
              <a:srgbClr val="2F69FF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3"/>
            </p:custDataLst>
          </p:nvPr>
        </p:nvSpPr>
        <p:spPr>
          <a:xfrm>
            <a:off x="8010144" y="1280160"/>
            <a:ext cx="713232" cy="237744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3" name="Text 10"/>
          <p:cNvSpPr/>
          <p:nvPr>
            <p:custDataLst>
              <p:tags r:id="rId4"/>
            </p:custDataLst>
          </p:nvPr>
        </p:nvSpPr>
        <p:spPr>
          <a:xfrm>
            <a:off x="8010144" y="1600200"/>
            <a:ext cx="34015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Browser / Model Tree</a:t>
            </a:r>
            <a:endParaRPr lang="en-US" sz="1500" dirty="0"/>
          </a:p>
        </p:txBody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8010144" y="1883664"/>
            <a:ext cx="340156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左侧树状区组织包、类、用例、组件等元素，适合按系统分层建模。</a:t>
            </a:r>
            <a:endParaRPr lang="en-US" sz="1110" dirty="0"/>
          </a:p>
        </p:txBody>
      </p:sp>
      <p:sp>
        <p:nvSpPr>
          <p:cNvPr id="15" name="Shape 12"/>
          <p:cNvSpPr/>
          <p:nvPr>
            <p:custDataLst>
              <p:tags r:id="rId6"/>
            </p:custDataLst>
          </p:nvPr>
        </p:nvSpPr>
        <p:spPr>
          <a:xfrm>
            <a:off x="7882128" y="2212848"/>
            <a:ext cx="3657600" cy="932688"/>
          </a:xfrm>
          <a:prstGeom prst="rect">
            <a:avLst/>
          </a:prstGeom>
          <a:solidFill>
            <a:srgbClr val="F4EE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8010144" y="2322576"/>
            <a:ext cx="713232" cy="237744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8010144" y="2642616"/>
            <a:ext cx="34015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Diagram Workspace</a:t>
            </a:r>
            <a:endParaRPr lang="en-US" sz="1500" dirty="0"/>
          </a:p>
        </p:txBody>
      </p:sp>
      <p:sp>
        <p:nvSpPr>
          <p:cNvPr id="18" name="Text 15"/>
          <p:cNvSpPr/>
          <p:nvPr>
            <p:custDataLst>
              <p:tags r:id="rId9"/>
            </p:custDataLst>
          </p:nvPr>
        </p:nvSpPr>
        <p:spPr>
          <a:xfrm>
            <a:off x="8010144" y="2926080"/>
            <a:ext cx="340156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中间画布区负责拖拽图元、连线、标注关系，是汇报时最直观的区域。</a:t>
            </a:r>
            <a:endParaRPr lang="en-US" sz="1110" dirty="0"/>
          </a:p>
        </p:txBody>
      </p:sp>
      <p:sp>
        <p:nvSpPr>
          <p:cNvPr id="19" name="Shape 16"/>
          <p:cNvSpPr/>
          <p:nvPr>
            <p:custDataLst>
              <p:tags r:id="rId10"/>
            </p:custDataLst>
          </p:nvPr>
        </p:nvSpPr>
        <p:spPr>
          <a:xfrm>
            <a:off x="7882128" y="3255264"/>
            <a:ext cx="3657600" cy="932688"/>
          </a:xfrm>
          <a:prstGeom prst="rect">
            <a:avLst/>
          </a:prstGeom>
          <a:solidFill>
            <a:srgbClr val="FFF5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1"/>
            </p:custDataLst>
          </p:nvPr>
        </p:nvSpPr>
        <p:spPr>
          <a:xfrm>
            <a:off x="8010144" y="3364992"/>
            <a:ext cx="713232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1" name="Text 18"/>
          <p:cNvSpPr/>
          <p:nvPr>
            <p:custDataLst>
              <p:tags r:id="rId12"/>
            </p:custDataLst>
          </p:nvPr>
        </p:nvSpPr>
        <p:spPr>
          <a:xfrm>
            <a:off x="8010144" y="3685032"/>
            <a:ext cx="34015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Specification / Properties</a:t>
            </a:r>
            <a:endParaRPr lang="en-US" sz="1500" dirty="0"/>
          </a:p>
        </p:txBody>
      </p:sp>
      <p:sp>
        <p:nvSpPr>
          <p:cNvPr id="22" name="Text 19"/>
          <p:cNvSpPr/>
          <p:nvPr>
            <p:custDataLst>
              <p:tags r:id="rId13"/>
            </p:custDataLst>
          </p:nvPr>
        </p:nvSpPr>
        <p:spPr>
          <a:xfrm>
            <a:off x="8010144" y="3968496"/>
            <a:ext cx="340156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属性窗口用于设置类、关系、名字、说明和细节，保证模型不仅“能看”，也“能追溯”。</a:t>
            </a:r>
            <a:endParaRPr lang="en-US" sz="1110" dirty="0"/>
          </a:p>
        </p:txBody>
      </p:sp>
      <p:sp>
        <p:nvSpPr>
          <p:cNvPr id="23" name="Shape 20"/>
          <p:cNvSpPr/>
          <p:nvPr>
            <p:custDataLst>
              <p:tags r:id="rId14"/>
            </p:custDataLst>
          </p:nvPr>
        </p:nvSpPr>
        <p:spPr>
          <a:xfrm>
            <a:off x="7882128" y="4297680"/>
            <a:ext cx="3657600" cy="932688"/>
          </a:xfrm>
          <a:prstGeom prst="rect">
            <a:avLst/>
          </a:prstGeom>
          <a:solidFill>
            <a:srgbClr val="EAFB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15"/>
            </p:custDataLst>
          </p:nvPr>
        </p:nvSpPr>
        <p:spPr>
          <a:xfrm>
            <a:off x="8010144" y="4407408"/>
            <a:ext cx="713232" cy="237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5" name="Text 22"/>
          <p:cNvSpPr/>
          <p:nvPr>
            <p:custDataLst>
              <p:tags r:id="rId16"/>
            </p:custDataLst>
          </p:nvPr>
        </p:nvSpPr>
        <p:spPr>
          <a:xfrm>
            <a:off x="8010144" y="4727448"/>
            <a:ext cx="34015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为什么它适合课堂</a:t>
            </a:r>
            <a:endParaRPr lang="en-US" sz="1500" dirty="0"/>
          </a:p>
        </p:txBody>
      </p:sp>
      <p:sp>
        <p:nvSpPr>
          <p:cNvPr id="26" name="Text 23"/>
          <p:cNvSpPr/>
          <p:nvPr>
            <p:custDataLst>
              <p:tags r:id="rId17"/>
            </p:custDataLst>
          </p:nvPr>
        </p:nvSpPr>
        <p:spPr>
          <a:xfrm>
            <a:off x="8010144" y="5010912"/>
            <a:ext cx="340156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60000"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因为它把“图 + 属性 + 模型树”放在同一套工作区里，便于讲需求到设计的映射。</a:t>
            </a:r>
            <a:endParaRPr lang="en-US" sz="1110" dirty="0"/>
          </a:p>
        </p:txBody>
      </p:sp>
      <p:sp>
        <p:nvSpPr>
          <p:cNvPr id="27" name="Shape 24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引注：[4][2]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Rational Rose 的核心能力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188720"/>
            <a:ext cx="2743200" cy="1901952"/>
          </a:xfrm>
          <a:prstGeom prst="rect">
            <a:avLst/>
          </a:prstGeom>
          <a:solidFill>
            <a:srgbClr val="EEF4FF"/>
          </a:solidFill>
          <a:ln w="12700">
            <a:solidFill>
              <a:srgbClr val="2F6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298448"/>
            <a:ext cx="713232" cy="237744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1618488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多种 UML 图建模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1901952"/>
            <a:ext cx="2487168" cy="10789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Rose 文档强调它支持 8 种 UML 1.3 图，适合从需求到设计的不同视角表达。[2]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3611880" y="1188720"/>
            <a:ext cx="2743200" cy="1901952"/>
          </a:xfrm>
          <a:prstGeom prst="rect">
            <a:avLst/>
          </a:prstGeom>
          <a:solidFill>
            <a:srgbClr val="F4EE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1298448"/>
            <a:ext cx="713232" cy="237744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39896" y="1618488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用例到对象建模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39896" y="1901952"/>
            <a:ext cx="2487168" cy="10789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IBM 的“Introduction to Visual Modeling”材料提到 use-case analysis、object modeling 与 semantic checking。[3]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601968" y="1188720"/>
            <a:ext cx="2743200" cy="1901952"/>
          </a:xfrm>
          <a:prstGeom prst="rect">
            <a:avLst/>
          </a:prstGeom>
          <a:solidFill>
            <a:srgbClr val="FFF5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1298448"/>
            <a:ext cx="713232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9984" y="1618488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代码关联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9984" y="1901952"/>
            <a:ext cx="2487168" cy="10789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资料反复提到 round-trip engineering：模型与代码之间可进行 forward / reverse 的联动。[2][3]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9592056" y="1188720"/>
            <a:ext cx="1965960" cy="1901952"/>
          </a:xfrm>
          <a:prstGeom prst="rect">
            <a:avLst/>
          </a:prstGeom>
          <a:solidFill>
            <a:srgbClr val="EAFB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0072" y="1298448"/>
            <a:ext cx="713232" cy="2377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20072" y="1618488"/>
            <a:ext cx="170992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团队协作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20072" y="1901952"/>
            <a:ext cx="1709928" cy="10789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Reviewer’s Guide 提到 private workspace / configuration management / add-ins 等团队开发要素。[2]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731520" y="3703320"/>
            <a:ext cx="10881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1363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13A"/>
                </a:solidFill>
              </a:rPr>
              <a:t>课程视角下怎么理解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224655"/>
            <a:ext cx="10469880" cy="1078865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0213A"/>
                </a:solidFill>
              </a:rPr>
              <a:t>对我们这门课来说，Rose 最值得借鉴的地方有三点：</a:t>
            </a:r>
            <a:endParaRPr lang="en-US" sz="1180" dirty="0">
              <a:solidFill>
                <a:srgbClr val="10213A"/>
              </a:solidFill>
            </a:endParaRPr>
          </a:p>
          <a:p>
            <a:pPr marL="0" indent="0" algn="l">
              <a:buNone/>
            </a:pPr>
            <a:endParaRPr lang="en-US" sz="1180" dirty="0"/>
          </a:p>
          <a:p>
            <a:pPr marL="0" indent="0" algn="l">
              <a:buNone/>
            </a:pPr>
            <a:r>
              <a:rPr lang="en-US" sz="1180" dirty="0">
                <a:solidFill>
                  <a:srgbClr val="10213A"/>
                </a:solidFill>
              </a:rPr>
              <a:t>① 不是把 UML 图孤立地画散，而是让用例图、顺序图、类图、组件/部署图围绕同一个项目模型组织；</a:t>
            </a:r>
            <a:endParaRPr lang="en-US" sz="1180" dirty="0"/>
          </a:p>
          <a:p>
            <a:pPr marL="0" indent="0" algn="l">
              <a:buNone/>
            </a:pPr>
            <a:r>
              <a:rPr lang="en-US" sz="1180" dirty="0">
                <a:solidFill>
                  <a:srgbClr val="10213A"/>
                </a:solidFill>
              </a:rPr>
              <a:t>② 把“文字需求—模型—设计说明”串起来；</a:t>
            </a:r>
            <a:endParaRPr lang="en-US" sz="1180" dirty="0">
              <a:solidFill>
                <a:srgbClr val="10213A"/>
              </a:solidFill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0213A"/>
                </a:solidFill>
              </a:rPr>
              <a:t>③ 强调模型检查和版本管理，适合做课堂项目的过程化展示。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引注：[2][3]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从需求到模型：Rational Rose 的典型工作流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40864" y="2743200"/>
            <a:ext cx="365760" cy="0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17136" y="2743200"/>
            <a:ext cx="365760" cy="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93408" y="2743200"/>
            <a:ext cx="365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69680" y="2743200"/>
            <a:ext cx="36576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58368" y="1965960"/>
            <a:ext cx="1737360" cy="310896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2331720"/>
            <a:ext cx="1737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2F69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需求输入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 项目背景、角色、业务流程、范围边界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834640" y="1965960"/>
            <a:ext cx="1737360" cy="310896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2331720"/>
            <a:ext cx="1737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7C4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用例建模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先回答“谁在用系统、能做什么”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010912" y="1965960"/>
            <a:ext cx="173736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10912" y="2331720"/>
            <a:ext cx="1737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动态建模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活动图/顺序图刻画流程推进与对象消息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187184" y="1965960"/>
            <a:ext cx="1737360" cy="3108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87184" y="2331720"/>
            <a:ext cx="1737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静态建模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类图/组件/部署图表达结构与运行环境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363456" y="1965960"/>
            <a:ext cx="1737360" cy="310896"/>
          </a:xfrm>
          <a:prstGeom prst="rect">
            <a:avLst/>
          </a:prstGeom>
          <a:solidFill>
            <a:srgbClr val="4F86FF"/>
          </a:solidFill>
          <a:ln>
            <a:solidFill>
              <a:srgbClr val="4F8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63456" y="2331720"/>
            <a:ext cx="1737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4F8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文档沉淀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SRS、设计说明、答辩PPT与评审材料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13232" y="4069080"/>
            <a:ext cx="5257800" cy="1133856"/>
          </a:xfrm>
          <a:prstGeom prst="rect">
            <a:avLst/>
          </a:prstGeom>
          <a:solidFill>
            <a:srgbClr val="EEF4FF"/>
          </a:solidFill>
          <a:ln w="12700">
            <a:solidFill>
              <a:srgbClr val="2F6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178808"/>
            <a:ext cx="713232" cy="237744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为什么重要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" y="4498848"/>
            <a:ext cx="50017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它能避免“只靠大段文字说需求”的问题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" y="4782312"/>
            <a:ext cx="5001768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Rose 的价值不只是把图画出来，而是让不同 UML 图都挂在同一个项目模型下面，形成一套结构化表达。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6199632" y="4069080"/>
            <a:ext cx="5257800" cy="1133856"/>
          </a:xfrm>
          <a:prstGeom prst="rect">
            <a:avLst/>
          </a:prstGeom>
          <a:solidFill>
            <a:srgbClr val="FFF5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775" y="4178935"/>
            <a:ext cx="1167130" cy="23749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跟我们项目怎么接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27648" y="4498848"/>
            <a:ext cx="500176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超算门户的角色多、流程长、对象关系复杂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27648" y="4782312"/>
            <a:ext cx="5001768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这类系统特别需要先做用例图和流程图，再补类图与部署图；否则一上来就做页面，容易漏掉审批链与权限边界。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引注：[3][8]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601968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G06 · Rational Rose 专题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6601968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互动Q2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14560" y="146304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959FF"/>
                </a:solidFill>
                <a:latin typeface="微软雅黑" panose="020B0503020204020204" charset="-122"/>
              </a:rPr>
              <a:t>软件需求分析原理与实践｜第6组</a:t>
            </a:r>
            <a:endParaRPr sz="700" b="0">
              <a:solidFill>
                <a:srgbClr val="1959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02B41"/>
                </a:solidFill>
                <a:latin typeface="微软雅黑" panose="020B0503020204020204" charset="-122"/>
              </a:rPr>
              <a:t>课堂互动问题 2</a:t>
            </a:r>
            <a:endParaRPr sz="22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" y="868680"/>
            <a:ext cx="1143000" cy="310896"/>
          </a:xfrm>
          <a:prstGeom prst="round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互动提问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881360" cy="868680"/>
          </a:xfrm>
          <a:prstGeom prst="roundRect">
            <a:avLst/>
          </a:prstGeom>
          <a:solidFill>
            <a:srgbClr val="EBF1FF"/>
          </a:solidFill>
          <a:ln w="1524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202B41"/>
                </a:solidFill>
                <a:latin typeface="微软雅黑" panose="020B0503020204020204" charset="-122"/>
              </a:rPr>
              <a:t>如果现在开始分析“超算中心运营管理门户网站”，你觉得最先应该画哪一种图？</a:t>
            </a:r>
            <a:endParaRPr sz="18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785" y="2624455"/>
            <a:ext cx="430530" cy="438785"/>
          </a:xfrm>
          <a:prstGeom prst="roundRect">
            <a:avLst/>
          </a:prstGeom>
          <a:solidFill>
            <a:srgbClr val="7B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10241280" cy="658368"/>
          </a:xfrm>
          <a:prstGeom prst="roundRect">
            <a:avLst/>
          </a:prstGeom>
          <a:solidFill>
            <a:srgbClr val="F4ECFF"/>
          </a:solidFill>
          <a:ln w="1778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用例图：先明确参与者和功能边界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6245" y="3584575"/>
            <a:ext cx="433070" cy="4387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10241280" cy="658368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类图：先把数据库和对象都画出来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4025" y="4544695"/>
            <a:ext cx="415290" cy="438785"/>
          </a:xfrm>
          <a:prstGeom prst="roundRect">
            <a:avLst/>
          </a:prstGeom>
          <a:solidFill>
            <a:srgbClr val="24B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C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8680" y="4434840"/>
            <a:ext cx="10241280" cy="658368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部署图：先把服务器和节点画出来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10213A"/>
                </a:solidFill>
              </a:rPr>
              <a:t>结合案例</a:t>
            </a:r>
            <a:r>
              <a:rPr lang="en-US" sz="2300" b="1" dirty="0">
                <a:solidFill>
                  <a:srgbClr val="10213A"/>
                </a:solidFill>
              </a:rPr>
              <a:t>：超算中心运营管理门户网站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188720"/>
            <a:ext cx="3749040" cy="2423160"/>
          </a:xfrm>
          <a:prstGeom prst="rect">
            <a:avLst/>
          </a:prstGeom>
          <a:solidFill>
            <a:srgbClr val="EEF4FF"/>
          </a:solidFill>
          <a:ln w="12700">
            <a:solidFill>
              <a:srgbClr val="2F6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298448"/>
            <a:ext cx="713232" cy="237744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项目目标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1724152"/>
            <a:ext cx="3493008" cy="1600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项目计划书的核心目标，是把“用户服务—资源申请—审批管理—作业监控—运营统计”放进同一门户入口，形成可追踪、可复盘、可度量的流程。[8]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69311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26464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A"/>
                </a:solidFill>
              </a:rPr>
              <a:t>项目中的主要角色与模块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46320" y="1837944"/>
            <a:ext cx="749808" cy="219456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普通用户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32704" y="1783080"/>
            <a:ext cx="5431536" cy="329184"/>
          </a:xfrm>
          <a:prstGeom prst="rect">
            <a:avLst/>
          </a:prstGeom>
          <a:solidFill>
            <a:srgbClr val="EEF4FF"/>
          </a:solidFill>
          <a:ln>
            <a:solidFill>
              <a:srgbClr val="2F69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提交申请、查看审批结果、查看作业状态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4846320" y="2295144"/>
            <a:ext cx="749808" cy="219456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PI/审批人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32704" y="2240280"/>
            <a:ext cx="5431536" cy="329184"/>
          </a:xfrm>
          <a:prstGeom prst="rect">
            <a:avLst/>
          </a:prstGeom>
          <a:solidFill>
            <a:srgbClr val="F4EEFF"/>
          </a:solidFill>
          <a:ln>
            <a:solidFill>
              <a:srgbClr val="7C4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审核资源申请、确认项目成员和配额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4846320" y="2752344"/>
            <a:ext cx="749808" cy="21945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管理员/运维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32704" y="2697480"/>
            <a:ext cx="5431536" cy="329184"/>
          </a:xfrm>
          <a:prstGeom prst="rect">
            <a:avLst/>
          </a:prstGeom>
          <a:solidFill>
            <a:srgbClr val="FFF5E6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开通账号、管理资源、发布公告、运营统计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4846320" y="3209544"/>
            <a:ext cx="749808" cy="21945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核心模块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32704" y="3154680"/>
            <a:ext cx="5431536" cy="329184"/>
          </a:xfrm>
          <a:prstGeom prst="rect">
            <a:avLst/>
          </a:prstGeom>
          <a:solidFill>
            <a:srgbClr val="EAFBF5"/>
          </a:solidFill>
          <a:ln>
            <a:solidFill>
              <a:srgbClr val="10B98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注册登录、资源申请、审批流、作业监控、账单报表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658368" y="4041648"/>
            <a:ext cx="10881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27024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A"/>
                </a:solidFill>
              </a:rPr>
              <a:t>为什么它特别适合做 UML 案例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4590288"/>
            <a:ext cx="10378440" cy="49377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0213A"/>
                </a:solidFill>
              </a:rPr>
              <a:t>因为它同时具备三类典型建模特征：</a:t>
            </a:r>
            <a:endParaRPr lang="en-US" sz="1180" dirty="0"/>
          </a:p>
          <a:p>
            <a:pPr marL="0" indent="0" algn="l">
              <a:buNone/>
            </a:pPr>
            <a:r>
              <a:rPr lang="en-US" sz="1180" dirty="0">
                <a:solidFill>
                  <a:srgbClr val="10213A"/>
                </a:solidFill>
              </a:rPr>
              <a:t>① 角色多：普通用户、PI、管理员、运维；② 流程长：申请—审批—开通—运行—统计；③ 对象多：用户、项目、资源申请、作业、账单、工单。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引注：[8]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为什么“超算门户”很适合用 Rational Rose 来建模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88720"/>
            <a:ext cx="361188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2F6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298448"/>
            <a:ext cx="713232" cy="237744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1618488"/>
            <a:ext cx="335584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角色边界清晰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096" y="1901952"/>
            <a:ext cx="3355848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Rose 适合先用用例图区分普通用户、PI、管理员、运维各自能做什么，避免权限边界混乱。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4297680" y="1188720"/>
            <a:ext cx="3611880" cy="1691640"/>
          </a:xfrm>
          <a:prstGeom prst="rect">
            <a:avLst/>
          </a:prstGeom>
          <a:solidFill>
            <a:srgbClr val="F4EE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1298448"/>
            <a:ext cx="713232" cy="237744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25696" y="1618488"/>
            <a:ext cx="335584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流程链路长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25696" y="1901952"/>
            <a:ext cx="3355848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资源申请、审批、开通、作业运行、统计服务天然适合画活动图和顺序图。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7955280" y="1188720"/>
            <a:ext cx="3611880" cy="1691640"/>
          </a:xfrm>
          <a:prstGeom prst="rect">
            <a:avLst/>
          </a:prstGeom>
          <a:solidFill>
            <a:srgbClr val="FFF5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3296" y="1298448"/>
            <a:ext cx="713232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83296" y="1618488"/>
            <a:ext cx="335584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A"/>
                </a:solidFill>
              </a:rPr>
              <a:t>对象关系复杂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83296" y="1901952"/>
            <a:ext cx="3355848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用户、项目、配额、作业、账单、工单等对象之间存在清晰的实体关系，适合类图表达。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749808" y="3246120"/>
            <a:ext cx="10972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7472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A"/>
                </a:solidFill>
              </a:rPr>
              <a:t>用一句业务话翻译成建模话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60120" y="3822192"/>
            <a:ext cx="10332720" cy="804672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0213A"/>
                </a:solidFill>
              </a:rPr>
              <a:t>业务语言：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0213A"/>
                </a:solidFill>
              </a:rPr>
              <a:t>“用户提交资源申请，PI 或管理员审核，系统开通配额，用户查看作业和账单。”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0213A"/>
                </a:solidFill>
              </a:rPr>
              <a:t>建模语言：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0213A"/>
                </a:solidFill>
              </a:rPr>
              <a:t>“先画参与者和用例边界，再画审批活动流和消息顺序，最后沉淀为用户/项目/申请/作业/账单等类与关系。”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引注：[8][3]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项目示例一：用例图应该先回答什么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920240"/>
            <a:ext cx="1691640" cy="0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65960" y="2697480"/>
            <a:ext cx="1691640" cy="91440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65960" y="3493008"/>
            <a:ext cx="1691640" cy="164592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65960" y="4279392"/>
            <a:ext cx="1691640" cy="246888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12480" y="2029968"/>
            <a:ext cx="1600200" cy="27432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2852928"/>
            <a:ext cx="1600200" cy="73152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3675888"/>
            <a:ext cx="1600200" cy="118872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1097280" cy="438912"/>
          </a:xfrm>
          <a:prstGeom prst="rect">
            <a:avLst/>
          </a:prstGeom>
          <a:solidFill>
            <a:srgbClr val="0B1E59"/>
          </a:solidFill>
          <a:ln>
            <a:solidFill>
              <a:srgbClr val="0B1E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普通用户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2578608"/>
            <a:ext cx="1097280" cy="438912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PI/审批人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493008"/>
            <a:ext cx="1097280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管理员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4407408"/>
            <a:ext cx="1097280" cy="4389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运维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94760" y="1325880"/>
            <a:ext cx="45537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9930" y="1481455"/>
            <a:ext cx="2978150" cy="2012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13A"/>
                </a:solidFill>
              </a:rPr>
              <a:t>超算中心运营管理门户网站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51960" y="1828800"/>
            <a:ext cx="1463040" cy="438912"/>
          </a:xfrm>
          <a:prstGeom prst="rect">
            <a:avLst/>
          </a:prstGeom>
          <a:solidFill>
            <a:srgbClr val="F9FBFF"/>
          </a:solidFill>
          <a:ln>
            <a:solidFill>
              <a:srgbClr val="D9E4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10213A"/>
                </a:solidFill>
              </a:rPr>
              <a:t>提交资源申请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6126480" y="1828800"/>
            <a:ext cx="1463040" cy="438912"/>
          </a:xfrm>
          <a:prstGeom prst="rect">
            <a:avLst/>
          </a:prstGeom>
          <a:solidFill>
            <a:srgbClr val="F9FBFF"/>
          </a:solidFill>
          <a:ln>
            <a:solidFill>
              <a:srgbClr val="D9E4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10213A"/>
                </a:solidFill>
              </a:rPr>
              <a:t>查看审批结果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4251960" y="2743200"/>
            <a:ext cx="1463040" cy="438912"/>
          </a:xfrm>
          <a:prstGeom prst="rect">
            <a:avLst/>
          </a:prstGeom>
          <a:solidFill>
            <a:srgbClr val="F9FBFF"/>
          </a:solidFill>
          <a:ln>
            <a:solidFill>
              <a:srgbClr val="D9E4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10213A"/>
                </a:solidFill>
              </a:rPr>
              <a:t>查看作业状态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6126480" y="2743200"/>
            <a:ext cx="1463040" cy="438912"/>
          </a:xfrm>
          <a:prstGeom prst="rect">
            <a:avLst/>
          </a:prstGeom>
          <a:solidFill>
            <a:srgbClr val="F9FBFF"/>
          </a:solidFill>
          <a:ln>
            <a:solidFill>
              <a:srgbClr val="D9E4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10213A"/>
                </a:solidFill>
              </a:rPr>
              <a:t>查看账单报表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4251960" y="3657600"/>
            <a:ext cx="1463040" cy="438912"/>
          </a:xfrm>
          <a:prstGeom prst="rect">
            <a:avLst/>
          </a:prstGeom>
          <a:solidFill>
            <a:srgbClr val="F9FBFF"/>
          </a:solidFill>
          <a:ln>
            <a:solidFill>
              <a:srgbClr val="D9E4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10213A"/>
                </a:solidFill>
              </a:rPr>
              <a:t>审批处理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6126480" y="3657600"/>
            <a:ext cx="1463040" cy="438912"/>
          </a:xfrm>
          <a:prstGeom prst="rect">
            <a:avLst/>
          </a:prstGeom>
          <a:solidFill>
            <a:srgbClr val="F9FBFF"/>
          </a:solidFill>
          <a:ln>
            <a:solidFill>
              <a:srgbClr val="D9E4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10213A"/>
                </a:solidFill>
              </a:rPr>
              <a:t>用户/权限管理</a:t>
            </a:r>
            <a:endParaRPr lang="en-US" sz="1110" dirty="0"/>
          </a:p>
        </p:txBody>
      </p:sp>
      <p:sp>
        <p:nvSpPr>
          <p:cNvPr id="27" name="Text 25"/>
          <p:cNvSpPr/>
          <p:nvPr/>
        </p:nvSpPr>
        <p:spPr>
          <a:xfrm>
            <a:off x="5184648" y="4389120"/>
            <a:ext cx="1463040" cy="438912"/>
          </a:xfrm>
          <a:prstGeom prst="rect">
            <a:avLst/>
          </a:prstGeom>
          <a:solidFill>
            <a:srgbClr val="F9FBFF"/>
          </a:solidFill>
          <a:ln>
            <a:solidFill>
              <a:srgbClr val="D9E4F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10213A"/>
                </a:solidFill>
              </a:rPr>
              <a:t>公告与运维支持</a:t>
            </a:r>
            <a:endParaRPr lang="en-US" sz="1110" dirty="0"/>
          </a:p>
        </p:txBody>
      </p:sp>
      <p:sp>
        <p:nvSpPr>
          <p:cNvPr id="28" name="Text 26"/>
          <p:cNvSpPr/>
          <p:nvPr/>
        </p:nvSpPr>
        <p:spPr>
          <a:xfrm>
            <a:off x="10149840" y="1828800"/>
            <a:ext cx="1143000" cy="438912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项目管理员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149840" y="2697480"/>
            <a:ext cx="1143000" cy="43891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财务/统计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149840" y="3566160"/>
            <a:ext cx="1143000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帮助中心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引注：[8][9]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601968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G06 · Rational Rose 专题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6601968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互动Q3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14560" y="146304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959FF"/>
                </a:solidFill>
                <a:latin typeface="微软雅黑" panose="020B0503020204020204" charset="-122"/>
              </a:rPr>
              <a:t>软件需求分析原理与实践｜第6组</a:t>
            </a:r>
            <a:endParaRPr sz="700" b="0">
              <a:solidFill>
                <a:srgbClr val="1959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02B41"/>
                </a:solidFill>
                <a:latin typeface="微软雅黑" panose="020B0503020204020204" charset="-122"/>
              </a:rPr>
              <a:t>课堂互动问题 3</a:t>
            </a:r>
            <a:endParaRPr sz="22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" y="868680"/>
            <a:ext cx="1143000" cy="310896"/>
          </a:xfrm>
          <a:prstGeom prst="round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互动提问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881360" cy="868680"/>
          </a:xfrm>
          <a:prstGeom prst="roundRect">
            <a:avLst/>
          </a:prstGeom>
          <a:solidFill>
            <a:srgbClr val="EBF1FF"/>
          </a:solidFill>
          <a:ln w="1524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202B41"/>
                </a:solidFill>
                <a:latin typeface="微软雅黑" panose="020B0503020204020204" charset="-122"/>
              </a:rPr>
              <a:t>看完用例图以后，我们最先能回答哪一类问题？</a:t>
            </a:r>
            <a:endParaRPr sz="18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785" y="2624455"/>
            <a:ext cx="473710" cy="438785"/>
          </a:xfrm>
          <a:prstGeom prst="roundRect">
            <a:avLst/>
          </a:prstGeom>
          <a:solidFill>
            <a:srgbClr val="7B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10241280" cy="658368"/>
          </a:xfrm>
          <a:prstGeom prst="roundRect">
            <a:avLst/>
          </a:prstGeom>
          <a:solidFill>
            <a:srgbClr val="F4ECFF"/>
          </a:solidFill>
          <a:ln w="1778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谁在使用系统、每类角色能做什么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3705" y="3584575"/>
            <a:ext cx="434975" cy="4387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10241280" cy="658368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数据库字段长度和索引设计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3550" y="4544695"/>
            <a:ext cx="405765" cy="438785"/>
          </a:xfrm>
          <a:prstGeom prst="roundRect">
            <a:avLst/>
          </a:prstGeom>
          <a:solidFill>
            <a:srgbClr val="24B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C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8680" y="4434840"/>
            <a:ext cx="10241280" cy="658368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服务器采购数量和机房布局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项目示例二：活动图如何描述“资源申请—审批—开通”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70432"/>
            <a:ext cx="1691640" cy="310896"/>
          </a:xfrm>
          <a:prstGeom prst="rect">
            <a:avLst/>
          </a:prstGeom>
          <a:solidFill>
            <a:srgbClr val="0B1E59"/>
          </a:solidFill>
          <a:ln>
            <a:solidFill>
              <a:srgbClr val="0B1E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用户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27248" y="1170432"/>
            <a:ext cx="1691640" cy="310896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系统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77256" y="1170432"/>
            <a:ext cx="1691640" cy="310896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PI/审批人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27264" y="1170432"/>
            <a:ext cx="169164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管理员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177272" y="1170432"/>
            <a:ext cx="1691640" cy="3108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结果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627632" y="1920240"/>
            <a:ext cx="1499616" cy="0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77640" y="1920240"/>
            <a:ext cx="1508760" cy="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9360" y="2788920"/>
            <a:ext cx="1517904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86800" y="3657600"/>
            <a:ext cx="149047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" y="4526280"/>
            <a:ext cx="55321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77824" y="1664208"/>
            <a:ext cx="1481328" cy="512064"/>
          </a:xfrm>
          <a:prstGeom prst="rect">
            <a:avLst/>
          </a:prstGeom>
          <a:solidFill>
            <a:srgbClr val="FFFFFF"/>
          </a:solidFill>
          <a:ln>
            <a:solidFill>
              <a:srgbClr val="0B1E5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提交资源申请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227832" y="1664208"/>
            <a:ext cx="1481328" cy="512064"/>
          </a:xfrm>
          <a:prstGeom prst="rect">
            <a:avLst/>
          </a:prstGeom>
          <a:solidFill>
            <a:srgbClr val="FFFFFF"/>
          </a:solidFill>
          <a:ln>
            <a:solidFill>
              <a:srgbClr val="2F69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校验表单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生成申请单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577840" y="1664208"/>
            <a:ext cx="1481328" cy="512064"/>
          </a:xfrm>
          <a:prstGeom prst="rect">
            <a:avLst/>
          </a:prstGeom>
          <a:solidFill>
            <a:srgbClr val="FFFFFF"/>
          </a:solidFill>
          <a:ln>
            <a:solidFill>
              <a:srgbClr val="7C4D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审核申请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5577840" y="2542032"/>
            <a:ext cx="1481328" cy="512064"/>
          </a:xfrm>
          <a:prstGeom prst="rect">
            <a:avLst/>
          </a:prstGeom>
          <a:solidFill>
            <a:srgbClr val="F4EEFF"/>
          </a:solidFill>
          <a:ln>
            <a:solidFill>
              <a:srgbClr val="7C4D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是否通过？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927848" y="2542032"/>
            <a:ext cx="1481328" cy="512064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开通账号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分配配额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927848" y="3419856"/>
            <a:ext cx="1481328" cy="512064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发送通知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0277856" y="3419856"/>
            <a:ext cx="1481328" cy="512064"/>
          </a:xfrm>
          <a:prstGeom prst="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用户可登录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并提交作业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877824" y="4279392"/>
            <a:ext cx="1481328" cy="512064"/>
          </a:xfrm>
          <a:prstGeom prst="rect">
            <a:avLst/>
          </a:prstGeom>
          <a:solidFill>
            <a:srgbClr val="FFF0F2"/>
          </a:solidFill>
          <a:ln>
            <a:solidFill>
              <a:srgbClr val="EF444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收到驳回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修改重提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1005840" y="5257800"/>
            <a:ext cx="9966960" cy="384048"/>
          </a:xfrm>
          <a:prstGeom prst="rect">
            <a:avLst/>
          </a:prstGeom>
          <a:solidFill>
            <a:srgbClr val="EEF4FF"/>
          </a:solidFill>
          <a:ln>
            <a:solidFill>
              <a:srgbClr val="2F69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F69FF"/>
                </a:solidFill>
              </a:rPr>
              <a:t>这个流程与项目计划书中的“注册/登录→资源申请→审批流转→账号开通→作业运行→统计服务”主线是一致的。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引注：[8]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项目示例三：顺序图怎么讲“谁先给谁发消息”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70432"/>
            <a:ext cx="868680" cy="347472"/>
          </a:xfrm>
          <a:prstGeom prst="rect">
            <a:avLst/>
          </a:prstGeom>
          <a:solidFill>
            <a:srgbClr val="0B1E59"/>
          </a:solidFill>
          <a:ln>
            <a:solidFill>
              <a:srgbClr val="0B1E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申请人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53312" y="1517904"/>
            <a:ext cx="0" cy="4160520"/>
          </a:xfrm>
          <a:prstGeom prst="line">
            <a:avLst/>
          </a:prstGeom>
          <a:noFill/>
          <a:ln w="12700">
            <a:solidFill>
              <a:srgbClr val="0B1E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170432"/>
            <a:ext cx="868680" cy="347472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门户前端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1517904"/>
            <a:ext cx="0" cy="4160520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70432"/>
            <a:ext cx="868680" cy="347472"/>
          </a:xfrm>
          <a:prstGeom prst="rect">
            <a:avLst/>
          </a:prstGeom>
          <a:solidFill>
            <a:srgbClr val="4F86FF"/>
          </a:solidFill>
          <a:ln>
            <a:solidFill>
              <a:srgbClr val="4F8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申请服务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22392" y="1517904"/>
            <a:ext cx="0" cy="4160520"/>
          </a:xfrm>
          <a:prstGeom prst="line">
            <a:avLst/>
          </a:prstGeom>
          <a:noFill/>
          <a:ln w="12700">
            <a:solidFill>
              <a:srgbClr val="4F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170432"/>
            <a:ext cx="868680" cy="347472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审批服务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79792" y="1517904"/>
            <a:ext cx="0" cy="416052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170432"/>
            <a:ext cx="868680" cy="3474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管理员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37192" y="1517904"/>
            <a:ext cx="0" cy="416052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0" y="1170432"/>
            <a:ext cx="868680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通知服务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411712" y="1517904"/>
            <a:ext cx="0" cy="416052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53312" y="1828800"/>
            <a:ext cx="1572768" cy="0"/>
          </a:xfrm>
          <a:prstGeom prst="line">
            <a:avLst/>
          </a:prstGeom>
          <a:noFill/>
          <a:ln w="12700">
            <a:solidFill>
              <a:srgbClr val="0B1E5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737360" y="1645920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13A"/>
                </a:solidFill>
              </a:rPr>
              <a:t>填写申请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364992" y="2286000"/>
            <a:ext cx="1618488" cy="0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703320" y="210312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13A"/>
                </a:solidFill>
              </a:rPr>
              <a:t>提交表单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422392" y="2743200"/>
            <a:ext cx="1618488" cy="0"/>
          </a:xfrm>
          <a:prstGeom prst="line">
            <a:avLst/>
          </a:prstGeom>
          <a:noFill/>
          <a:ln w="12700">
            <a:solidFill>
              <a:srgbClr val="4F86F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760720" y="256032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13A"/>
                </a:solidFill>
              </a:rPr>
              <a:t>创建审批任务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479792" y="3200400"/>
            <a:ext cx="1618488" cy="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818120" y="301752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13A"/>
                </a:solidFill>
              </a:rPr>
              <a:t>请求开通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9537192" y="3657600"/>
            <a:ext cx="143560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784080" y="347472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13A"/>
                </a:solidFill>
              </a:rPr>
              <a:t>发送结果通知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353312" y="4114800"/>
            <a:ext cx="100584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715000" y="39319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13A"/>
                </a:solidFill>
              </a:rPr>
              <a:t>邮件/站内信返回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68680" y="5074920"/>
            <a:ext cx="10927080" cy="402336"/>
          </a:xfrm>
          <a:prstGeom prst="rect">
            <a:avLst/>
          </a:prstGeom>
          <a:solidFill>
            <a:srgbClr val="EEF4FF"/>
          </a:solidFill>
          <a:ln>
            <a:solidFill>
              <a:srgbClr val="2F69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F69FF"/>
                </a:solidFill>
              </a:rPr>
              <a:t>顺序图的作用：把“活动图里的一条业务流”拆成明确的消息调用关系，便于后续讲接口、服务边界与职责分离。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引注：[8][3]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601968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G06 · Rational Rose 专题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6601968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互动Q4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14560" y="146304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959FF"/>
                </a:solidFill>
                <a:latin typeface="微软雅黑" panose="020B0503020204020204" charset="-122"/>
              </a:rPr>
              <a:t>软件需求分析原理与实践｜第6组</a:t>
            </a:r>
            <a:endParaRPr sz="700" b="0">
              <a:solidFill>
                <a:srgbClr val="1959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02B41"/>
                </a:solidFill>
                <a:latin typeface="微软雅黑" panose="020B0503020204020204" charset="-122"/>
              </a:rPr>
              <a:t>课堂互动问题 4</a:t>
            </a:r>
            <a:endParaRPr sz="22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" y="868680"/>
            <a:ext cx="1143000" cy="310896"/>
          </a:xfrm>
          <a:prstGeom prst="round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互动提问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881360" cy="868680"/>
          </a:xfrm>
          <a:prstGeom prst="roundRect">
            <a:avLst/>
          </a:prstGeom>
          <a:solidFill>
            <a:srgbClr val="EBF1FF"/>
          </a:solidFill>
          <a:ln w="1524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202B41"/>
                </a:solidFill>
                <a:latin typeface="微软雅黑" panose="020B0503020204020204" charset="-122"/>
              </a:rPr>
              <a:t>下面哪种说法最能区分“活动图”和“顺序图”？</a:t>
            </a:r>
            <a:endParaRPr sz="18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1485" y="2624455"/>
            <a:ext cx="417830" cy="438785"/>
          </a:xfrm>
          <a:prstGeom prst="roundRect">
            <a:avLst/>
          </a:prstGeom>
          <a:solidFill>
            <a:srgbClr val="7B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10241280" cy="658368"/>
          </a:xfrm>
          <a:prstGeom prst="roundRect">
            <a:avLst/>
          </a:prstGeom>
          <a:solidFill>
            <a:srgbClr val="F4ECFF"/>
          </a:solidFill>
          <a:ln w="1778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活动图更关注流程推进，顺序图更关注对象之间消息的先后顺序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120" y="3584575"/>
            <a:ext cx="445135" cy="4387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10241280" cy="658368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活动图主要看数据库，顺序图主要看页面美观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2280" y="4544695"/>
            <a:ext cx="406400" cy="438785"/>
          </a:xfrm>
          <a:prstGeom prst="roundRect">
            <a:avLst/>
          </a:prstGeom>
          <a:solidFill>
            <a:srgbClr val="24B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C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8680" y="4434840"/>
            <a:ext cx="10241280" cy="658368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二者完全重复，表达内容没有区别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项目示例四：类图把“对象关系”沉淀下来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2148840"/>
            <a:ext cx="1463040" cy="0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57800" y="2148840"/>
            <a:ext cx="1463040" cy="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83880" y="2148840"/>
            <a:ext cx="1371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63440" y="3520440"/>
            <a:ext cx="0" cy="105156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89520" y="3520440"/>
            <a:ext cx="0" cy="105156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" y="1417320"/>
            <a:ext cx="1645920" cy="1335024"/>
          </a:xfrm>
          <a:prstGeom prst="rect">
            <a:avLst/>
          </a:prstGeom>
          <a:solidFill>
            <a:srgbClr val="FFFFFF"/>
          </a:solidFill>
          <a:ln>
            <a:solidFill>
              <a:srgbClr val="0B1E5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User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userId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role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email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794760" y="1417320"/>
            <a:ext cx="1737360" cy="1335024"/>
          </a:xfrm>
          <a:prstGeom prst="rect">
            <a:avLst/>
          </a:prstGeom>
          <a:solidFill>
            <a:srgbClr val="FFFFFF"/>
          </a:solidFill>
          <a:ln>
            <a:solidFill>
              <a:srgbClr val="2F69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Project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projectId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owner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quota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720840" y="1417320"/>
            <a:ext cx="1737360" cy="1335024"/>
          </a:xfrm>
          <a:prstGeom prst="rect">
            <a:avLst/>
          </a:prstGeom>
          <a:solidFill>
            <a:srgbClr val="FFFFFF"/>
          </a:solidFill>
          <a:ln>
            <a:solidFill>
              <a:srgbClr val="7C4D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Application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type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status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submitTime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555480" y="1417320"/>
            <a:ext cx="1783080" cy="1335024"/>
          </a:xfrm>
          <a:prstGeom prst="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Job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jobId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queue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runState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767328" y="4572000"/>
            <a:ext cx="17830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Bill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amount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period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693408" y="4572000"/>
            <a:ext cx="17830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Ticket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type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13A"/>
                </a:solidFill>
              </a:rPr>
              <a:t>- state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868680" y="3246120"/>
            <a:ext cx="10515600" cy="658368"/>
          </a:xfrm>
          <a:prstGeom prst="rect">
            <a:avLst/>
          </a:prstGeom>
          <a:solidFill>
            <a:srgbClr val="F7FAFF"/>
          </a:solidFill>
          <a:ln>
            <a:solidFill>
              <a:srgbClr val="D9E4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0213A"/>
                </a:solidFill>
              </a:rPr>
              <a:t>类图的意义不是把数据库表提前画死，而是先把“用户—项目—申请—作业—账单—工单”这些核心对象与关系梳理清楚，保证后续 SRS、原型和数据库讨论不跑偏。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引注：[8][9]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项目示例五：组件 / 部署视角怎么表达门户运行环境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743200"/>
            <a:ext cx="1600200" cy="0"/>
          </a:xfrm>
          <a:prstGeom prst="line">
            <a:avLst/>
          </a:prstGeom>
          <a:noFill/>
          <a:ln w="12700">
            <a:solidFill>
              <a:srgbClr val="2F69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49240" y="2743200"/>
            <a:ext cx="1645920" cy="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95360" y="2743200"/>
            <a:ext cx="1600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18120" y="3703320"/>
            <a:ext cx="0" cy="886968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49808" y="2267712"/>
            <a:ext cx="1417320" cy="658368"/>
          </a:xfrm>
          <a:prstGeom prst="rect">
            <a:avLst/>
          </a:prstGeom>
          <a:solidFill>
            <a:srgbClr val="0B1E59"/>
          </a:solidFill>
          <a:ln>
            <a:solidFill>
              <a:srgbClr val="0B1E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浏览器 / 用户端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67328" y="2267712"/>
            <a:ext cx="1600200" cy="658368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门户 Web 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13448" y="2267712"/>
            <a:ext cx="1600200" cy="658368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业务服务层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13848" y="2267712"/>
            <a:ext cx="1234440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超算资源 / 调度器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13448" y="4590288"/>
            <a:ext cx="1600200" cy="6583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数据库 / 日志 / 统计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1234440"/>
            <a:ext cx="2788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E4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0213A"/>
                </a:solidFill>
              </a:rPr>
              <a:t>门户访问入口：注册登录、个人中心、消息通知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3977640" y="1234440"/>
            <a:ext cx="2514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E4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0213A"/>
                </a:solidFill>
              </a:rPr>
              <a:t>前端页面、权限展示、作业与申请入口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812280" y="1234440"/>
            <a:ext cx="2514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E4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0213A"/>
                </a:solidFill>
              </a:rPr>
              <a:t>审批服务、作业服务、账单服务、工单服务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9646920" y="1234440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E4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0213A"/>
                </a:solidFill>
              </a:rPr>
              <a:t>集群、队列、文件与运行监控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868680" y="5486400"/>
            <a:ext cx="10607040" cy="384048"/>
          </a:xfrm>
          <a:prstGeom prst="rect">
            <a:avLst/>
          </a:prstGeom>
          <a:solidFill>
            <a:srgbClr val="EEF4FF"/>
          </a:solidFill>
          <a:ln>
            <a:solidFill>
              <a:srgbClr val="2F69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0213A"/>
                </a:solidFill>
              </a:rPr>
              <a:t>对超算门户来说，部署图的重点不是画得多复杂，而是说明“门户层”和“算力资源层”不是一回事，中间还需要业务服务与数据支撑层。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引注：[8][10][11]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Rational Rose 的优势与局限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70432"/>
            <a:ext cx="5230368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优势：为什么它适合课堂上的 UML 工具专题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72784" y="1170432"/>
            <a:ext cx="5230368" cy="34747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局限：为什么它不一定适合今天的生产协作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746504"/>
            <a:ext cx="749808" cy="4206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99616" y="1691640"/>
            <a:ext cx="4608576" cy="530352"/>
          </a:xfrm>
          <a:prstGeom prst="rect">
            <a:avLst/>
          </a:prstGeom>
          <a:solidFill>
            <a:srgbClr val="EAFBF5"/>
          </a:solidFill>
          <a:ln>
            <a:solidFill>
              <a:srgbClr val="10B98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经典：能清楚展示 UML 建模的基本思路与图之间的关系。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713232" y="2569464"/>
            <a:ext cx="749808" cy="4206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99616" y="2514600"/>
            <a:ext cx="4608576" cy="530352"/>
          </a:xfrm>
          <a:prstGeom prst="rect">
            <a:avLst/>
          </a:prstGeom>
          <a:solidFill>
            <a:srgbClr val="EAFBF5"/>
          </a:solidFill>
          <a:ln>
            <a:solidFill>
              <a:srgbClr val="10B98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系统：把模型树、图、属性、代码关联放到一套环境里。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713232" y="3392424"/>
            <a:ext cx="749808" cy="4206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99616" y="3337560"/>
            <a:ext cx="4608576" cy="530352"/>
          </a:xfrm>
          <a:prstGeom prst="rect">
            <a:avLst/>
          </a:prstGeom>
          <a:solidFill>
            <a:srgbClr val="EAFBF5"/>
          </a:solidFill>
          <a:ln>
            <a:solidFill>
              <a:srgbClr val="10B98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易讲：适合课堂汇报，把概念图和项目图挂在同一模型下。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713232" y="4215384"/>
            <a:ext cx="749808" cy="4206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99616" y="4160520"/>
            <a:ext cx="4608576" cy="530352"/>
          </a:xfrm>
          <a:prstGeom prst="rect">
            <a:avLst/>
          </a:prstGeom>
          <a:solidFill>
            <a:srgbClr val="EAFBF5"/>
          </a:solidFill>
          <a:ln>
            <a:solidFill>
              <a:srgbClr val="10B98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可迁移：即使将来不用 Rose，也能把建模方法迁移到其他工具。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6309360" y="1746504"/>
            <a:ext cx="749808" cy="42062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95744" y="1691640"/>
            <a:ext cx="4389120" cy="530352"/>
          </a:xfrm>
          <a:prstGeom prst="rect">
            <a:avLst/>
          </a:prstGeom>
          <a:solidFill>
            <a:srgbClr val="FFF0F2"/>
          </a:solidFill>
          <a:ln>
            <a:solidFill>
              <a:srgbClr val="EF444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偏旧：其核心资料与支持页面都显示出明显的 legacy 工具特征。[5][6]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6309360" y="2569464"/>
            <a:ext cx="749808" cy="42062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95744" y="2514600"/>
            <a:ext cx="4389120" cy="530352"/>
          </a:xfrm>
          <a:prstGeom prst="rect">
            <a:avLst/>
          </a:prstGeom>
          <a:solidFill>
            <a:srgbClr val="FFF0F2"/>
          </a:solidFill>
          <a:ln>
            <a:solidFill>
              <a:srgbClr val="EF444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版本语境较早：Rose 文档强调的是 UML 1.3 图种，而今天课堂更常提 UML 2.x。[1][2]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6309360" y="3392424"/>
            <a:ext cx="749808" cy="42062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95744" y="3337560"/>
            <a:ext cx="4389120" cy="530352"/>
          </a:xfrm>
          <a:prstGeom prst="rect">
            <a:avLst/>
          </a:prstGeom>
          <a:solidFill>
            <a:srgbClr val="FFF0F2"/>
          </a:solidFill>
          <a:ln>
            <a:solidFill>
              <a:srgbClr val="EF444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协作方式较传统：相比现代团队工具，在实时协作、插件生态和现代工程链路上不占优。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6309360" y="4215384"/>
            <a:ext cx="749808" cy="42062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95744" y="4160520"/>
            <a:ext cx="4389120" cy="530352"/>
          </a:xfrm>
          <a:prstGeom prst="rect">
            <a:avLst/>
          </a:prstGeom>
          <a:solidFill>
            <a:srgbClr val="FFF0F2"/>
          </a:solidFill>
          <a:ln>
            <a:solidFill>
              <a:srgbClr val="EF444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迁移成本：IBM 后续资料明确提到 Rose 模型需要迁移到新产品线。 [7]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引注：[1][2][5][6][7]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601968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G06 · Rational Rose 专题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6601968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互动Q5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14560" y="146304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959FF"/>
                </a:solidFill>
                <a:latin typeface="微软雅黑" panose="020B0503020204020204" charset="-122"/>
              </a:rPr>
              <a:t>软件需求分析原理与实践｜第6组</a:t>
            </a:r>
            <a:endParaRPr sz="700" b="0">
              <a:solidFill>
                <a:srgbClr val="1959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02B41"/>
                </a:solidFill>
                <a:latin typeface="微软雅黑" panose="020B0503020204020204" charset="-122"/>
              </a:rPr>
              <a:t>课堂互动问题 5</a:t>
            </a:r>
            <a:endParaRPr sz="22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" y="868680"/>
            <a:ext cx="1143000" cy="310896"/>
          </a:xfrm>
          <a:prstGeom prst="round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互动提问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881360" cy="868680"/>
          </a:xfrm>
          <a:prstGeom prst="roundRect">
            <a:avLst/>
          </a:prstGeom>
          <a:solidFill>
            <a:srgbClr val="EBF1FF"/>
          </a:solidFill>
          <a:ln w="1524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202B41"/>
                </a:solidFill>
                <a:latin typeface="微软雅黑" panose="020B0503020204020204" charset="-122"/>
              </a:rPr>
              <a:t>如果是小组课程项目，你觉得 Rational Rose 更合适怎样使用？</a:t>
            </a:r>
            <a:endParaRPr sz="18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785" y="2624455"/>
            <a:ext cx="430530" cy="438785"/>
          </a:xfrm>
          <a:prstGeom prst="roundRect">
            <a:avLst/>
          </a:prstGeom>
          <a:solidFill>
            <a:srgbClr val="7B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A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10241280" cy="658368"/>
          </a:xfrm>
          <a:prstGeom prst="roundRect">
            <a:avLst/>
          </a:prstGeom>
          <a:solidFill>
            <a:srgbClr val="F4ECFF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完全不用，因为它比较老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6085" y="3584575"/>
            <a:ext cx="442595" cy="4387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B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10241280" cy="658368"/>
          </a:xfrm>
          <a:prstGeom prst="roundRect">
            <a:avLst/>
          </a:prstGeom>
          <a:solidFill>
            <a:srgbClr val="FFF4E6"/>
          </a:solidFill>
          <a:ln w="17780">
            <a:solidFill>
              <a:srgbClr val="19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用它理解经典 UML 建模思路，再结合现代工具完成协作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945" y="4544695"/>
            <a:ext cx="419100" cy="438785"/>
          </a:xfrm>
          <a:prstGeom prst="roundRect">
            <a:avLst/>
          </a:prstGeom>
          <a:solidFill>
            <a:srgbClr val="24B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C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8680" y="4434840"/>
            <a:ext cx="10241280" cy="658368"/>
          </a:xfrm>
          <a:prstGeom prst="roundRect">
            <a:avLst/>
          </a:prstGeom>
          <a:solidFill>
            <a:srgbClr val="E8FAF3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02B41"/>
                </a:solidFill>
                <a:latin typeface="微软雅黑" panose="020B0503020204020204" charset="-122"/>
              </a:rPr>
              <a:t>直接把它作为当前生产环境中的最佳协作平台</a:t>
            </a:r>
            <a:endParaRPr sz="15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组内成员分工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713232" y="1225296"/>
            <a:ext cx="749808" cy="566928"/>
          </a:xfrm>
          <a:prstGeom prst="rect">
            <a:avLst/>
          </a:prstGeom>
          <a:solidFill>
            <a:srgbClr val="2F69FF"/>
          </a:solidFill>
          <a:ln>
            <a:solidFill>
              <a:srgbClr val="2F69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吴易骏</a:t>
            </a:r>
            <a:endParaRPr lang="en-US" sz="1050" dirty="0"/>
          </a:p>
        </p:txBody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499616" y="1170432"/>
            <a:ext cx="10003536" cy="676656"/>
          </a:xfrm>
          <a:prstGeom prst="rect">
            <a:avLst/>
          </a:prstGeom>
          <a:solidFill>
            <a:srgbClr val="EEF4FF"/>
          </a:solidFill>
          <a:ln>
            <a:solidFill>
              <a:srgbClr val="2F69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总体结构与统稿：负责本次 Rational Rose 专题逻辑、页面闭环检查、答辩组织。</a:t>
            </a:r>
            <a:endParaRPr lang="en-US" sz="111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713232" y="2167128"/>
            <a:ext cx="749808" cy="566928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肖泓宇</a:t>
            </a:r>
            <a:endParaRPr lang="en-US" sz="105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499616" y="2112264"/>
            <a:ext cx="10003536" cy="676656"/>
          </a:xfrm>
          <a:prstGeom prst="rect">
            <a:avLst/>
          </a:prstGeom>
          <a:solidFill>
            <a:srgbClr val="F4EEFF"/>
          </a:solidFill>
          <a:ln>
            <a:solidFill>
              <a:srgbClr val="7C4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资料与文献核查：负责查找 Rose / UML 资料，校核概念、历史语境与引用规范。</a:t>
            </a:r>
            <a:endParaRPr lang="en-US" sz="111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713232" y="3108960"/>
            <a:ext cx="749808" cy="5669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蒋长麟</a:t>
            </a:r>
            <a:endParaRPr lang="en-US" sz="105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1499616" y="3054096"/>
            <a:ext cx="10003536" cy="676656"/>
          </a:xfrm>
          <a:prstGeom prst="rect">
            <a:avLst/>
          </a:prstGeom>
          <a:solidFill>
            <a:srgbClr val="FFF5E6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图示建模：负责把超算门户转成用例图、活动图、顺序图、类图、部署图示意。</a:t>
            </a:r>
            <a:endParaRPr lang="en-US" sz="111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713232" y="4050792"/>
            <a:ext cx="749808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陈许恺</a:t>
            </a:r>
            <a:endParaRPr lang="en-US" sz="105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1499616" y="3995928"/>
            <a:ext cx="10003536" cy="676656"/>
          </a:xfrm>
          <a:prstGeom prst="rect">
            <a:avLst/>
          </a:prstGeom>
          <a:solidFill>
            <a:srgbClr val="EAFBF5"/>
          </a:solidFill>
          <a:ln>
            <a:solidFill>
              <a:srgbClr val="10B98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项目结合与讲述设计：负责把项目计划书内容映射到工具分析，并整理演示口径。</a:t>
            </a:r>
            <a:endParaRPr lang="en-US" sz="111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713232" y="4992624"/>
            <a:ext cx="749808" cy="566928"/>
          </a:xfrm>
          <a:prstGeom prst="rect">
            <a:avLst/>
          </a:prstGeom>
          <a:solidFill>
            <a:srgbClr val="4F86FF"/>
          </a:solidFill>
          <a:ln>
            <a:solidFill>
              <a:srgbClr val="4F8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王涛</a:t>
            </a:r>
            <a:endParaRPr lang="en-US" sz="105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1499616" y="4937760"/>
            <a:ext cx="10003536" cy="676656"/>
          </a:xfrm>
          <a:prstGeom prst="rect">
            <a:avLst/>
          </a:prstGeom>
          <a:solidFill>
            <a:srgbClr val="EEF4FF"/>
          </a:solidFill>
          <a:ln>
            <a:solidFill>
              <a:srgbClr val="4F8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0213A"/>
                </a:solidFill>
              </a:rPr>
              <a:t>PPT整合与答疑准备：负责页面整合、美化统一、常见问题归纳与现场补充回答。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引注：[8]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601968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G06 · Rational Rose 专题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20400" y="6601968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E7887"/>
                </a:solidFill>
                <a:latin typeface="微软雅黑" panose="020B0503020204020204" charset="-122"/>
              </a:rPr>
              <a:t>成员评分</a:t>
            </a:r>
            <a:endParaRPr sz="700" b="0">
              <a:solidFill>
                <a:srgbClr val="6E788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14560" y="146304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1959FF"/>
                </a:solidFill>
                <a:latin typeface="微软雅黑" panose="020B0503020204020204" charset="-122"/>
              </a:rPr>
              <a:t>软件需求分析原理与实践｜第6组</a:t>
            </a:r>
            <a:endParaRPr sz="700" b="0">
              <a:solidFill>
                <a:srgbClr val="1959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86690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02B41"/>
                </a:solidFill>
                <a:latin typeface="微软雅黑" panose="020B0503020204020204" charset="-122"/>
              </a:rPr>
              <a:t>组内成员评分</a:t>
            </a:r>
            <a:endParaRPr sz="2200" b="1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10881360" cy="502920"/>
          </a:xfrm>
          <a:prstGeom prst="roundRect">
            <a:avLst/>
          </a:prstGeom>
          <a:solidFill>
            <a:srgbClr val="EBF1FF"/>
          </a:solidFill>
          <a:ln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评分说明：采用 5 分制。5=完成突出，4=按时完成，3=基本完成，2=参与较少，1=未完成。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06270" y="1849119"/>
            <a:ext cx="1188720" cy="457200"/>
          </a:xfrm>
          <a:prstGeom prst="rect">
            <a:avLst/>
          </a:prstGeom>
          <a:solidFill>
            <a:srgbClr val="19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姓名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94990" y="1849119"/>
            <a:ext cx="4754880" cy="457200"/>
          </a:xfrm>
          <a:prstGeom prst="rect">
            <a:avLst/>
          </a:prstGeom>
          <a:solidFill>
            <a:srgbClr val="7B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主要任务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49870" y="1849119"/>
            <a:ext cx="105156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自评分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01430" y="1849119"/>
            <a:ext cx="1005840" cy="457200"/>
          </a:xfrm>
          <a:prstGeom prst="rect">
            <a:avLst/>
          </a:prstGeom>
          <a:solidFill>
            <a:srgbClr val="24B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组评分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06270" y="2306320"/>
            <a:ext cx="118872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吴易骏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94990" y="2306320"/>
            <a:ext cx="475488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总体结构与统稿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849870" y="2306320"/>
            <a:ext cx="105156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5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01430" y="2306320"/>
            <a:ext cx="100584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4.9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06270" y="2946400"/>
            <a:ext cx="118872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肖泓宇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94990" y="2946400"/>
            <a:ext cx="475488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资料与文献核查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849870" y="2946400"/>
            <a:ext cx="105156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5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901430" y="2946400"/>
            <a:ext cx="100584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4.9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06270" y="3586479"/>
            <a:ext cx="118872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蒋长麟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94990" y="3586479"/>
            <a:ext cx="475488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图示建模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49870" y="3586479"/>
            <a:ext cx="105156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5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01430" y="3586479"/>
            <a:ext cx="100584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4.8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906270" y="4226559"/>
            <a:ext cx="118872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陈许恺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094990" y="4226559"/>
            <a:ext cx="475488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项目结合与讲述设计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49870" y="4226559"/>
            <a:ext cx="105156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5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901430" y="4226559"/>
            <a:ext cx="1005840" cy="640080"/>
          </a:xfrm>
          <a:prstGeom prst="rect">
            <a:avLst/>
          </a:prstGeom>
          <a:solidFill>
            <a:srgbClr val="F4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4.8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06270" y="4866640"/>
            <a:ext cx="118872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王涛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094990" y="4866640"/>
            <a:ext cx="475488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PPT整合与答疑准备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849870" y="4866640"/>
            <a:ext cx="105156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5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901430" y="4866640"/>
            <a:ext cx="1005840" cy="640080"/>
          </a:xfrm>
          <a:prstGeom prst="rect">
            <a:avLst/>
          </a:prstGeom>
          <a:solidFill>
            <a:srgbClr val="FAFBF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r>
              <a:rPr lang="en-US" sz="1100" b="0">
                <a:solidFill>
                  <a:srgbClr val="202B41"/>
                </a:solidFill>
                <a:latin typeface="微软雅黑" panose="020B0503020204020204" charset="-122"/>
              </a:rPr>
              <a:t>4.8</a:t>
            </a:r>
            <a:r>
              <a:rPr sz="1100" b="0">
                <a:solidFill>
                  <a:srgbClr val="202B41"/>
                </a:solidFill>
                <a:latin typeface="微软雅黑" panose="020B0503020204020204" charset="-122"/>
              </a:rPr>
              <a:t>__</a:t>
            </a:r>
            <a:endParaRPr sz="1100" b="0">
              <a:solidFill>
                <a:srgbClr val="202B4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13A"/>
                </a:solidFill>
              </a:rPr>
              <a:t>参考文献与资料来源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09760" y="192024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2F69FF"/>
                </a:solidFill>
              </a:rPr>
              <a:t>软件需求分析原理与实践｜第6组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475720" y="1828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F69FF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9255" y="1170305"/>
            <a:ext cx="11242040" cy="5230495"/>
          </a:xfrm>
          <a:prstGeom prst="rect">
            <a:avLst/>
          </a:prstGeom>
          <a:solidFill>
            <a:srgbClr val="FFFFFF"/>
          </a:solidFill>
          <a:ln>
            <a:solidFill>
              <a:srgbClr val="D9E4F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[1] OMG. UML 2.5.1 About-UML. https://www.omg.org/spec/UML/2.5.1/About-UML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[2] IBM Rational Rose Enterprise Edition Reviewer’s Guide (2003).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[3] IBM. Introduction to Visual Modeling Using Rational Rose.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[4] IBM Docs. User interface reference for Rose users.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[5] IBM Support. Rational Rose Data Modeler 7.0.x lifecycle page.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[6] IBM Support. IBM Rational Rose Professional Data Modeler 7.0.0.4 iFix003.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[7] IBM Docs / IBM product docs. Rose model migration / migration to newer Rational tools.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[8] 用户上传：超算中心运营管理门户网站-项目计划书评审汇报-优化版.pptx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[9] 用户上传：uml_clean_revised.pptx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[10] TACC Analysis Portal 文档与截图：https://docs.tacc.utexas.edu/tutorials/TAP/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0213A"/>
                </a:solidFill>
              </a:rPr>
              <a:t>  [11] Barcelona Supercomputing Center 数据中心图片（EOSC 新闻页引图）。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411480" y="6455664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49224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3"/>
                </a:solidFill>
              </a:rPr>
              <a:t>G06 · Rational Rose 专题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0" y="6492240"/>
            <a:ext cx="42062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83"/>
                </a:solidFill>
              </a:rPr>
              <a:t>本页即参考文献页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9FF"/>
          </a:solidFill>
          <a:ln w="12700">
            <a:solidFill>
              <a:srgbClr val="2F69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1234440"/>
            <a:ext cx="51206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谢谢大家</a:t>
            </a:r>
            <a:endParaRPr lang="en-US" sz="2800" dirty="0"/>
          </a:p>
        </p:txBody>
      </p:sp>
      <p:pic>
        <p:nvPicPr>
          <p:cNvPr id="6" name="Image 0" descr="/mnt/data/tacc-analysis-portal.png"/>
          <p:cNvPicPr>
            <a:picLocks noChangeAspect="1"/>
          </p:cNvPicPr>
          <p:nvPr/>
        </p:nvPicPr>
        <p:blipFill>
          <a:blip r:embed="rId1"/>
          <a:srcRect l="17766" r="17766"/>
          <a:stretch>
            <a:fillRect/>
          </a:stretch>
        </p:blipFill>
        <p:spPr>
          <a:xfrm>
            <a:off x="6400800" y="1005840"/>
            <a:ext cx="5074920" cy="4343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2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3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4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5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6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7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8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9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10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11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12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13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14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15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16.xml><?xml version="1.0" encoding="utf-8"?>
<p:tagLst xmlns:p="http://schemas.openxmlformats.org/presentationml/2006/main">
  <p:tag name="KSO_WM_DIAGRAM_VIRTUALLY_FRAME" val="{&quot;height&quot;:359.33,&quot;left&quot;:620.64,&quot;top&quot;:92.16,&quot;width&quot;:288}"/>
</p:tagLst>
</file>

<file path=ppt/tags/tag17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18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19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20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21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22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23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24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25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ags/tag26.xml><?xml version="1.0" encoding="utf-8"?>
<p:tagLst xmlns:p="http://schemas.openxmlformats.org/presentationml/2006/main">
  <p:tag name="KSO_WM_DIAGRAM_VIRTUALLY_FRAME" val="{&quot;height&quot;:349.92,&quot;left&quot;:56.160000000000004,&quot;top&quot;:92.16,&quot;width&quot;:84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6628</Words>
  <Application>WPS 演示</Application>
  <PresentationFormat>On-screen Show (16:9)</PresentationFormat>
  <Paragraphs>798</Paragraphs>
  <Slides>24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Noto Sans CJK SC</vt:lpstr>
      <vt:lpstr>FFont-Family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UML工具：Rational Rose——结合超算中心运营管理门户网站</dc:title>
  <dc:creator>OpenAI</dc:creator>
  <dc:subject>UML工具：Rational Rose</dc:subject>
  <cp:lastModifiedBy>忘忧区</cp:lastModifiedBy>
  <cp:revision>4</cp:revision>
  <dcterms:created xsi:type="dcterms:W3CDTF">2026-03-29T03:21:00Z</dcterms:created>
  <dcterms:modified xsi:type="dcterms:W3CDTF">2026-03-29T05:12:47Z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2052-12.1.0.25835</vt:lpwstr>
  </property>
  <property fmtid="{D5CDD505-2E9C-101B-9397-08002B2CF9AE}" pid="3" name="ICV">
    <vt:lpwstr>CB61A62748EE4C449BE693C53E23ABE0_12</vt:lpwstr>
  </property>
</Properties>
</file>