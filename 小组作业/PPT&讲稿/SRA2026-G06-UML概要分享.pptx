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封面背景与UML插图：用户提供的原始PPT素材（当前会话上传文件 SRA2026-G06-UML概要分享.pptx 内嵌图片）
- G06 logo：本次会话中根据用户需求生成的组徽图片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目录页根据本次汇报结构整理，无外部事实性内容。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OMG UML 2.5.1 About-UML: https://www.omg.org/spec/UML/2.5.1/About-UML
- OMG What is UML?: https://www.omg.org/uml/what-is-uml.htm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OMG UML 2.5.1 About-UML: https://www.omg.org/spec/UML/2.5.1/About-UML
- 本页分类方式结合课堂讲授习惯进行组织，用于教学展示。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OMG UML 2.5.1 About-UML: https://www.omg.org/spec/UML/2.5.1/About-UML
- 本页对“本项目最常用”的判断基于本组超算中心门户项目的需求分析场景。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本页用例图为根据本组“超算中心运营管理门户网站”项目自行绘制的示意图。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本页基于本组项目业务“资源申请—审批—结果反馈”进行建模说明。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课程周次与要求：根据用户提供的课程安排表和班级通知整理。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OMG UML 2.5.1 About-UML: https://www.omg.org/spec/UML/2.5.1/About-UML
- 本页“项目价值”结合本组超算中心运营管理门户网站项目的需求分析场景进行归纳。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本页为本组展示用的分工与评价模板，无外部事实性内容。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OMG UML 2.5.1 About-UML: https://www.omg.org/spec/UML/2.5.1/About-UML
- OMG UML Official Site: https://www.omg.org/uml/
- OMG What is UML?: https://www.omg.org/uml/what-is-uml.htm
- 课程安排与班级通知：用户提供材料
- 本组项目计划书 / 项目章程：本次会话生成并修订的课程作业文档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O5kEU1Yiv8Nmnqgvt6wT9bNi/2934202bc3a84c6a97eb1a8b71f229e4/mnt/data/uml_ppt_unzip/ppt/media/image1.png"/>
          <p:cNvPicPr>
            <a:picLocks noChangeAspect="1"/>
          </p:cNvPicPr>
          <p:nvPr/>
        </p:nvPicPr>
        <p:blipFill>
          <a:blip r:embed="rId1"/>
          <a:srcRect l="30267" r="3026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9">
              <a:alpha val="85000"/>
            </a:srgbClr>
          </a:solidFill>
          <a:ln w="12700">
            <a:solidFill>
              <a:srgbClr val="0B1F4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6928" y="100584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3388FF"/>
          </a:solidFill>
          <a:ln w="12700">
            <a:solidFill>
              <a:srgbClr val="3388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1051560"/>
            <a:ext cx="8686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翻转课堂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1536192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UML 概要分享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66928" y="2249297"/>
            <a:ext cx="4846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BE9FF"/>
                </a:solidFill>
              </a:rPr>
              <a:t>以“超算中心运营管理门户网站”为例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154680"/>
            <a:ext cx="4069080" cy="1243584"/>
          </a:xfrm>
          <a:prstGeom prst="roundRect">
            <a:avLst>
              <a:gd name="adj" fmla="val 8824"/>
            </a:avLst>
          </a:prstGeom>
          <a:solidFill>
            <a:srgbClr val="112A57"/>
          </a:solidFill>
          <a:ln w="12700">
            <a:solidFill>
              <a:srgbClr val="2E5AA5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3447288"/>
            <a:ext cx="36118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为什么项目在需求分析阶段需要 UML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哪些 UML 图最适合超算中心门户网站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• 后续课程周次里我们会如何逐步落地</a:t>
            </a:r>
            <a:endParaRPr lang="en-US" sz="1250" dirty="0"/>
          </a:p>
        </p:txBody>
      </p:sp>
      <p:pic>
        <p:nvPicPr>
          <p:cNvPr id="11" name="Image 1" descr="/mnt/data/user-O5kEU1Yiv8Nmnqgvt6wT9bNi/2934202bc3a84c6a97eb1a8b71f229e4/mnt/data/uml_ppt_unzip/ppt/media/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269402"/>
            <a:ext cx="3840480" cy="2033195"/>
          </a:xfrm>
          <a:prstGeom prst="rect">
            <a:avLst/>
          </a:prstGeom>
        </p:spPr>
      </p:pic>
      <p:pic>
        <p:nvPicPr>
          <p:cNvPr id="12" name="Image 2" descr="/mnt/data/a_digital_illustration_in_a_kawaii_cute_style_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5321808"/>
            <a:ext cx="1005840" cy="10058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" y="5074920"/>
            <a:ext cx="10835640" cy="0"/>
          </a:xfrm>
          <a:prstGeom prst="line">
            <a:avLst/>
          </a:prstGeom>
          <a:noFill/>
          <a:ln w="12700">
            <a:solidFill>
              <a:srgbClr val="8CB7FF">
                <a:alpha val="75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76656" y="5257800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第 6 组  |  G06  |  智算行者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76656" y="5550408"/>
            <a:ext cx="2743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7FF"/>
                </a:solidFill>
              </a:rPr>
              <a:t>软件需求分析原理与实践    </a:t>
            </a:r>
            <a:r>
              <a:rPr lang="zh-CN" altLang="en-US" sz="1050" dirty="0">
                <a:solidFill>
                  <a:srgbClr val="DCE7FF"/>
                </a:solidFill>
              </a:rPr>
              <a:t>汇报人：</a:t>
            </a:r>
            <a:r>
              <a:rPr lang="zh-CN" altLang="en-US" sz="1050" dirty="0">
                <a:solidFill>
                  <a:schemeClr val="bg1"/>
                </a:solidFill>
                <a:sym typeface="+mn-ea"/>
              </a:rPr>
              <a:t>肖泓宇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76656" y="5806440"/>
            <a:ext cx="32918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>
                <a:solidFill>
                  <a:schemeClr val="bg1"/>
                </a:solidFill>
              </a:rPr>
              <a:t>吴易骏，肖泓宇，蒋长麟，陈许恺，</a:t>
            </a:r>
            <a:r>
              <a:rPr lang="zh-CN" altLang="en-US" sz="1050" dirty="0">
                <a:solidFill>
                  <a:schemeClr val="bg1"/>
                </a:solidFill>
              </a:rPr>
              <a:t>王涛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7" name="Text 12"/>
          <p:cNvSpPr/>
          <p:nvPr/>
        </p:nvSpPr>
        <p:spPr>
          <a:xfrm>
            <a:off x="8458200" y="5715000"/>
            <a:ext cx="1783080" cy="365760"/>
          </a:xfrm>
          <a:prstGeom prst="rect">
            <a:avLst/>
          </a:prstGeom>
          <a:solidFill>
            <a:srgbClr val="1A4FB8"/>
          </a:solidFill>
          <a:ln>
            <a:solidFill>
              <a:srgbClr val="1A4FB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需求分析 · UML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O5kEU1Yiv8Nmnqgvt6wT9bNi/2934202bc3a84c6a97eb1a8b71f229e4/mnt/data/uml_ppt_unzip/ppt/media/image1.png"/>
          <p:cNvPicPr>
            <a:picLocks noChangeAspect="1"/>
          </p:cNvPicPr>
          <p:nvPr/>
        </p:nvPicPr>
        <p:blipFill>
          <a:blip r:embed="rId1"/>
          <a:srcRect t="36824" b="36824"/>
          <a:stretch>
            <a:fillRect/>
          </a:stretch>
        </p:blipFill>
        <p:spPr>
          <a:xfrm>
            <a:off x="0" y="0"/>
            <a:ext cx="12191695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82880"/>
            <a:ext cx="6309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89720" y="210312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E8FF"/>
                </a:solidFill>
              </a:rPr>
              <a:t>软件需求分析原理与实践 · G06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58368" y="1143000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1316736"/>
            <a:ext cx="749808" cy="384048"/>
          </a:xfrm>
          <a:prstGeom prst="rect">
            <a:avLst/>
          </a:prstGeom>
          <a:solidFill>
            <a:srgbClr val="1769FF"/>
          </a:solidFill>
          <a:ln>
            <a:solidFill>
              <a:srgbClr val="1769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10512" y="1252728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UML 是什么、为什么需要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10512" y="1527048"/>
            <a:ext cx="7955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</a:rPr>
              <a:t>先建立统一概念，明确它在需求分析阶段的作用。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58368" y="2075688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8680" y="2249424"/>
            <a:ext cx="749808" cy="384048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810512" y="2185416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UML 图分类与常见图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810512" y="2459736"/>
            <a:ext cx="7955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</a:rPr>
              <a:t>梳理结构图、行为图，以及课堂常讲的交互相关图。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8368" y="3008376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68680" y="3182112"/>
            <a:ext cx="749808" cy="384048"/>
          </a:xfrm>
          <a:prstGeom prst="rect">
            <a:avLst/>
          </a:prstGeom>
          <a:solidFill>
            <a:srgbClr val="32C48D"/>
          </a:solidFill>
          <a:ln>
            <a:solidFill>
              <a:srgbClr val="32C48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810512" y="3118104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结合项目看 UML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810512" y="3392424"/>
            <a:ext cx="7955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</a:rPr>
              <a:t>把超算门户中的角色、流程、对象映射到图上。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8368" y="3941064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68680" y="4114800"/>
            <a:ext cx="749808" cy="384048"/>
          </a:xfrm>
          <a:prstGeom prst="rect">
            <a:avLst/>
          </a:prstGeom>
          <a:solidFill>
            <a:srgbClr val="FF9F43"/>
          </a:solidFill>
          <a:ln>
            <a:solidFill>
              <a:srgbClr val="FF9F4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810512" y="4050792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推进计划与项目价值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810512" y="4325112"/>
            <a:ext cx="7955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</a:rPr>
              <a:t>结合课程周次说明本组后续如何逐步完成 UML 作业。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58368" y="4873752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68680" y="5047488"/>
            <a:ext cx="749808" cy="384048"/>
          </a:xfrm>
          <a:prstGeom prst="rect">
            <a:avLst/>
          </a:prstGeom>
          <a:solidFill>
            <a:srgbClr val="29B6F6"/>
          </a:solidFill>
          <a:ln>
            <a:solidFill>
              <a:srgbClr val="29B6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810512" y="4983480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组内评价与参考资料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810512" y="5257800"/>
            <a:ext cx="79552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</a:rPr>
              <a:t>补充分工、评价方式和资料来源，便于评审检查。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0927080" y="6528816"/>
            <a:ext cx="8229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AA0"/>
                </a:solidFill>
              </a:rPr>
              <a:t>第 2 页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O5kEU1Yiv8Nmnqgvt6wT9bNi/2934202bc3a84c6a97eb1a8b71f229e4/mnt/data/uml_ppt_unzip/ppt/media/image1.png"/>
          <p:cNvPicPr>
            <a:picLocks noChangeAspect="1"/>
          </p:cNvPicPr>
          <p:nvPr/>
        </p:nvPicPr>
        <p:blipFill>
          <a:blip r:embed="rId1"/>
          <a:srcRect t="36824" b="36824"/>
          <a:stretch>
            <a:fillRect/>
          </a:stretch>
        </p:blipFill>
        <p:spPr>
          <a:xfrm>
            <a:off x="0" y="0"/>
            <a:ext cx="12191695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82880"/>
            <a:ext cx="6309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什么是 UML？为什么项目需要 UML？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89720" y="210312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E8FF"/>
                </a:solidFill>
              </a:rPr>
              <a:t>软件需求分析原理与实践 · G06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58368" y="1024128"/>
            <a:ext cx="6400800" cy="1847088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6112" y="1261872"/>
            <a:ext cx="5870448" cy="109728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UML（Unified Modeling Language，统一建模语言）是软件与系统建模中广泛使用的一套标准化语言。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它的核心价值不是“画得好看”，而是把抽象的需求、角色、流程和对象关系用统一方式表达出来，便于分析、沟通和后续设计。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2404872"/>
            <a:ext cx="55778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结合官方定义，可把它理解为：帮助团队“可视化、规范化、可交流”地描述系统。</a:t>
            </a:r>
            <a:endParaRPr lang="en-US" sz="1050" dirty="0"/>
          </a:p>
        </p:txBody>
      </p:sp>
      <p:pic>
        <p:nvPicPr>
          <p:cNvPr id="10" name="Image 1" descr="/mnt/data/user-O5kEU1Yiv8Nmnqgvt6wT9bNi/2934202bc3a84c6a97eb1a8b71f229e4/mnt/data/uml_ppt_unzip/ppt/media/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220" y="1051560"/>
            <a:ext cx="3540760" cy="18745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" y="3273552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EAF2FF"/>
          </a:solidFill>
          <a:ln w="12700">
            <a:solidFill>
              <a:srgbClr val="1769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024128" y="3520440"/>
            <a:ext cx="384048" cy="384048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24128" y="3529584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481328" y="3493008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</a:rPr>
              <a:t>可视化梳理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024128" y="3913632"/>
            <a:ext cx="2340864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B6472"/>
                </a:solidFill>
              </a:rPr>
              <a:t>把角色、流程和对象关系从长段文字中抽离出来，看得更清楚。</a:t>
            </a:r>
            <a:endParaRPr lang="en-US" sz="1120" dirty="0"/>
          </a:p>
        </p:txBody>
      </p:sp>
      <p:sp>
        <p:nvSpPr>
          <p:cNvPr id="16" name="Shape 12"/>
          <p:cNvSpPr/>
          <p:nvPr/>
        </p:nvSpPr>
        <p:spPr>
          <a:xfrm>
            <a:off x="4023360" y="3273552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24528" y="3520440"/>
            <a:ext cx="384048" cy="38404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24528" y="3529584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681728" y="3493008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</a:rPr>
              <a:t>统一表达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224528" y="3913632"/>
            <a:ext cx="2340864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B6472"/>
                </a:solidFill>
              </a:rPr>
              <a:t>让组员、老师和评审围绕同一套表示法交流，减少理解偏差。</a:t>
            </a:r>
            <a:endParaRPr lang="en-US" sz="1120" dirty="0"/>
          </a:p>
        </p:txBody>
      </p:sp>
      <p:sp>
        <p:nvSpPr>
          <p:cNvPr id="21" name="Shape 17"/>
          <p:cNvSpPr/>
          <p:nvPr/>
        </p:nvSpPr>
        <p:spPr>
          <a:xfrm>
            <a:off x="7223760" y="3273552"/>
            <a:ext cx="2788920" cy="1627632"/>
          </a:xfrm>
          <a:prstGeom prst="roundRect">
            <a:avLst>
              <a:gd name="adj" fmla="val 6742"/>
            </a:avLst>
          </a:prstGeom>
          <a:solidFill>
            <a:srgbClr val="EAFBF5"/>
          </a:solidFill>
          <a:ln w="12700">
            <a:solidFill>
              <a:srgbClr val="32C48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424928" y="3520440"/>
            <a:ext cx="384048" cy="384048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424928" y="3529584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882128" y="3493008"/>
            <a:ext cx="1737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</a:rPr>
              <a:t>衔接后续交付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7424928" y="3913632"/>
            <a:ext cx="2340864" cy="658368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B6472"/>
                </a:solidFill>
              </a:rPr>
              <a:t>为用例图、类图、SRS、原型和答辩提供稳定基础。</a:t>
            </a:r>
            <a:endParaRPr lang="en-US" sz="1120" dirty="0"/>
          </a:p>
        </p:txBody>
      </p:sp>
      <p:sp>
        <p:nvSpPr>
          <p:cNvPr id="26" name="Shape 22"/>
          <p:cNvSpPr/>
          <p:nvPr/>
        </p:nvSpPr>
        <p:spPr>
          <a:xfrm>
            <a:off x="8366760" y="5760720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FFF7E8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94776" y="5897880"/>
            <a:ext cx="475488" cy="256032"/>
          </a:xfrm>
          <a:prstGeom prst="rect">
            <a:avLst/>
          </a:prstGeom>
          <a:solidFill>
            <a:srgbClr val="FF9F43"/>
          </a:solidFill>
          <a:ln>
            <a:solidFill>
              <a:srgbClr val="FF9F4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9052560" y="5852160"/>
            <a:ext cx="2423160" cy="5486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UML 是编程语言吗？它与普通流程图最大的差异是什么？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0927080" y="6528816"/>
            <a:ext cx="8229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AA0"/>
                </a:solidFill>
              </a:rPr>
              <a:t>第 3 页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O5kEU1Yiv8Nmnqgvt6wT9bNi/2934202bc3a84c6a97eb1a8b71f229e4/mnt/data/uml_ppt_unzip/ppt/media/image1.png"/>
          <p:cNvPicPr>
            <a:picLocks noChangeAspect="1"/>
          </p:cNvPicPr>
          <p:nvPr/>
        </p:nvPicPr>
        <p:blipFill>
          <a:blip r:embed="rId1"/>
          <a:srcRect t="36824" b="36824"/>
          <a:stretch>
            <a:fillRect/>
          </a:stretch>
        </p:blipFill>
        <p:spPr>
          <a:xfrm>
            <a:off x="0" y="0"/>
            <a:ext cx="12191695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82880"/>
            <a:ext cx="6309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UML 图谱总览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89720" y="210312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E8FF"/>
                </a:solidFill>
              </a:rPr>
              <a:t>软件需求分析原理与实践 · G06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58368" y="1234440"/>
            <a:ext cx="3090672" cy="3840480"/>
          </a:xfrm>
          <a:prstGeom prst="roundRect">
            <a:avLst>
              <a:gd name="adj" fmla="val 3550"/>
            </a:avLst>
          </a:prstGeom>
          <a:solidFill>
            <a:srgbClr val="EAF2FF"/>
          </a:solidFill>
          <a:ln w="12700">
            <a:solidFill>
              <a:srgbClr val="1769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9536" y="1453896"/>
            <a:ext cx="841248" cy="292608"/>
          </a:xfrm>
          <a:prstGeom prst="rect">
            <a:avLst/>
          </a:prstGeom>
          <a:solidFill>
            <a:srgbClr val="1769FF"/>
          </a:solidFill>
          <a:ln>
            <a:solidFill>
              <a:srgbClr val="1769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结构图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9536" y="1892808"/>
            <a:ext cx="2633472" cy="1965960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类图：核心实体与关系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对象图：某时刻对象实例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构件图：模块组成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部署图：节点与运行环境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包图：系统分层与组织</a:t>
            </a:r>
            <a:endParaRPr lang="en-US" sz="1230" dirty="0"/>
          </a:p>
        </p:txBody>
      </p:sp>
      <p:sp>
        <p:nvSpPr>
          <p:cNvPr id="10" name="Shape 7"/>
          <p:cNvSpPr/>
          <p:nvPr/>
        </p:nvSpPr>
        <p:spPr>
          <a:xfrm>
            <a:off x="859536" y="4187952"/>
            <a:ext cx="2596896" cy="0"/>
          </a:xfrm>
          <a:prstGeom prst="line">
            <a:avLst/>
          </a:prstGeom>
          <a:noFill/>
          <a:ln w="12700">
            <a:solidFill>
              <a:srgbClr val="1769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4334256"/>
            <a:ext cx="2578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472"/>
                </a:solidFill>
              </a:rPr>
              <a:t>更适合回答“系统由什么组成”。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4087368" y="1234440"/>
            <a:ext cx="3090672" cy="3840480"/>
          </a:xfrm>
          <a:prstGeom prst="roundRect">
            <a:avLst>
              <a:gd name="adj" fmla="val 3550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288536" y="1453896"/>
            <a:ext cx="841248" cy="292608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行为图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88536" y="1892808"/>
            <a:ext cx="2633472" cy="1965960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用例图：谁在使用系统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活动图：业务流程推进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状态图：对象状态变化</a:t>
            </a:r>
            <a:endParaRPr lang="en-US" sz="1230" dirty="0"/>
          </a:p>
        </p:txBody>
      </p:sp>
      <p:sp>
        <p:nvSpPr>
          <p:cNvPr id="15" name="Shape 12"/>
          <p:cNvSpPr/>
          <p:nvPr/>
        </p:nvSpPr>
        <p:spPr>
          <a:xfrm>
            <a:off x="4288536" y="4187952"/>
            <a:ext cx="2596896" cy="0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88536" y="4334256"/>
            <a:ext cx="2578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472"/>
                </a:solidFill>
              </a:rPr>
              <a:t>更适合回答“系统做什么、如何变化”。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7516368" y="1234440"/>
            <a:ext cx="3090672" cy="3840480"/>
          </a:xfrm>
          <a:prstGeom prst="roundRect">
            <a:avLst>
              <a:gd name="adj" fmla="val 3550"/>
            </a:avLst>
          </a:prstGeom>
          <a:solidFill>
            <a:srgbClr val="EAF8FF"/>
          </a:solidFill>
          <a:ln w="12700">
            <a:solidFill>
              <a:srgbClr val="29B6F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17536" y="1453896"/>
            <a:ext cx="841248" cy="292608"/>
          </a:xfrm>
          <a:prstGeom prst="rect">
            <a:avLst/>
          </a:prstGeom>
          <a:solidFill>
            <a:srgbClr val="29B6F6"/>
          </a:solidFill>
          <a:ln>
            <a:solidFill>
              <a:srgbClr val="29B6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交互相关图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17536" y="1892808"/>
            <a:ext cx="2633472" cy="1965960"/>
          </a:xfrm>
          <a:prstGeom prst="rect">
            <a:avLst/>
          </a:prstGeom>
          <a:noFill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顺序图：消息先后顺序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通信图：对象协作关系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</a:rPr>
              <a:t>• 交互概览图 / 定时图</a:t>
            </a:r>
            <a:endParaRPr lang="en-US" sz="1230" dirty="0"/>
          </a:p>
        </p:txBody>
      </p:sp>
      <p:sp>
        <p:nvSpPr>
          <p:cNvPr id="20" name="Shape 17"/>
          <p:cNvSpPr/>
          <p:nvPr/>
        </p:nvSpPr>
        <p:spPr>
          <a:xfrm>
            <a:off x="7717536" y="4187952"/>
            <a:ext cx="2596896" cy="0"/>
          </a:xfrm>
          <a:prstGeom prst="line">
            <a:avLst/>
          </a:prstGeom>
          <a:noFill/>
          <a:ln w="12700">
            <a:solidFill>
              <a:srgbClr val="29B6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17536" y="4334256"/>
            <a:ext cx="257860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472"/>
                </a:solidFill>
              </a:rPr>
              <a:t>课堂中常单列讨论，便于理解对象之间如何传递消息。</a:t>
            </a:r>
            <a:endParaRPr lang="en-US" sz="1060" dirty="0"/>
          </a:p>
        </p:txBody>
      </p:sp>
      <p:sp>
        <p:nvSpPr>
          <p:cNvPr id="22" name="Text 19"/>
          <p:cNvSpPr/>
          <p:nvPr/>
        </p:nvSpPr>
        <p:spPr>
          <a:xfrm>
            <a:off x="804672" y="5358384"/>
            <a:ext cx="7315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384"/>
                </a:solidFill>
              </a:rPr>
              <a:t>说明：为便于课堂理解，这里把“交互相关图”单独拿出来讲；实际使用时，它们通常服务于对系统行为和对象消息传递的表达。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366760" y="5760720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FFF7E8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94776" y="5897880"/>
            <a:ext cx="475488" cy="256032"/>
          </a:xfrm>
          <a:prstGeom prst="rect">
            <a:avLst/>
          </a:prstGeom>
          <a:solidFill>
            <a:srgbClr val="FF9F43"/>
          </a:solidFill>
          <a:ln>
            <a:solidFill>
              <a:srgbClr val="FF9F4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52560" y="5852160"/>
            <a:ext cx="2423160" cy="5486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用例图与顺序图分别更适合回答哪一类问题？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927080" y="6528816"/>
            <a:ext cx="8229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AA0"/>
                </a:solidFill>
              </a:rPr>
              <a:t>第 4 页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O5kEU1Yiv8Nmnqgvt6wT9bNi/2934202bc3a84c6a97eb1a8b71f229e4/mnt/data/uml_ppt_unzip/ppt/media/image1.png"/>
          <p:cNvPicPr>
            <a:picLocks noChangeAspect="1"/>
          </p:cNvPicPr>
          <p:nvPr/>
        </p:nvPicPr>
        <p:blipFill>
          <a:blip r:embed="rId1"/>
          <a:srcRect t="36824" b="36824"/>
          <a:stretch>
            <a:fillRect/>
          </a:stretch>
        </p:blipFill>
        <p:spPr>
          <a:xfrm>
            <a:off x="0" y="0"/>
            <a:ext cx="12191695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82880"/>
            <a:ext cx="6309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本项目最常用的 6 类 UML 图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89720" y="210312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E8FF"/>
                </a:solidFill>
              </a:rPr>
              <a:t>软件需求分析原理与实践 · G06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61872"/>
            <a:ext cx="3291840" cy="1335024"/>
          </a:xfrm>
          <a:prstGeom prst="roundRect">
            <a:avLst>
              <a:gd name="adj" fmla="val 8219"/>
            </a:avLst>
          </a:prstGeom>
          <a:solidFill>
            <a:srgbClr val="EAF2FF"/>
          </a:solidFill>
          <a:ln w="12700">
            <a:solidFill>
              <a:srgbClr val="1769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96112" y="1444752"/>
            <a:ext cx="384048" cy="384048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453896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1426464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</a:rPr>
              <a:t>用例图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96112" y="1837944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5B6472"/>
                </a:solidFill>
              </a:rPr>
              <a:t>回答“谁在用系统、能做什么”。最适合早期梳理功能边界。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4480560" y="1261872"/>
            <a:ext cx="3291840" cy="1335024"/>
          </a:xfrm>
          <a:prstGeom prst="roundRect">
            <a:avLst>
              <a:gd name="adj" fmla="val 8219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444752"/>
            <a:ext cx="384048" cy="38404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1453896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38928" y="1426464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</a:rPr>
              <a:t>类图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663440" y="1837944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5B6472"/>
                </a:solidFill>
              </a:rPr>
              <a:t>回答“有哪些核心对象、对象如何关联”。</a:t>
            </a:r>
            <a:endParaRPr lang="en-US" sz="1090" dirty="0"/>
          </a:p>
        </p:txBody>
      </p:sp>
      <p:sp>
        <p:nvSpPr>
          <p:cNvPr id="17" name="Shape 14"/>
          <p:cNvSpPr/>
          <p:nvPr/>
        </p:nvSpPr>
        <p:spPr>
          <a:xfrm>
            <a:off x="8247888" y="1261872"/>
            <a:ext cx="3291840" cy="1335024"/>
          </a:xfrm>
          <a:prstGeom prst="roundRect">
            <a:avLst>
              <a:gd name="adj" fmla="val 8219"/>
            </a:avLst>
          </a:prstGeom>
          <a:solidFill>
            <a:srgbClr val="FFF3E8"/>
          </a:solidFill>
          <a:ln w="12700">
            <a:solidFill>
              <a:srgbClr val="FF9F4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30768" y="1444752"/>
            <a:ext cx="384048" cy="38404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30768" y="1453896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906256" y="1426464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</a:rPr>
              <a:t>活动图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430768" y="1837944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5B6472"/>
                </a:solidFill>
              </a:rPr>
              <a:t>回答“业务流程怎么推进，条件分支在哪里”。</a:t>
            </a:r>
            <a:endParaRPr lang="en-US" sz="1090" dirty="0"/>
          </a:p>
        </p:txBody>
      </p:sp>
      <p:sp>
        <p:nvSpPr>
          <p:cNvPr id="22" name="Shape 19"/>
          <p:cNvSpPr/>
          <p:nvPr/>
        </p:nvSpPr>
        <p:spPr>
          <a:xfrm>
            <a:off x="713232" y="2889504"/>
            <a:ext cx="3291840" cy="1335024"/>
          </a:xfrm>
          <a:prstGeom prst="roundRect">
            <a:avLst>
              <a:gd name="adj" fmla="val 8219"/>
            </a:avLst>
          </a:prstGeom>
          <a:solidFill>
            <a:srgbClr val="EAF8FF"/>
          </a:solidFill>
          <a:ln w="12700">
            <a:solidFill>
              <a:srgbClr val="29B6F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96112" y="3072384"/>
            <a:ext cx="384048" cy="38404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6112" y="3081528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371600" y="3054096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</a:rPr>
              <a:t>顺序图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896112" y="3465576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5B6472"/>
                </a:solidFill>
              </a:rPr>
              <a:t>回答“对象之间的消息先后顺序是什么”。</a:t>
            </a:r>
            <a:endParaRPr lang="en-US" sz="1090" dirty="0"/>
          </a:p>
        </p:txBody>
      </p:sp>
      <p:sp>
        <p:nvSpPr>
          <p:cNvPr id="27" name="Shape 24"/>
          <p:cNvSpPr/>
          <p:nvPr/>
        </p:nvSpPr>
        <p:spPr>
          <a:xfrm>
            <a:off x="4480560" y="2889504"/>
            <a:ext cx="3291840" cy="1335024"/>
          </a:xfrm>
          <a:prstGeom prst="roundRect">
            <a:avLst>
              <a:gd name="adj" fmla="val 8219"/>
            </a:avLst>
          </a:prstGeom>
          <a:solidFill>
            <a:srgbClr val="EAFBF5"/>
          </a:solidFill>
          <a:ln w="12700">
            <a:solidFill>
              <a:srgbClr val="32C48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3072384"/>
            <a:ext cx="384048" cy="384048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63440" y="3081528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138928" y="3054096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</a:rPr>
              <a:t>状态图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4663440" y="3465576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5B6472"/>
                </a:solidFill>
              </a:rPr>
              <a:t>回答“对象会经历哪些状态变化”。</a:t>
            </a:r>
            <a:endParaRPr lang="en-US" sz="1090" dirty="0"/>
          </a:p>
        </p:txBody>
      </p:sp>
      <p:sp>
        <p:nvSpPr>
          <p:cNvPr id="32" name="Shape 29"/>
          <p:cNvSpPr/>
          <p:nvPr/>
        </p:nvSpPr>
        <p:spPr>
          <a:xfrm>
            <a:off x="8247888" y="2889504"/>
            <a:ext cx="3291840" cy="1335024"/>
          </a:xfrm>
          <a:prstGeom prst="roundRect">
            <a:avLst>
              <a:gd name="adj" fmla="val 8219"/>
            </a:avLst>
          </a:prstGeom>
          <a:solidFill>
            <a:srgbClr val="EEF2FF"/>
          </a:solidFill>
          <a:ln w="12700">
            <a:solidFill>
              <a:srgbClr val="6478D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430768" y="3072384"/>
            <a:ext cx="384048" cy="384048"/>
          </a:xfrm>
          <a:prstGeom prst="ellipse">
            <a:avLst/>
          </a:prstGeom>
          <a:solidFill>
            <a:srgbClr val="6478D3"/>
          </a:solidFill>
          <a:ln w="12700">
            <a:solidFill>
              <a:srgbClr val="6478D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30768" y="3081528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906256" y="3054096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</a:rPr>
              <a:t>部署图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8430768" y="3465576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5B6472"/>
                </a:solidFill>
              </a:rPr>
              <a:t>回答“系统最终运行在什么节点和环境上”。</a:t>
            </a:r>
            <a:endParaRPr lang="en-US" sz="1090" dirty="0"/>
          </a:p>
        </p:txBody>
      </p:sp>
      <p:sp>
        <p:nvSpPr>
          <p:cNvPr id="37" name="Text 34"/>
          <p:cNvSpPr/>
          <p:nvPr/>
        </p:nvSpPr>
        <p:spPr>
          <a:xfrm>
            <a:off x="822960" y="4892040"/>
            <a:ext cx="73152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</a:rPr>
              <a:t>就“超算中心运营管理门户网站”而言，最先落地的通常是：用例图 → 活动/顺序图 → 类图；部署图往往在系统结构更清晰后再补充。</a:t>
            </a:r>
            <a:endParaRPr lang="en-US" sz="1080" dirty="0"/>
          </a:p>
        </p:txBody>
      </p:sp>
      <p:sp>
        <p:nvSpPr>
          <p:cNvPr id="38" name="Shape 35"/>
          <p:cNvSpPr/>
          <p:nvPr/>
        </p:nvSpPr>
        <p:spPr>
          <a:xfrm>
            <a:off x="8366760" y="5760720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FFF7E8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494776" y="5897880"/>
            <a:ext cx="475488" cy="256032"/>
          </a:xfrm>
          <a:prstGeom prst="rect">
            <a:avLst/>
          </a:prstGeom>
          <a:solidFill>
            <a:srgbClr val="FF9F43"/>
          </a:solidFill>
          <a:ln>
            <a:solidFill>
              <a:srgbClr val="FF9F4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Q3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9052560" y="5852160"/>
            <a:ext cx="2423160" cy="5486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如果现在只能先画一种图来澄清超算门户需求，你会选哪一种？为什么？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0927080" y="6528816"/>
            <a:ext cx="8229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AA0"/>
                </a:solidFill>
              </a:rPr>
              <a:t>第 5 页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O5kEU1Yiv8Nmnqgvt6wT9bNi/2934202bc3a84c6a97eb1a8b71f229e4/mnt/data/uml_ppt_unzip/ppt/media/image1.png"/>
          <p:cNvPicPr>
            <a:picLocks noChangeAspect="1"/>
          </p:cNvPicPr>
          <p:nvPr/>
        </p:nvPicPr>
        <p:blipFill>
          <a:blip r:embed="rId1"/>
          <a:srcRect t="36824" b="36824"/>
          <a:stretch>
            <a:fillRect/>
          </a:stretch>
        </p:blipFill>
        <p:spPr>
          <a:xfrm>
            <a:off x="0" y="0"/>
            <a:ext cx="12191695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82880"/>
            <a:ext cx="6309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结合项目看 UML：角色与业务场景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89720" y="210312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E8FF"/>
                </a:solidFill>
              </a:rPr>
              <a:t>软件需求分析原理与实践 · G06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85800" y="1325880"/>
            <a:ext cx="2761488" cy="1078992"/>
          </a:xfrm>
          <a:prstGeom prst="roundRect">
            <a:avLst>
              <a:gd name="adj" fmla="val 10169"/>
            </a:avLst>
          </a:prstGeom>
          <a:solidFill>
            <a:srgbClr val="EAF2FF"/>
          </a:solidFill>
          <a:ln w="12700">
            <a:solidFill>
              <a:srgbClr val="1769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96112" y="1490472"/>
            <a:ext cx="384048" cy="384048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499616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1472184"/>
            <a:ext cx="1188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</a:rPr>
              <a:t>普通用户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353312" y="1819656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提交资源申请、查看审批结果、查看作业状态、下载结果报表。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2697480"/>
            <a:ext cx="2761488" cy="1078992"/>
          </a:xfrm>
          <a:prstGeom prst="roundRect">
            <a:avLst>
              <a:gd name="adj" fmla="val 10169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96112" y="2862072"/>
            <a:ext cx="384048" cy="38404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2871216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0" y="2843784"/>
            <a:ext cx="1188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</a:rPr>
              <a:t>管理员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353312" y="3191256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维护用户与权限、发布公告、管理资源、查看运营统计。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5800" y="4069080"/>
            <a:ext cx="2761488" cy="1078992"/>
          </a:xfrm>
          <a:prstGeom prst="roundRect">
            <a:avLst>
              <a:gd name="adj" fmla="val 10169"/>
            </a:avLst>
          </a:prstGeom>
          <a:solidFill>
            <a:srgbClr val="EAF8FF"/>
          </a:solidFill>
          <a:ln w="12700">
            <a:solidFill>
              <a:srgbClr val="29B6F6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96112" y="4233672"/>
            <a:ext cx="384048" cy="384048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6112" y="4242816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71600" y="4215384"/>
            <a:ext cx="11887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</a:rPr>
              <a:t>审批人员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353312" y="4562856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</a:rPr>
              <a:t>审核资源申请、给出审批意见、跟踪处理状态。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794760" y="1097280"/>
            <a:ext cx="7635240" cy="4370832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12700">
            <a:solidFill>
              <a:srgbClr val="1769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016752" y="1225296"/>
            <a:ext cx="3108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69FF"/>
                </a:solidFill>
              </a:rPr>
              <a:t>超算中心运营管理门户网站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33672" y="2203704"/>
            <a:ext cx="0" cy="201168"/>
          </a:xfrm>
          <a:prstGeom prst="line">
            <a:avLst/>
          </a:prstGeom>
          <a:noFill/>
          <a:ln w="12700">
            <a:solidFill>
              <a:srgbClr val="1769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33672" y="2404872"/>
            <a:ext cx="0" cy="274320"/>
          </a:xfrm>
          <a:prstGeom prst="line">
            <a:avLst/>
          </a:prstGeom>
          <a:noFill/>
          <a:ln w="12700">
            <a:solidFill>
              <a:srgbClr val="1769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87368" y="2478024"/>
            <a:ext cx="292608" cy="0"/>
          </a:xfrm>
          <a:prstGeom prst="line">
            <a:avLst/>
          </a:prstGeom>
          <a:noFill/>
          <a:ln w="12700">
            <a:solidFill>
              <a:srgbClr val="1769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23944" y="2679192"/>
            <a:ext cx="109728" cy="182880"/>
          </a:xfrm>
          <a:prstGeom prst="line">
            <a:avLst/>
          </a:prstGeom>
          <a:noFill/>
          <a:ln w="12700">
            <a:solidFill>
              <a:srgbClr val="1769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33672" y="2679192"/>
            <a:ext cx="109728" cy="182880"/>
          </a:xfrm>
          <a:prstGeom prst="line">
            <a:avLst/>
          </a:prstGeom>
          <a:noFill/>
          <a:ln w="12700">
            <a:solidFill>
              <a:srgbClr val="1769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42232" y="2039112"/>
            <a:ext cx="182880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04488" y="3044952"/>
            <a:ext cx="658368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普通用户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233672" y="4206240"/>
            <a:ext cx="0" cy="201168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33672" y="4407408"/>
            <a:ext cx="0" cy="274320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087368" y="4480560"/>
            <a:ext cx="292608" cy="0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123944" y="4681728"/>
            <a:ext cx="109728" cy="182880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33672" y="4681728"/>
            <a:ext cx="109728" cy="182880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42232" y="4041648"/>
            <a:ext cx="182880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904488" y="5047488"/>
            <a:ext cx="658368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管理员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10881360" y="3163824"/>
            <a:ext cx="0" cy="201168"/>
          </a:xfrm>
          <a:prstGeom prst="line">
            <a:avLst/>
          </a:prstGeom>
          <a:noFill/>
          <a:ln w="12700">
            <a:solidFill>
              <a:srgbClr val="29B6F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881360" y="3364992"/>
            <a:ext cx="0" cy="274320"/>
          </a:xfrm>
          <a:prstGeom prst="line">
            <a:avLst/>
          </a:prstGeom>
          <a:noFill/>
          <a:ln w="12700">
            <a:solidFill>
              <a:srgbClr val="29B6F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735056" y="3438144"/>
            <a:ext cx="292608" cy="0"/>
          </a:xfrm>
          <a:prstGeom prst="line">
            <a:avLst/>
          </a:prstGeom>
          <a:noFill/>
          <a:ln w="12700">
            <a:solidFill>
              <a:srgbClr val="29B6F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771632" y="3639312"/>
            <a:ext cx="109728" cy="182880"/>
          </a:xfrm>
          <a:prstGeom prst="line">
            <a:avLst/>
          </a:prstGeom>
          <a:noFill/>
          <a:ln w="12700">
            <a:solidFill>
              <a:srgbClr val="29B6F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881360" y="3639312"/>
            <a:ext cx="109728" cy="182880"/>
          </a:xfrm>
          <a:prstGeom prst="line">
            <a:avLst/>
          </a:prstGeom>
          <a:noFill/>
          <a:ln w="12700">
            <a:solidFill>
              <a:srgbClr val="29B6F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789920" y="2999232"/>
            <a:ext cx="182880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52176" y="4005072"/>
            <a:ext cx="658368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审批人员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532120" y="1993392"/>
            <a:ext cx="141732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7FAE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532120" y="205740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</a:rPr>
              <a:t>提交资源申请</a:t>
            </a:r>
            <a:endParaRPr lang="en-US" sz="1030" dirty="0"/>
          </a:p>
        </p:txBody>
      </p:sp>
      <p:sp>
        <p:nvSpPr>
          <p:cNvPr id="47" name="Shape 44"/>
          <p:cNvSpPr/>
          <p:nvPr/>
        </p:nvSpPr>
        <p:spPr>
          <a:xfrm>
            <a:off x="7360920" y="1993392"/>
            <a:ext cx="141732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7FAE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360920" y="205740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</a:rPr>
              <a:t>查看审批结果</a:t>
            </a:r>
            <a:endParaRPr lang="en-US" sz="1030" dirty="0"/>
          </a:p>
        </p:txBody>
      </p:sp>
      <p:sp>
        <p:nvSpPr>
          <p:cNvPr id="49" name="Shape 46"/>
          <p:cNvSpPr/>
          <p:nvPr/>
        </p:nvSpPr>
        <p:spPr>
          <a:xfrm>
            <a:off x="5532120" y="2907792"/>
            <a:ext cx="141732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7FAE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532120" y="297180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</a:rPr>
              <a:t>查看作业状态</a:t>
            </a:r>
            <a:endParaRPr lang="en-US" sz="1030" dirty="0"/>
          </a:p>
        </p:txBody>
      </p:sp>
      <p:sp>
        <p:nvSpPr>
          <p:cNvPr id="51" name="Shape 48"/>
          <p:cNvSpPr/>
          <p:nvPr/>
        </p:nvSpPr>
        <p:spPr>
          <a:xfrm>
            <a:off x="7360920" y="2907792"/>
            <a:ext cx="141732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7FAE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360920" y="297180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</a:rPr>
              <a:t>公告 / 通知浏览</a:t>
            </a:r>
            <a:endParaRPr lang="en-US" sz="1030" dirty="0"/>
          </a:p>
        </p:txBody>
      </p:sp>
      <p:sp>
        <p:nvSpPr>
          <p:cNvPr id="53" name="Shape 50"/>
          <p:cNvSpPr/>
          <p:nvPr/>
        </p:nvSpPr>
        <p:spPr>
          <a:xfrm>
            <a:off x="5532120" y="3822192"/>
            <a:ext cx="141732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7FAE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532120" y="388620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</a:rPr>
              <a:t>用户 / 权限管理</a:t>
            </a:r>
            <a:endParaRPr lang="en-US" sz="1030" dirty="0"/>
          </a:p>
        </p:txBody>
      </p:sp>
      <p:sp>
        <p:nvSpPr>
          <p:cNvPr id="55" name="Shape 52"/>
          <p:cNvSpPr/>
          <p:nvPr/>
        </p:nvSpPr>
        <p:spPr>
          <a:xfrm>
            <a:off x="7360920" y="3822192"/>
            <a:ext cx="141732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7FAE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360920" y="388620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</a:rPr>
              <a:t>资源管理</a:t>
            </a:r>
            <a:endParaRPr lang="en-US" sz="1030" dirty="0"/>
          </a:p>
        </p:txBody>
      </p:sp>
      <p:sp>
        <p:nvSpPr>
          <p:cNvPr id="57" name="Shape 54"/>
          <p:cNvSpPr/>
          <p:nvPr/>
        </p:nvSpPr>
        <p:spPr>
          <a:xfrm>
            <a:off x="6446520" y="4718304"/>
            <a:ext cx="141732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7FAE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446520" y="47823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</a:rPr>
              <a:t>审批处理</a:t>
            </a:r>
            <a:endParaRPr lang="en-US" sz="1030" dirty="0"/>
          </a:p>
        </p:txBody>
      </p:sp>
      <p:sp>
        <p:nvSpPr>
          <p:cNvPr id="59" name="Shape 56"/>
          <p:cNvSpPr/>
          <p:nvPr/>
        </p:nvSpPr>
        <p:spPr>
          <a:xfrm>
            <a:off x="4343400" y="2194560"/>
            <a:ext cx="1188720" cy="137160"/>
          </a:xfrm>
          <a:prstGeom prst="line">
            <a:avLst/>
          </a:prstGeom>
          <a:noFill/>
          <a:ln w="12700">
            <a:solidFill>
              <a:srgbClr val="8AA7D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343400" y="2331720"/>
            <a:ext cx="1188720" cy="777240"/>
          </a:xfrm>
          <a:prstGeom prst="line">
            <a:avLst/>
          </a:prstGeom>
          <a:noFill/>
          <a:ln w="12700">
            <a:solidFill>
              <a:srgbClr val="8AA7D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43400" y="2194560"/>
            <a:ext cx="3017520" cy="137160"/>
          </a:xfrm>
          <a:prstGeom prst="line">
            <a:avLst/>
          </a:prstGeom>
          <a:noFill/>
          <a:ln w="12700">
            <a:solidFill>
              <a:srgbClr val="8AA7D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343400" y="4023360"/>
            <a:ext cx="1188720" cy="320040"/>
          </a:xfrm>
          <a:prstGeom prst="line">
            <a:avLst/>
          </a:prstGeom>
          <a:noFill/>
          <a:ln w="12700">
            <a:solidFill>
              <a:srgbClr val="9A86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343400" y="4023360"/>
            <a:ext cx="3017520" cy="320040"/>
          </a:xfrm>
          <a:prstGeom prst="line">
            <a:avLst/>
          </a:prstGeom>
          <a:noFill/>
          <a:ln w="12700">
            <a:solidFill>
              <a:srgbClr val="9A86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343400" y="3108960"/>
            <a:ext cx="3017520" cy="1234440"/>
          </a:xfrm>
          <a:prstGeom prst="line">
            <a:avLst/>
          </a:prstGeom>
          <a:noFill/>
          <a:ln w="12700">
            <a:solidFill>
              <a:srgbClr val="9A86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360920" y="3291840"/>
            <a:ext cx="3593592" cy="1627632"/>
          </a:xfrm>
          <a:prstGeom prst="line">
            <a:avLst/>
          </a:prstGeom>
          <a:noFill/>
          <a:ln w="12700">
            <a:solidFill>
              <a:srgbClr val="6DC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360920" y="2194560"/>
            <a:ext cx="3593592" cy="1097280"/>
          </a:xfrm>
          <a:prstGeom prst="line">
            <a:avLst/>
          </a:prstGeom>
          <a:noFill/>
          <a:ln w="12700">
            <a:solidFill>
              <a:srgbClr val="6DC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069080" y="5577840"/>
            <a:ext cx="68580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</a:rPr>
              <a:t>注：这里是“概述分享”中的简化示意图，后续正式作业会进一步细化角色与用例关系。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10927080" y="6528816"/>
            <a:ext cx="8229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AA0"/>
                </a:solidFill>
              </a:rPr>
              <a:t>第 6 页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O5kEU1Yiv8Nmnqgvt6wT9bNi/2934202bc3a84c6a97eb1a8b71f229e4/mnt/data/uml_ppt_unzip/ppt/media/image1.png"/>
          <p:cNvPicPr>
            <a:picLocks noChangeAspect="1"/>
          </p:cNvPicPr>
          <p:nvPr/>
        </p:nvPicPr>
        <p:blipFill>
          <a:blip r:embed="rId1"/>
          <a:srcRect t="36824" b="36824"/>
          <a:stretch>
            <a:fillRect/>
          </a:stretch>
        </p:blipFill>
        <p:spPr>
          <a:xfrm>
            <a:off x="0" y="0"/>
            <a:ext cx="12191695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82880"/>
            <a:ext cx="6309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从业务需求到 UML 模型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89720" y="210312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E8FF"/>
                </a:solidFill>
              </a:rPr>
              <a:t>软件需求分析原理与实践 · G06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6384" y="1078992"/>
            <a:ext cx="74980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937"/>
                </a:solidFill>
              </a:rPr>
              <a:t>同一个业务场景，不同 UML 图关注的重点并不一样：有的强调“谁参与”，有的强调“流程如何走”，还有的强调“对象之间如何传消息”。</a:t>
            </a:r>
            <a:endParaRPr lang="en-US" sz="1320" dirty="0"/>
          </a:p>
        </p:txBody>
      </p:sp>
      <p:sp>
        <p:nvSpPr>
          <p:cNvPr id="8" name="Shape 5"/>
          <p:cNvSpPr/>
          <p:nvPr/>
        </p:nvSpPr>
        <p:spPr>
          <a:xfrm>
            <a:off x="749808" y="1828800"/>
            <a:ext cx="2423160" cy="2468880"/>
          </a:xfrm>
          <a:prstGeom prst="roundRect">
            <a:avLst>
              <a:gd name="adj" fmla="val 4528"/>
            </a:avLst>
          </a:prstGeom>
          <a:solidFill>
            <a:srgbClr val="EAF2FF"/>
          </a:solidFill>
          <a:ln w="12700">
            <a:solidFill>
              <a:srgbClr val="1769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2011680"/>
            <a:ext cx="384048" cy="384048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020824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53312" y="1975104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文字需求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32688" y="2450592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</a:rPr>
              <a:t>用户提交资源申请，审批人员审核后反馈结果。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2697480"/>
            <a:ext cx="256032" cy="384048"/>
          </a:xfrm>
          <a:prstGeom prst="chevron">
            <a:avLst/>
          </a:prstGeom>
          <a:solidFill>
            <a:srgbClr val="BFD4FF"/>
          </a:solidFill>
          <a:ln w="12700">
            <a:solidFill>
              <a:srgbClr val="BFD4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84448" y="1828800"/>
            <a:ext cx="2423160" cy="2468880"/>
          </a:xfrm>
          <a:prstGeom prst="roundRect">
            <a:avLst>
              <a:gd name="adj" fmla="val 4528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49040" y="2011680"/>
            <a:ext cx="384048" cy="38404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49040" y="2020824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87952" y="1975104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用例图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767328" y="2450592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</a:rPr>
              <a:t>先界定参与者与系统功能边界。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2697480"/>
            <a:ext cx="256032" cy="384048"/>
          </a:xfrm>
          <a:prstGeom prst="chevron">
            <a:avLst/>
          </a:prstGeom>
          <a:solidFill>
            <a:srgbClr val="BFD4FF"/>
          </a:solidFill>
          <a:ln w="12700">
            <a:solidFill>
              <a:srgbClr val="BFD4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19088" y="1828800"/>
            <a:ext cx="2423160" cy="2468880"/>
          </a:xfrm>
          <a:prstGeom prst="roundRect">
            <a:avLst>
              <a:gd name="adj" fmla="val 4528"/>
            </a:avLst>
          </a:prstGeom>
          <a:solidFill>
            <a:srgbClr val="EAFBF5"/>
          </a:solidFill>
          <a:ln w="12700">
            <a:solidFill>
              <a:srgbClr val="32C48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83680" y="2011680"/>
            <a:ext cx="384048" cy="384048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0" y="2020824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022592" y="1975104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活动 / 顺序图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601968" y="2450592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</a:rPr>
              <a:t>再表达流程推进顺序与对象消息传递。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915400" y="2697480"/>
            <a:ext cx="256032" cy="384048"/>
          </a:xfrm>
          <a:prstGeom prst="chevron">
            <a:avLst/>
          </a:prstGeom>
          <a:solidFill>
            <a:srgbClr val="BFD4FF"/>
          </a:solidFill>
          <a:ln w="12700">
            <a:solidFill>
              <a:srgbClr val="BFD4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53728" y="1828800"/>
            <a:ext cx="2423160" cy="2468880"/>
          </a:xfrm>
          <a:prstGeom prst="roundRect">
            <a:avLst>
              <a:gd name="adj" fmla="val 4528"/>
            </a:avLst>
          </a:prstGeom>
          <a:solidFill>
            <a:srgbClr val="FFF3E8"/>
          </a:solidFill>
          <a:ln w="12700">
            <a:solidFill>
              <a:srgbClr val="FF9F4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418320" y="2011680"/>
            <a:ext cx="384048" cy="38404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18320" y="2020824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857232" y="1975104"/>
            <a:ext cx="14630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类图 / 部署图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9436608" y="2450592"/>
            <a:ext cx="19659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</a:rPr>
              <a:t>最后补充对象结构和运行环境。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4672" y="4681728"/>
            <a:ext cx="7132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24128" y="4882896"/>
            <a:ext cx="663854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69FF"/>
                </a:solidFill>
              </a:rPr>
              <a:t>一句话理解：UML 不是“同一件事重复画很多遍”，而是用不同视角把同一业务讲完整。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024128" y="5138928"/>
            <a:ext cx="5943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</a:rPr>
              <a:t>所以在项目里，不同图之间应当互相支撑，而不是彼此孤立。</a:t>
            </a:r>
            <a:endParaRPr lang="en-US" sz="1080" dirty="0"/>
          </a:p>
        </p:txBody>
      </p:sp>
      <p:sp>
        <p:nvSpPr>
          <p:cNvPr id="34" name="Shape 31"/>
          <p:cNvSpPr/>
          <p:nvPr/>
        </p:nvSpPr>
        <p:spPr>
          <a:xfrm>
            <a:off x="8366760" y="5760720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FFF7E8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94776" y="5897880"/>
            <a:ext cx="475488" cy="256032"/>
          </a:xfrm>
          <a:prstGeom prst="rect">
            <a:avLst/>
          </a:prstGeom>
          <a:solidFill>
            <a:srgbClr val="FF9F43"/>
          </a:solidFill>
          <a:ln>
            <a:solidFill>
              <a:srgbClr val="FF9F4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Q4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9052560" y="5852160"/>
            <a:ext cx="2423160" cy="5486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同一个业务为什么要用不止一种 UML 图来表达？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10927080" y="6528816"/>
            <a:ext cx="8229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AA0"/>
                </a:solidFill>
              </a:rPr>
              <a:t>第 7 页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O5kEU1Yiv8Nmnqgvt6wT9bNi/2934202bc3a84c6a97eb1a8b71f229e4/mnt/data/uml_ppt_unzip/ppt/media/image1.png"/>
          <p:cNvPicPr>
            <a:picLocks noChangeAspect="1"/>
          </p:cNvPicPr>
          <p:nvPr/>
        </p:nvPicPr>
        <p:blipFill>
          <a:blip r:embed="rId1"/>
          <a:srcRect t="36824" b="36824"/>
          <a:stretch>
            <a:fillRect/>
          </a:stretch>
        </p:blipFill>
        <p:spPr>
          <a:xfrm>
            <a:off x="0" y="0"/>
            <a:ext cx="12191695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82880"/>
            <a:ext cx="6309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结合课程安排的 UML 推进计划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89720" y="210312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E8FF"/>
                </a:solidFill>
              </a:rPr>
              <a:t>软件需求分析原理与实践 · G06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04672" y="1060704"/>
            <a:ext cx="62179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本周先完成整体认知，后续按课程节点逐步把抽象概念落实到项目图上。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090672"/>
            <a:ext cx="9966960" cy="0"/>
          </a:xfrm>
          <a:prstGeom prst="line">
            <a:avLst/>
          </a:prstGeom>
          <a:noFill/>
          <a:ln w="12700">
            <a:solidFill>
              <a:srgbClr val="B9C8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020824"/>
            <a:ext cx="987552" cy="384048"/>
          </a:xfrm>
          <a:prstGeom prst="rect">
            <a:avLst/>
          </a:prstGeom>
          <a:solidFill>
            <a:srgbClr val="1769FF"/>
          </a:solidFill>
          <a:ln>
            <a:solidFill>
              <a:srgbClr val="1769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第4周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24128" y="2852928"/>
            <a:ext cx="256032" cy="256032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2395728"/>
            <a:ext cx="0" cy="438912"/>
          </a:xfrm>
          <a:prstGeom prst="line">
            <a:avLst/>
          </a:prstGeom>
          <a:noFill/>
          <a:ln w="12700">
            <a:solidFill>
              <a:srgbClr val="1769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" y="3401568"/>
            <a:ext cx="15179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" y="361188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UML概述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明确图谱与作用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64408" y="2020824"/>
            <a:ext cx="987552" cy="384048"/>
          </a:xfrm>
          <a:prstGeom prst="rect">
            <a:avLst/>
          </a:prstGeom>
          <a:solidFill>
            <a:srgbClr val="7C4DFF"/>
          </a:solidFill>
          <a:ln>
            <a:solidFill>
              <a:srgbClr val="7C4D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第6周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93008" y="2852928"/>
            <a:ext cx="256032" cy="25603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21024" y="2395728"/>
            <a:ext cx="0" cy="438912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52928" y="3401568"/>
            <a:ext cx="15179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962656" y="361188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用例图 / 类图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状态图 / 顺序图 / 部署图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33288" y="2020824"/>
            <a:ext cx="987552" cy="384048"/>
          </a:xfrm>
          <a:prstGeom prst="rect">
            <a:avLst/>
          </a:prstGeom>
          <a:solidFill>
            <a:srgbClr val="29B6F6"/>
          </a:solidFill>
          <a:ln>
            <a:solidFill>
              <a:srgbClr val="29B6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第7周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61888" y="2852928"/>
            <a:ext cx="256032" cy="256032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89904" y="2395728"/>
            <a:ext cx="0" cy="438912"/>
          </a:xfrm>
          <a:prstGeom prst="line">
            <a:avLst/>
          </a:prstGeom>
          <a:noFill/>
          <a:ln w="12700">
            <a:solidFill>
              <a:srgbClr val="29B6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21808" y="3401568"/>
            <a:ext cx="15179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431536" y="361188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界面原型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结合业务页面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202168" y="2020824"/>
            <a:ext cx="987552" cy="384048"/>
          </a:xfrm>
          <a:prstGeom prst="rect">
            <a:avLst/>
          </a:prstGeom>
          <a:solidFill>
            <a:srgbClr val="FF9F43"/>
          </a:solidFill>
          <a:ln>
            <a:solidFill>
              <a:srgbClr val="FF9F4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第12周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430768" y="2852928"/>
            <a:ext cx="256032" cy="256032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58784" y="2395728"/>
            <a:ext cx="0" cy="438912"/>
          </a:xfrm>
          <a:prstGeom prst="line">
            <a:avLst/>
          </a:prstGeom>
          <a:noFill/>
          <a:ln w="12700">
            <a:solidFill>
              <a:srgbClr val="FF9F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90688" y="3401568"/>
            <a:ext cx="15179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900416" y="361188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对象图 / 构件图 / 包图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补充系统结构表达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0671048" y="2020824"/>
            <a:ext cx="987552" cy="384048"/>
          </a:xfrm>
          <a:prstGeom prst="rect">
            <a:avLst/>
          </a:prstGeom>
          <a:solidFill>
            <a:srgbClr val="32C48D"/>
          </a:solidFill>
          <a:ln>
            <a:solidFill>
              <a:srgbClr val="32C48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第13周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899648" y="2852928"/>
            <a:ext cx="256032" cy="256032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027664" y="2395728"/>
            <a:ext cx="0" cy="438912"/>
          </a:xfrm>
          <a:prstGeom prst="line">
            <a:avLst/>
          </a:prstGeom>
          <a:noFill/>
          <a:ln w="12700">
            <a:solidFill>
              <a:srgbClr val="32C48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259568" y="3401568"/>
            <a:ext cx="15179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10369296" y="3611880"/>
            <a:ext cx="1298448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综合应用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问题解答与完善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04672" y="4983480"/>
            <a:ext cx="10332720" cy="548640"/>
          </a:xfrm>
          <a:prstGeom prst="roundRect">
            <a:avLst>
              <a:gd name="adj" fmla="val 20000"/>
            </a:avLst>
          </a:prstGeom>
          <a:solidFill>
            <a:srgbClr val="EAF2FF"/>
          </a:solidFill>
          <a:ln w="12700">
            <a:solidFill>
              <a:srgbClr val="1769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987552" y="5157216"/>
            <a:ext cx="99669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69FF"/>
                </a:solidFill>
              </a:rPr>
              <a:t>本组策略：先用 UML 概述统一认识，再逐步完善用例图、活动/顺序图、类图与部署图，避免一开始就把图画散、画乱。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927080" y="6528816"/>
            <a:ext cx="8229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AA0"/>
                </a:solidFill>
              </a:rPr>
              <a:t>第 8 页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O5kEU1Yiv8Nmnqgvt6wT9bNi/2934202bc3a84c6a97eb1a8b71f229e4/mnt/data/uml_ppt_unzip/ppt/media/image1.png"/>
          <p:cNvPicPr>
            <a:picLocks noChangeAspect="1"/>
          </p:cNvPicPr>
          <p:nvPr/>
        </p:nvPicPr>
        <p:blipFill>
          <a:blip r:embed="rId1"/>
          <a:srcRect t="36824" b="36824"/>
          <a:stretch>
            <a:fillRect/>
          </a:stretch>
        </p:blipFill>
        <p:spPr>
          <a:xfrm>
            <a:off x="0" y="0"/>
            <a:ext cx="12191695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82880"/>
            <a:ext cx="6309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UML 对本项目的实际价值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89720" y="210312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E8FF"/>
                </a:solidFill>
              </a:rPr>
              <a:t>软件需求分析原理与实践 · G06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86384" y="1444752"/>
            <a:ext cx="3154680" cy="2852928"/>
          </a:xfrm>
          <a:prstGeom prst="roundRect">
            <a:avLst>
              <a:gd name="adj" fmla="val 3846"/>
            </a:avLst>
          </a:prstGeom>
          <a:solidFill>
            <a:srgbClr val="EAF2FF"/>
          </a:solidFill>
          <a:ln w="12700">
            <a:solidFill>
              <a:srgbClr val="1769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87552" y="1700784"/>
            <a:ext cx="384048" cy="384048"/>
          </a:xfrm>
          <a:prstGeom prst="ellipse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709928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44752" y="1664208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提高需求清晰度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7552" y="2139696"/>
            <a:ext cx="2578608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B6472"/>
                </a:solidFill>
              </a:rPr>
              <a:t>把文字里的角色、流程和对象显性化，便于早期统一口径。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4517136" y="1444752"/>
            <a:ext cx="3154680" cy="2852928"/>
          </a:xfrm>
          <a:prstGeom prst="roundRect">
            <a:avLst>
              <a:gd name="adj" fmla="val 3846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18304" y="1700784"/>
            <a:ext cx="384048" cy="384048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18304" y="1709928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75504" y="1664208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降低沟通成本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718304" y="2139696"/>
            <a:ext cx="2578608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B6472"/>
                </a:solidFill>
              </a:rPr>
              <a:t>组员、老师和评审能基于图快速理解系统，不必完全依赖大段文字。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247888" y="1444752"/>
            <a:ext cx="3154680" cy="2852928"/>
          </a:xfrm>
          <a:prstGeom prst="roundRect">
            <a:avLst>
              <a:gd name="adj" fmla="val 3846"/>
            </a:avLst>
          </a:prstGeom>
          <a:solidFill>
            <a:srgbClr val="EAFBF5"/>
          </a:solidFill>
          <a:ln w="12700">
            <a:solidFill>
              <a:srgbClr val="32C48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49056" y="1700784"/>
            <a:ext cx="384048" cy="384048"/>
          </a:xfrm>
          <a:prstGeom prst="ellipse">
            <a:avLst/>
          </a:prstGeom>
          <a:solidFill>
            <a:srgbClr val="32C48D"/>
          </a:solidFill>
          <a:ln w="12700">
            <a:solidFill>
              <a:srgbClr val="32C48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49056" y="1709928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906256" y="1664208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支撑后续交付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449056" y="2139696"/>
            <a:ext cx="2578608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B6472"/>
                </a:solidFill>
              </a:rPr>
              <a:t>为 SRS、原型、数据库设计和答辩汇报提供一致的逻辑基础。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786384" y="4709160"/>
            <a:ext cx="73152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87552" y="4928616"/>
            <a:ext cx="6903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69FF"/>
                </a:solidFill>
              </a:rPr>
              <a:t>总结：UML 的价值不在于“图画得多”，而在于它能把复杂系统拆开来讲，让后续需求、设计和实现更稳。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8366760" y="5760720"/>
            <a:ext cx="3246120" cy="658368"/>
          </a:xfrm>
          <a:prstGeom prst="roundRect">
            <a:avLst>
              <a:gd name="adj" fmla="val 16667"/>
            </a:avLst>
          </a:prstGeom>
          <a:solidFill>
            <a:srgbClr val="FFF7E8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94776" y="5897880"/>
            <a:ext cx="475488" cy="256032"/>
          </a:xfrm>
          <a:prstGeom prst="rect">
            <a:avLst/>
          </a:prstGeom>
          <a:solidFill>
            <a:srgbClr val="FF9F43"/>
          </a:solidFill>
          <a:ln>
            <a:solidFill>
              <a:srgbClr val="FF9F4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052560" y="5852160"/>
            <a:ext cx="2423160" cy="5486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UML 最大的价值是“图画得漂亮”，还是“统一理解”？请结合本项目回答。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0927080" y="6528816"/>
            <a:ext cx="8229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AA0"/>
                </a:solidFill>
              </a:rPr>
              <a:t>第 9 页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O5kEU1Yiv8Nmnqgvt6wT9bNi/2934202bc3a84c6a97eb1a8b71f229e4/mnt/data/uml_ppt_unzip/ppt/media/image1.png"/>
          <p:cNvPicPr>
            <a:picLocks noChangeAspect="1"/>
          </p:cNvPicPr>
          <p:nvPr/>
        </p:nvPicPr>
        <p:blipFill>
          <a:blip r:embed="rId1"/>
          <a:srcRect t="36824" b="36824"/>
          <a:stretch>
            <a:fillRect/>
          </a:stretch>
        </p:blipFill>
        <p:spPr>
          <a:xfrm>
            <a:off x="0" y="0"/>
            <a:ext cx="12191695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82880"/>
            <a:ext cx="6309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组内成员分工与评价表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89720" y="210312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E8FF"/>
                </a:solidFill>
              </a:rPr>
              <a:t>软件需求分析原理与实践 · G06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024128"/>
            <a:ext cx="6217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</a:rPr>
              <a:t>说明：下表为展示版模板，请在提交前替换为本组真实姓名、职责和评价结果。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786384" y="1353312"/>
            <a:ext cx="2148840" cy="932688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1769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" y="1481328"/>
            <a:ext cx="74980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dirty="0"/>
              <a:t>肖泓宇</a:t>
            </a:r>
            <a:endParaRPr lang="zh-CN" alt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82750" y="1481455"/>
            <a:ext cx="1124585" cy="2012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69FF"/>
                </a:solidFill>
              </a:rPr>
              <a:t>汇报与总协调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50976" y="1801368"/>
            <a:ext cx="18562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5B6472"/>
                </a:solidFill>
              </a:rPr>
              <a:t>负责内容统筹、PPT把关、现场展示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3099816" y="1353312"/>
            <a:ext cx="2148840" cy="932688"/>
          </a:xfrm>
          <a:prstGeom prst="roundRect">
            <a:avLst>
              <a:gd name="adj" fmla="val 11765"/>
            </a:avLst>
          </a:prstGeom>
          <a:solidFill>
            <a:srgbClr val="F1EDFF"/>
          </a:solidFill>
          <a:ln w="12700">
            <a:solidFill>
              <a:srgbClr val="7C4D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64408" y="1481328"/>
            <a:ext cx="74980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dirty="0"/>
              <a:t>吴易骏</a:t>
            </a:r>
            <a:endParaRPr lang="zh-CN" alt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995928" y="1481328"/>
            <a:ext cx="98755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4DFF"/>
                </a:solidFill>
              </a:rPr>
              <a:t>需求梳理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264408" y="1801368"/>
            <a:ext cx="18562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5B6472"/>
                </a:solidFill>
              </a:rPr>
              <a:t>负责业务场景、角色和功能边界整理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5413248" y="1353312"/>
            <a:ext cx="2148840" cy="932688"/>
          </a:xfrm>
          <a:prstGeom prst="roundRect">
            <a:avLst>
              <a:gd name="adj" fmla="val 11765"/>
            </a:avLst>
          </a:prstGeom>
          <a:solidFill>
            <a:srgbClr val="EAFBF5"/>
          </a:solidFill>
          <a:ln w="12700">
            <a:solidFill>
              <a:srgbClr val="32C48D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77840" y="1481328"/>
            <a:ext cx="74980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dirty="0"/>
              <a:t>蒋长麟</a:t>
            </a:r>
            <a:endParaRPr lang="zh-CN" alt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9360" y="1481328"/>
            <a:ext cx="98755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2C48D"/>
                </a:solidFill>
              </a:rPr>
              <a:t>图示建模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77840" y="1801368"/>
            <a:ext cx="18562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5B6472"/>
                </a:solidFill>
              </a:rPr>
              <a:t>负责用例图、活动图/顺序图示意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7726680" y="1353312"/>
            <a:ext cx="2148840" cy="932688"/>
          </a:xfrm>
          <a:prstGeom prst="roundRect">
            <a:avLst>
              <a:gd name="adj" fmla="val 11765"/>
            </a:avLst>
          </a:prstGeom>
          <a:solidFill>
            <a:srgbClr val="FFF3E8"/>
          </a:solidFill>
          <a:ln w="12700">
            <a:solidFill>
              <a:srgbClr val="FF9F43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891272" y="1481328"/>
            <a:ext cx="749808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dirty="0"/>
              <a:t>陈许恺</a:t>
            </a:r>
            <a:endParaRPr lang="zh-CN" alt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622792" y="1481328"/>
            <a:ext cx="98755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9F43"/>
                </a:solidFill>
              </a:rPr>
              <a:t>资料校核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891272" y="1801368"/>
            <a:ext cx="185623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5B6472"/>
                </a:solidFill>
              </a:rPr>
              <a:t>负责资料来源、排版检查、问题准备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786384" y="2697480"/>
            <a:ext cx="1234440" cy="420624"/>
          </a:xfrm>
          <a:prstGeom prst="rect">
            <a:avLst/>
          </a:prstGeom>
          <a:solidFill>
            <a:srgbClr val="DCEBFF"/>
          </a:solidFill>
          <a:ln w="12700">
            <a:solidFill>
              <a:srgbClr val="A7C4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" y="2798064"/>
            <a:ext cx="12344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</a:rPr>
              <a:t>姓名</a:t>
            </a:r>
            <a:endParaRPr lang="en-US" sz="1130" dirty="0"/>
          </a:p>
        </p:txBody>
      </p:sp>
      <p:sp>
        <p:nvSpPr>
          <p:cNvPr id="26" name="Shape 23"/>
          <p:cNvSpPr/>
          <p:nvPr/>
        </p:nvSpPr>
        <p:spPr>
          <a:xfrm>
            <a:off x="2020824" y="2697480"/>
            <a:ext cx="1600200" cy="420624"/>
          </a:xfrm>
          <a:prstGeom prst="rect">
            <a:avLst/>
          </a:prstGeom>
          <a:solidFill>
            <a:srgbClr val="DCEBFF"/>
          </a:solidFill>
          <a:ln w="12700">
            <a:solidFill>
              <a:srgbClr val="A7C4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20824" y="2798064"/>
            <a:ext cx="16002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</a:rPr>
              <a:t>主要职责</a:t>
            </a:r>
            <a:endParaRPr lang="en-US" sz="1130" dirty="0"/>
          </a:p>
        </p:txBody>
      </p:sp>
      <p:sp>
        <p:nvSpPr>
          <p:cNvPr id="28" name="Shape 25"/>
          <p:cNvSpPr/>
          <p:nvPr/>
        </p:nvSpPr>
        <p:spPr>
          <a:xfrm>
            <a:off x="3621024" y="2697480"/>
            <a:ext cx="3931920" cy="420624"/>
          </a:xfrm>
          <a:prstGeom prst="rect">
            <a:avLst/>
          </a:prstGeom>
          <a:solidFill>
            <a:srgbClr val="DCEBFF"/>
          </a:solidFill>
          <a:ln w="12700">
            <a:solidFill>
              <a:srgbClr val="A7C4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21024" y="2798064"/>
            <a:ext cx="3931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</a:rPr>
              <a:t>完成情况说明</a:t>
            </a:r>
            <a:endParaRPr lang="en-US" sz="1130" dirty="0"/>
          </a:p>
        </p:txBody>
      </p:sp>
      <p:sp>
        <p:nvSpPr>
          <p:cNvPr id="30" name="Shape 27"/>
          <p:cNvSpPr/>
          <p:nvPr/>
        </p:nvSpPr>
        <p:spPr>
          <a:xfrm>
            <a:off x="7552944" y="2697480"/>
            <a:ext cx="960120" cy="420624"/>
          </a:xfrm>
          <a:prstGeom prst="rect">
            <a:avLst/>
          </a:prstGeom>
          <a:solidFill>
            <a:srgbClr val="DCEBFF"/>
          </a:solidFill>
          <a:ln w="12700">
            <a:solidFill>
              <a:srgbClr val="A7C4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52944" y="2798064"/>
            <a:ext cx="9601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</a:rPr>
              <a:t>自评</a:t>
            </a:r>
            <a:endParaRPr lang="en-US" sz="1130" dirty="0"/>
          </a:p>
        </p:txBody>
      </p:sp>
      <p:sp>
        <p:nvSpPr>
          <p:cNvPr id="32" name="Shape 29"/>
          <p:cNvSpPr/>
          <p:nvPr/>
        </p:nvSpPr>
        <p:spPr>
          <a:xfrm>
            <a:off x="8513064" y="2697480"/>
            <a:ext cx="960120" cy="420624"/>
          </a:xfrm>
          <a:prstGeom prst="rect">
            <a:avLst/>
          </a:prstGeom>
          <a:solidFill>
            <a:srgbClr val="DCEBFF"/>
          </a:solidFill>
          <a:ln w="12700">
            <a:solidFill>
              <a:srgbClr val="A7C4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13064" y="2798064"/>
            <a:ext cx="9601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</a:rPr>
              <a:t>组评</a:t>
            </a:r>
            <a:endParaRPr lang="en-US" sz="1130" dirty="0"/>
          </a:p>
        </p:txBody>
      </p:sp>
      <p:sp>
        <p:nvSpPr>
          <p:cNvPr id="34" name="Shape 31"/>
          <p:cNvSpPr/>
          <p:nvPr/>
        </p:nvSpPr>
        <p:spPr>
          <a:xfrm>
            <a:off x="9473184" y="2697480"/>
            <a:ext cx="1325880" cy="420624"/>
          </a:xfrm>
          <a:prstGeom prst="rect">
            <a:avLst/>
          </a:prstGeom>
          <a:solidFill>
            <a:srgbClr val="DCEBFF"/>
          </a:solidFill>
          <a:ln w="12700">
            <a:solidFill>
              <a:srgbClr val="A7C4F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473184" y="2798064"/>
            <a:ext cx="13258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F2937"/>
                </a:solidFill>
              </a:rPr>
              <a:t>备注</a:t>
            </a:r>
            <a:endParaRPr lang="en-US" sz="1130" dirty="0"/>
          </a:p>
        </p:txBody>
      </p:sp>
      <p:sp>
        <p:nvSpPr>
          <p:cNvPr id="36" name="Shape 33"/>
          <p:cNvSpPr/>
          <p:nvPr/>
        </p:nvSpPr>
        <p:spPr>
          <a:xfrm>
            <a:off x="786384" y="3118104"/>
            <a:ext cx="1234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2960" y="3227832"/>
            <a:ext cx="11612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080" dirty="0"/>
              <a:t>肖泓宇</a:t>
            </a:r>
            <a:endParaRPr lang="zh-CN" altLang="en-US" sz="1080" dirty="0"/>
          </a:p>
        </p:txBody>
      </p:sp>
      <p:sp>
        <p:nvSpPr>
          <p:cNvPr id="38" name="Shape 35"/>
          <p:cNvSpPr/>
          <p:nvPr/>
        </p:nvSpPr>
        <p:spPr>
          <a:xfrm>
            <a:off x="2020824" y="3118104"/>
            <a:ext cx="1600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057400" y="3227832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</a:rPr>
              <a:t>汇报与总协调</a:t>
            </a:r>
            <a:endParaRPr lang="en-US" sz="1080" dirty="0"/>
          </a:p>
        </p:txBody>
      </p:sp>
      <p:sp>
        <p:nvSpPr>
          <p:cNvPr id="40" name="Shape 37"/>
          <p:cNvSpPr/>
          <p:nvPr/>
        </p:nvSpPr>
        <p:spPr>
          <a:xfrm>
            <a:off x="3621024" y="3118104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0" y="3227832"/>
            <a:ext cx="3858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</a:rPr>
              <a:t>完成主题统筹、演讲稿梳理、展示呈现</a:t>
            </a:r>
            <a:endParaRPr lang="en-US" sz="1020" dirty="0"/>
          </a:p>
        </p:txBody>
      </p:sp>
      <p:sp>
        <p:nvSpPr>
          <p:cNvPr id="42" name="Shape 39"/>
          <p:cNvSpPr/>
          <p:nvPr/>
        </p:nvSpPr>
        <p:spPr>
          <a:xfrm>
            <a:off x="7552944" y="3118104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589520" y="3227832"/>
            <a:ext cx="886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</a:rPr>
              <a:t>5</a:t>
            </a:r>
            <a:endParaRPr lang="en-US" sz="1080" dirty="0"/>
          </a:p>
        </p:txBody>
      </p:sp>
      <p:sp>
        <p:nvSpPr>
          <p:cNvPr id="44" name="Shape 41"/>
          <p:cNvSpPr/>
          <p:nvPr/>
        </p:nvSpPr>
        <p:spPr>
          <a:xfrm>
            <a:off x="8513064" y="3118104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49640" y="3227832"/>
            <a:ext cx="886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</a:rPr>
              <a:t>5</a:t>
            </a:r>
            <a:endParaRPr lang="en-US" sz="1080" dirty="0"/>
          </a:p>
        </p:txBody>
      </p:sp>
      <p:sp>
        <p:nvSpPr>
          <p:cNvPr id="46" name="Shape 43"/>
          <p:cNvSpPr/>
          <p:nvPr/>
        </p:nvSpPr>
        <p:spPr>
          <a:xfrm>
            <a:off x="9473184" y="3118104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509760" y="3227832"/>
            <a:ext cx="12527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48" name="Shape 45"/>
          <p:cNvSpPr/>
          <p:nvPr/>
        </p:nvSpPr>
        <p:spPr>
          <a:xfrm>
            <a:off x="786384" y="3685032"/>
            <a:ext cx="123444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22960" y="3794760"/>
            <a:ext cx="11612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080" dirty="0"/>
              <a:t>吴易骏</a:t>
            </a:r>
            <a:endParaRPr lang="zh-CN" altLang="en-US" sz="1080" dirty="0"/>
          </a:p>
        </p:txBody>
      </p:sp>
      <p:sp>
        <p:nvSpPr>
          <p:cNvPr id="50" name="Shape 47"/>
          <p:cNvSpPr/>
          <p:nvPr/>
        </p:nvSpPr>
        <p:spPr>
          <a:xfrm>
            <a:off x="2020824" y="3685032"/>
            <a:ext cx="160020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057400" y="3794760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</a:rPr>
              <a:t>需求梳理</a:t>
            </a:r>
            <a:endParaRPr lang="en-US" sz="1080" dirty="0"/>
          </a:p>
        </p:txBody>
      </p:sp>
      <p:sp>
        <p:nvSpPr>
          <p:cNvPr id="52" name="Shape 49"/>
          <p:cNvSpPr/>
          <p:nvPr/>
        </p:nvSpPr>
        <p:spPr>
          <a:xfrm>
            <a:off x="3621024" y="3685032"/>
            <a:ext cx="393192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657600" y="3794760"/>
            <a:ext cx="3858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</a:rPr>
              <a:t>完成角色、业务场景、项目背景整理</a:t>
            </a:r>
            <a:endParaRPr lang="en-US" sz="1020" dirty="0"/>
          </a:p>
        </p:txBody>
      </p:sp>
      <p:sp>
        <p:nvSpPr>
          <p:cNvPr id="54" name="Shape 51"/>
          <p:cNvSpPr/>
          <p:nvPr/>
        </p:nvSpPr>
        <p:spPr>
          <a:xfrm>
            <a:off x="7552944" y="3685032"/>
            <a:ext cx="96012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589520" y="3794760"/>
            <a:ext cx="886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</a:rPr>
              <a:t>5</a:t>
            </a:r>
            <a:endParaRPr lang="en-US" sz="1080" dirty="0"/>
          </a:p>
        </p:txBody>
      </p:sp>
      <p:sp>
        <p:nvSpPr>
          <p:cNvPr id="56" name="Shape 53"/>
          <p:cNvSpPr/>
          <p:nvPr/>
        </p:nvSpPr>
        <p:spPr>
          <a:xfrm>
            <a:off x="8513064" y="3685032"/>
            <a:ext cx="96012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549640" y="3794760"/>
            <a:ext cx="886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/>
              <a:t>5</a:t>
            </a:r>
            <a:endParaRPr lang="en-US" sz="1080" dirty="0"/>
          </a:p>
        </p:txBody>
      </p:sp>
      <p:sp>
        <p:nvSpPr>
          <p:cNvPr id="58" name="Shape 55"/>
          <p:cNvSpPr/>
          <p:nvPr/>
        </p:nvSpPr>
        <p:spPr>
          <a:xfrm>
            <a:off x="9473184" y="3685032"/>
            <a:ext cx="132588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509760" y="3794760"/>
            <a:ext cx="12527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60" name="Shape 57"/>
          <p:cNvSpPr/>
          <p:nvPr/>
        </p:nvSpPr>
        <p:spPr>
          <a:xfrm>
            <a:off x="786384" y="4251960"/>
            <a:ext cx="1234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22960" y="4361688"/>
            <a:ext cx="11612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080" dirty="0"/>
              <a:t>蒋长麟</a:t>
            </a:r>
            <a:endParaRPr lang="zh-CN" altLang="en-US" sz="1080" dirty="0"/>
          </a:p>
        </p:txBody>
      </p:sp>
      <p:sp>
        <p:nvSpPr>
          <p:cNvPr id="62" name="Shape 59"/>
          <p:cNvSpPr/>
          <p:nvPr/>
        </p:nvSpPr>
        <p:spPr>
          <a:xfrm>
            <a:off x="2020824" y="4251960"/>
            <a:ext cx="1600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2057400" y="4361688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</a:rPr>
              <a:t>图示建模</a:t>
            </a:r>
            <a:endParaRPr lang="en-US" sz="1080" dirty="0"/>
          </a:p>
        </p:txBody>
      </p:sp>
      <p:sp>
        <p:nvSpPr>
          <p:cNvPr id="64" name="Shape 61"/>
          <p:cNvSpPr/>
          <p:nvPr/>
        </p:nvSpPr>
        <p:spPr>
          <a:xfrm>
            <a:off x="3621024" y="425196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657600" y="4361688"/>
            <a:ext cx="3858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</a:rPr>
              <a:t>完成用例图示意与模型结构梳理</a:t>
            </a:r>
            <a:endParaRPr lang="en-US" sz="1020" dirty="0"/>
          </a:p>
        </p:txBody>
      </p:sp>
      <p:sp>
        <p:nvSpPr>
          <p:cNvPr id="66" name="Shape 63"/>
          <p:cNvSpPr/>
          <p:nvPr/>
        </p:nvSpPr>
        <p:spPr>
          <a:xfrm>
            <a:off x="7552944" y="4251960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589520" y="4361688"/>
            <a:ext cx="886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</a:rPr>
              <a:t>4.9</a:t>
            </a:r>
            <a:endParaRPr lang="en-US" sz="1080" dirty="0"/>
          </a:p>
        </p:txBody>
      </p:sp>
      <p:sp>
        <p:nvSpPr>
          <p:cNvPr id="68" name="Shape 65"/>
          <p:cNvSpPr/>
          <p:nvPr/>
        </p:nvSpPr>
        <p:spPr>
          <a:xfrm>
            <a:off x="8513064" y="4251960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9" name="Text 66"/>
          <p:cNvSpPr/>
          <p:nvPr/>
        </p:nvSpPr>
        <p:spPr>
          <a:xfrm>
            <a:off x="8549640" y="4361688"/>
            <a:ext cx="886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</a:rPr>
              <a:t>4.9</a:t>
            </a:r>
            <a:endParaRPr lang="en-US" sz="1080" dirty="0"/>
          </a:p>
        </p:txBody>
      </p:sp>
      <p:sp>
        <p:nvSpPr>
          <p:cNvPr id="70" name="Shape 67"/>
          <p:cNvSpPr/>
          <p:nvPr/>
        </p:nvSpPr>
        <p:spPr>
          <a:xfrm>
            <a:off x="9473184" y="4251960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509760" y="4361688"/>
            <a:ext cx="12527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72" name="Shape 69"/>
          <p:cNvSpPr/>
          <p:nvPr/>
        </p:nvSpPr>
        <p:spPr>
          <a:xfrm>
            <a:off x="786384" y="4818888"/>
            <a:ext cx="123444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22960" y="4928616"/>
            <a:ext cx="11612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080" dirty="0"/>
              <a:t>陈许恺</a:t>
            </a:r>
            <a:endParaRPr lang="zh-CN" altLang="en-US" sz="1080" dirty="0"/>
          </a:p>
        </p:txBody>
      </p:sp>
      <p:sp>
        <p:nvSpPr>
          <p:cNvPr id="74" name="Shape 71"/>
          <p:cNvSpPr/>
          <p:nvPr/>
        </p:nvSpPr>
        <p:spPr>
          <a:xfrm>
            <a:off x="2020824" y="4818888"/>
            <a:ext cx="160020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2057400" y="4928616"/>
            <a:ext cx="152704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</a:rPr>
              <a:t>资料校核</a:t>
            </a:r>
            <a:endParaRPr lang="en-US" sz="1080" dirty="0"/>
          </a:p>
        </p:txBody>
      </p:sp>
      <p:sp>
        <p:nvSpPr>
          <p:cNvPr id="76" name="Shape 73"/>
          <p:cNvSpPr/>
          <p:nvPr/>
        </p:nvSpPr>
        <p:spPr>
          <a:xfrm>
            <a:off x="3621024" y="4818888"/>
            <a:ext cx="393192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3657600" y="4928616"/>
            <a:ext cx="38587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20" dirty="0">
                <a:solidFill>
                  <a:srgbClr val="1F2937"/>
                </a:solidFill>
              </a:rPr>
              <a:t>完成资料来源核对、题目准备、排版检查</a:t>
            </a:r>
            <a:endParaRPr lang="en-US" sz="1020" dirty="0"/>
          </a:p>
        </p:txBody>
      </p:sp>
      <p:sp>
        <p:nvSpPr>
          <p:cNvPr id="78" name="Shape 75"/>
          <p:cNvSpPr/>
          <p:nvPr/>
        </p:nvSpPr>
        <p:spPr>
          <a:xfrm>
            <a:off x="7552944" y="4818888"/>
            <a:ext cx="96012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6E1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9" name="Text 76"/>
          <p:cNvSpPr/>
          <p:nvPr/>
        </p:nvSpPr>
        <p:spPr>
          <a:xfrm>
            <a:off x="7589520" y="4928616"/>
            <a:ext cx="886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</a:rPr>
              <a:t>4.9</a:t>
            </a:r>
            <a:endParaRPr lang="en-US" sz="1080" dirty="0"/>
          </a:p>
        </p:txBody>
      </p:sp>
      <p:sp>
        <p:nvSpPr>
          <p:cNvPr id="80" name="Shape 77"/>
          <p:cNvSpPr/>
          <p:nvPr/>
        </p:nvSpPr>
        <p:spPr>
          <a:xfrm>
            <a:off x="8513064" y="4818888"/>
            <a:ext cx="96012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549640" y="4928616"/>
            <a:ext cx="886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</a:rPr>
              <a:t>4.9</a:t>
            </a:r>
            <a:endParaRPr lang="en-US" sz="1080" dirty="0"/>
          </a:p>
        </p:txBody>
      </p:sp>
      <p:sp>
        <p:nvSpPr>
          <p:cNvPr id="82" name="Shape 79"/>
          <p:cNvSpPr/>
          <p:nvPr/>
        </p:nvSpPr>
        <p:spPr>
          <a:xfrm>
            <a:off x="9473184" y="4818888"/>
            <a:ext cx="1325880" cy="566928"/>
          </a:xfrm>
          <a:prstGeom prst="rect">
            <a:avLst/>
          </a:prstGeom>
          <a:solidFill>
            <a:srgbClr val="F9FBFF"/>
          </a:solidFill>
          <a:ln w="12700">
            <a:solidFill>
              <a:srgbClr val="D6E1F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509760" y="4928616"/>
            <a:ext cx="125272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80" dirty="0"/>
          </a:p>
        </p:txBody>
      </p:sp>
      <p:sp>
        <p:nvSpPr>
          <p:cNvPr id="84" name="Text 81"/>
          <p:cNvSpPr/>
          <p:nvPr/>
        </p:nvSpPr>
        <p:spPr>
          <a:xfrm>
            <a:off x="859536" y="5870448"/>
            <a:ext cx="45720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472"/>
                </a:solidFill>
              </a:rPr>
              <a:t>建议评价维度：任务完成度、协作配合度、响应及时性、展示贡献度。</a:t>
            </a:r>
            <a:endParaRPr lang="en-US" sz="1060" dirty="0"/>
          </a:p>
        </p:txBody>
      </p:sp>
      <p:sp>
        <p:nvSpPr>
          <p:cNvPr id="85" name="Text 82"/>
          <p:cNvSpPr/>
          <p:nvPr/>
        </p:nvSpPr>
        <p:spPr>
          <a:xfrm>
            <a:off x="10927080" y="6528816"/>
            <a:ext cx="8229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AA0"/>
                </a:solidFill>
              </a:rPr>
              <a:t>第 10 页</a:t>
            </a:r>
            <a:endParaRPr lang="en-US" sz="850" dirty="0"/>
          </a:p>
        </p:txBody>
      </p:sp>
      <p:sp>
        <p:nvSpPr>
          <p:cNvPr id="86" name="Rounded Rectangle 85"/>
          <p:cNvSpPr/>
          <p:nvPr/>
        </p:nvSpPr>
        <p:spPr>
          <a:xfrm>
            <a:off x="10040112" y="1353312"/>
            <a:ext cx="2148840" cy="932688"/>
          </a:xfrm>
          <a:prstGeom prst="roundRect">
            <a:avLst/>
          </a:prstGeom>
          <a:solidFill>
            <a:srgbClr val="FFF0F7"/>
          </a:solidFill>
          <a:ln w="12700">
            <a:solidFill>
              <a:srgbClr val="FF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86416" y="1481328"/>
            <a:ext cx="694944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zh-CN" sz="1300" b="1">
                <a:solidFill>
                  <a:srgbClr val="1F2937"/>
                </a:solidFill>
              </a:rPr>
              <a:t>王涛</a:t>
            </a:r>
            <a:endParaRPr lang="zh-CN" sz="1300" b="1">
              <a:solidFill>
                <a:srgbClr val="1F2937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0826496" y="1481328"/>
            <a:ext cx="1170432" cy="2011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00" b="1">
                <a:solidFill>
                  <a:srgbClr val="FF4FA3"/>
                </a:solidFill>
              </a:rPr>
              <a:t>文稿支持</a:t>
            </a:r>
            <a:endParaRPr sz="1100" b="1">
              <a:solidFill>
                <a:srgbClr val="FF4FA3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0204704" y="1801368"/>
            <a:ext cx="1856232" cy="31089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20" b="0">
                <a:solidFill>
                  <a:srgbClr val="5B6472"/>
                </a:solidFill>
              </a:rPr>
              <a:t>负责文稿补充、资料整合、答辩支持</a:t>
            </a:r>
            <a:endParaRPr sz="1020" b="0">
              <a:solidFill>
                <a:srgbClr val="5B6472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786384" y="5385816"/>
            <a:ext cx="1234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020824" y="5385816"/>
            <a:ext cx="1600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21024" y="5385816"/>
            <a:ext cx="3931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552944" y="5385816"/>
            <a:ext cx="960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513064" y="5385816"/>
            <a:ext cx="9601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473184" y="5385816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22960" y="5477255"/>
            <a:ext cx="1161288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zh-CN" sz="1080" b="0">
                <a:solidFill>
                  <a:srgbClr val="1F2937"/>
                </a:solidFill>
              </a:rPr>
              <a:t>王涛</a:t>
            </a:r>
            <a:endParaRPr lang="zh-CN" sz="1080" b="0">
              <a:solidFill>
                <a:srgbClr val="1F2937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967865" y="5477510"/>
            <a:ext cx="157988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80" b="0">
                <a:solidFill>
                  <a:srgbClr val="1F2937"/>
                </a:solidFill>
              </a:rPr>
              <a:t>文稿支持</a:t>
            </a:r>
            <a:endParaRPr sz="1080" b="0">
              <a:solidFill>
                <a:srgbClr val="1F2937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620135" y="5477510"/>
            <a:ext cx="389636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20" b="0">
                <a:solidFill>
                  <a:srgbClr val="1F2937"/>
                </a:solidFill>
              </a:rPr>
              <a:t>完成文稿补充、资料整合、答辩支持</a:t>
            </a:r>
            <a:endParaRPr sz="1020" b="0">
              <a:solidFill>
                <a:srgbClr val="1F2937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7589519" y="5477255"/>
            <a:ext cx="886968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80" b="0">
                <a:solidFill>
                  <a:srgbClr val="1F2937"/>
                </a:solidFill>
              </a:rPr>
              <a:t>4</a:t>
            </a:r>
            <a:r>
              <a:rPr lang="en-US" sz="1080" b="0">
                <a:solidFill>
                  <a:srgbClr val="1F2937"/>
                </a:solidFill>
              </a:rPr>
              <a:t>.9</a:t>
            </a:r>
            <a:endParaRPr lang="en-US" sz="1080" b="0">
              <a:solidFill>
                <a:srgbClr val="1F2937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8557260" y="5477255"/>
            <a:ext cx="886968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80" b="0">
                <a:solidFill>
                  <a:srgbClr val="1F2937"/>
                </a:solidFill>
              </a:rPr>
              <a:t>4</a:t>
            </a:r>
            <a:r>
              <a:rPr lang="en-US" sz="1080" b="0">
                <a:solidFill>
                  <a:srgbClr val="1F2937"/>
                </a:solidFill>
              </a:rPr>
              <a:t>.9</a:t>
            </a:r>
            <a:endParaRPr lang="en-US" sz="1080" b="0">
              <a:solidFill>
                <a:srgbClr val="1F2937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9509759" y="5477255"/>
            <a:ext cx="1252728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endParaRPr sz="1080" b="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ser-O5kEU1Yiv8Nmnqgvt6wT9bNi/2934202bc3a84c6a97eb1a8b71f229e4/mnt/data/uml_ppt_unzip/ppt/media/image1.png"/>
          <p:cNvPicPr>
            <a:picLocks noChangeAspect="1"/>
          </p:cNvPicPr>
          <p:nvPr/>
        </p:nvPicPr>
        <p:blipFill>
          <a:blip r:embed="rId1"/>
          <a:srcRect t="36824" b="36824"/>
          <a:stretch>
            <a:fillRect/>
          </a:stretch>
        </p:blipFill>
        <p:spPr>
          <a:xfrm>
            <a:off x="0" y="0"/>
            <a:ext cx="12191695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1769FF"/>
          </a:solidFill>
          <a:ln w="12700">
            <a:solidFill>
              <a:srgbClr val="1769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82880"/>
            <a:ext cx="6309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参考资料来源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89720" y="210312"/>
            <a:ext cx="2560320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DE8FF"/>
                </a:solidFill>
              </a:rPr>
              <a:t>软件需求分析原理与实践 · G06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024128"/>
            <a:ext cx="4937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以下资料可作为本次 UML 概要分享的主要参考依据：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1463040"/>
            <a:ext cx="77724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636776"/>
            <a:ext cx="420624" cy="256032"/>
          </a:xfrm>
          <a:prstGeom prst="rect">
            <a:avLst/>
          </a:prstGeom>
          <a:solidFill>
            <a:srgbClr val="1769FF"/>
          </a:solidFill>
          <a:ln>
            <a:solidFill>
              <a:srgbClr val="1769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572768" y="1572768"/>
            <a:ext cx="4389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</a:rPr>
              <a:t>OMG UML 2.5.1 About-UML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1572768" y="1847088"/>
            <a:ext cx="6217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472"/>
                </a:solidFill>
              </a:rPr>
              <a:t>UML 官方规范入口，用于确认 UML 的定义与标准信息。</a:t>
            </a:r>
            <a:endParaRPr lang="en-US" sz="1060" dirty="0"/>
          </a:p>
        </p:txBody>
      </p:sp>
      <p:sp>
        <p:nvSpPr>
          <p:cNvPr id="12" name="Shape 9"/>
          <p:cNvSpPr/>
          <p:nvPr/>
        </p:nvSpPr>
        <p:spPr>
          <a:xfrm>
            <a:off x="822960" y="2395728"/>
            <a:ext cx="77724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87552" y="2569464"/>
            <a:ext cx="420624" cy="256032"/>
          </a:xfrm>
          <a:prstGeom prst="rect">
            <a:avLst/>
          </a:prstGeom>
          <a:solidFill>
            <a:srgbClr val="1769FF"/>
          </a:solidFill>
          <a:ln>
            <a:solidFill>
              <a:srgbClr val="1769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572768" y="2505456"/>
            <a:ext cx="4389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</a:rPr>
              <a:t>OMG UML 官方站点（What is UML / UML）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572768" y="2779776"/>
            <a:ext cx="6217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472"/>
                </a:solidFill>
              </a:rPr>
              <a:t>用于交叉核对 UML 的作用、定位和官方资源。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822960" y="3328416"/>
            <a:ext cx="77724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87552" y="3502152"/>
            <a:ext cx="420624" cy="256032"/>
          </a:xfrm>
          <a:prstGeom prst="rect">
            <a:avLst/>
          </a:prstGeom>
          <a:solidFill>
            <a:srgbClr val="1769FF"/>
          </a:solidFill>
          <a:ln>
            <a:solidFill>
              <a:srgbClr val="1769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72768" y="3438144"/>
            <a:ext cx="4389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</a:rPr>
              <a:t>班级课程安排与翻转课堂通知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1572768" y="3712464"/>
            <a:ext cx="6217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472"/>
                </a:solidFill>
              </a:rPr>
              <a:t>用于确定本周主题、展示形式和后续周次安排。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822960" y="4261104"/>
            <a:ext cx="77724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87552" y="4434840"/>
            <a:ext cx="420624" cy="256032"/>
          </a:xfrm>
          <a:prstGeom prst="rect">
            <a:avLst/>
          </a:prstGeom>
          <a:solidFill>
            <a:srgbClr val="1769FF"/>
          </a:solidFill>
          <a:ln>
            <a:solidFill>
              <a:srgbClr val="1769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572768" y="4370832"/>
            <a:ext cx="43891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F2937"/>
                </a:solidFill>
              </a:rPr>
              <a:t>本组项目计划书 / 项目章程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1572768" y="4645152"/>
            <a:ext cx="62179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472"/>
                </a:solidFill>
              </a:rPr>
              <a:t>用于保证 UML 示例与“超算中心运营管理门户网站”项目一致。</a:t>
            </a:r>
            <a:endParaRPr lang="en-US" sz="1060" dirty="0"/>
          </a:p>
        </p:txBody>
      </p:sp>
      <p:pic>
        <p:nvPicPr>
          <p:cNvPr id="24" name="Image 1" descr="/mnt/data/a_digital_illustration_in_a_kawaii_cute_style_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1828800"/>
            <a:ext cx="2011680" cy="201168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9006840" y="4160520"/>
            <a:ext cx="2423160" cy="987552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12700">
            <a:solidFill>
              <a:srgbClr val="1769FF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9253728" y="4416552"/>
            <a:ext cx="19202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69FF"/>
                </a:solidFill>
              </a:rPr>
              <a:t>谢谢大家！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69FF"/>
                </a:solidFill>
              </a:rPr>
              <a:t>欢迎提问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10927080" y="6528816"/>
            <a:ext cx="822960" cy="1280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AA0"/>
                </a:solidFill>
              </a:rPr>
              <a:t>第 11 页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2868</Words>
  <Application>WPS 演示</Application>
  <PresentationFormat>On-screen Show (16:9)</PresentationFormat>
  <Paragraphs>463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微软雅黑</vt:lpstr>
      <vt:lpstr>等线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SRA2026 G06 UML Overview Sharing</dc:title>
  <dc:creator>OpenAI</dc:creator>
  <dc:subject>UML Overview Sharing</dc:subject>
  <cp:lastModifiedBy>plane</cp:lastModifiedBy>
  <cp:revision>3</cp:revision>
  <dcterms:created xsi:type="dcterms:W3CDTF">2026-03-24T07:55:00Z</dcterms:created>
  <dcterms:modified xsi:type="dcterms:W3CDTF">2026-03-25T10:30:08Z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BF0D9CAE65104CAA9951FF3F4FB1BC73_12</vt:lpwstr>
  </property>
</Properties>
</file>