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2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64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Prototype / prototyping definitions参考：https://ixdf.org/literature/topics/prototypes ; https://www.nngroup.com/videos/prototypes-vs-wireframes-ux-projects/
- 项目主线与模块来自用户上传《超算中心运营管理门户网站-项目计划书评审汇报-优化版.pptx》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目录结构与项目结合方式由本次PPT重新组织；项目背景依据用户上传《超算中心运营管理门户网站-项目计划书评审汇报-优化版.pptx》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Paradigm对wireframe的定义与用途：https://www.visual-paradigm.com/support/documents/vpuserguide/2822/2613/83691_whatiswirefr.html
- IxDF对prototype的定义：https://ixdf.org/literature/topics/prototypes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项目角色、主线流程与模块来自用户上传《超算中心运营管理门户网站-项目计划书评审汇报-优化版.pptx》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高保真原型定义与用途：https://www.figma.com/resource-library/high-fidelity-prototyping/
- 低保真线框作为早期蓝图的定义：https://www.figma.com/resource-library/what-is-wireframing/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信息架构、角色入口与页面范围依据用户上传《超算中心运营管理门户网站-项目计划书评审汇报-优化版.pptx》中的角色、流程与模块整理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页面内容与角色入口依据用户上传《超算中心运营管理门户网站-项目计划书评审汇报-优化版.pptx》中的统一入口、角色与模块整理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互动题依据本次PPT内容整理生成。标准答案：A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仪表盘中的配额、作业、账单、公告等模块依据用户上传《超算中心运营管理门户网站-项目计划书评审汇报-优化版.pptx》中的业务主线整理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申请流程与字段分组依据用户上传《超算中心运营管理门户网站-项目计划书评审汇报-优化版.pptx》中的资源申请、审批与材料要求主线整理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审批处理、账号/配额开通、用户/权限管理等模块来自用户上传《超算中心运营管理门户网站-项目计划书评审汇报-优化版.pptx》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互动题依据本次PPT内容整理生成。标准答案：A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作业提交、队列查看、日志与结果等模块来自用户上传《超算中心运营管理门户网站-项目计划书评审汇报-优化版.pptx》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账单报表、帮助中心、工单服务等模块来自用户上传《超算中心运营管理门户网站-项目计划书评审汇报-优化版.pptx》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角色划分依据用户上传《超算中心运营管理门户网站-项目计划书评审汇报-优化版.pptx》中的普通用户、PI/审批人、管理员、运维四类角色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A468F-89C4-FB6F-F0D6-B84F56C2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188E2-2A13-DD60-036F-3A96DB072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25EDB-366C-E44E-455D-186FAFCE9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角色划分依据用户上传《超算中心运营管理门户网站-项目计划书评审汇报-优化版.pptx》中的普通用户、PI/审批人、管理员、运维四类角色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76F3C-B5B6-FB6B-312B-C40B76E1A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30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互动题依据本次PPT内容整理生成。标准答案：A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页面流依据用户上传《超算中心运营管理门户网站-项目计划书评审汇报-优化版.pptx》中的“登录→申请→审批→开通→作业”主线整理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Prototype specification / annotation 的价值参考：https://www.nngroup.com/articles/prototype-specifications/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Rapid prototyping可尽早收集反馈并迭代：https://ixdf.org/literature/topics/rapid-prototyping
- 纸面/低保真原型便于快速发现可用性问题：https://www.nngroup.com/videos/paper-prototyping-101/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互动题依据本次PPT内容整理生成。标准答案：A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本页链路为本次PPT基于同一项目的后续建模关系归纳整理；项目背景来自用户上传《超算中心运营管理门户网站-项目计划书评审汇报-优化版.pptx》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互动题依据本次PPT内容整理生成。标准答案：B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组员姓名来自用户当前项目上下文；职责按本次“UML基础II：界面原型”主题重新分配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成员评分页沿用用户此前课程PPT的展示形式；分数为展示版建议值，可按实际情况修改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本页汇总本套PPT使用的主要外部资料与用户上传资料来源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收尾页为本次PPT内容总结，无新增外部事实性内容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UML基础II：界面原型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912" y="107899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8912" y="1627632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翻转课堂 / 专题汇报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第6组｜吴易骏 肖泓宇 蒋长麟 陈许恺 王涛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" y="2707255"/>
            <a:ext cx="4069080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30" dirty="0" err="1">
                <a:solidFill>
                  <a:srgbClr val="344054"/>
                </a:solidFill>
              </a:rPr>
              <a:t>项目：超算中心</a:t>
            </a:r>
            <a:r>
              <a:rPr lang="zh-CN" altLang="en-US" sz="1530" dirty="0">
                <a:solidFill>
                  <a:srgbClr val="344054"/>
                </a:solidFill>
              </a:rPr>
              <a:t>运营管理门户网站</a:t>
            </a:r>
            <a:endParaRPr lang="en-US" sz="1530" dirty="0">
              <a:solidFill>
                <a:srgbClr val="344054"/>
              </a:solidFill>
            </a:endParaRPr>
          </a:p>
          <a:p>
            <a:pPr marL="0" indent="0">
              <a:buNone/>
            </a:pP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344054"/>
                </a:solidFill>
              </a:rPr>
              <a:t>围绕“登录入口—资源申请—审批处理—作业监控—账单服务”展示一套可讲清任务路径的界面原型。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475488" y="4005072"/>
            <a:ext cx="1243584" cy="237744"/>
          </a:xfrm>
          <a:prstGeom prst="roundRect">
            <a:avLst>
              <a:gd name="adj" fmla="val 30769"/>
            </a:avLst>
          </a:prstGeom>
          <a:solidFill>
            <a:srgbClr val="EAF1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405079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登录入口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810512" y="4005072"/>
            <a:ext cx="1243584" cy="237744"/>
          </a:xfrm>
          <a:prstGeom prst="roundRect">
            <a:avLst>
              <a:gd name="adj" fmla="val 30769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405079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资源申请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3145536" y="4005072"/>
            <a:ext cx="1243584" cy="237744"/>
          </a:xfrm>
          <a:prstGeom prst="roundRect">
            <a:avLst>
              <a:gd name="adj" fmla="val 30769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5536" y="405079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审批处理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75488" y="4370832"/>
            <a:ext cx="1243584" cy="237744"/>
          </a:xfrm>
          <a:prstGeom prst="roundRect">
            <a:avLst>
              <a:gd name="adj" fmla="val 30769"/>
            </a:avLst>
          </a:prstGeom>
          <a:solidFill>
            <a:srgbClr val="F1EB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41655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作业监控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810512" y="4370832"/>
            <a:ext cx="1243584" cy="237744"/>
          </a:xfrm>
          <a:prstGeom prst="roundRect">
            <a:avLst>
              <a:gd name="adj" fmla="val 30769"/>
            </a:avLst>
          </a:prstGeom>
          <a:solidFill>
            <a:srgbClr val="E6FA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4416552"/>
            <a:ext cx="1243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B6D4"/>
                </a:solidFill>
              </a:rPr>
              <a:t>账单/工单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937760" y="1005840"/>
            <a:ext cx="2880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02352" y="111556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关键页面 1｜登录与统一入口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57216" y="1444752"/>
            <a:ext cx="2450592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57216" y="1444752"/>
            <a:ext cx="245059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85232" y="155448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155448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55448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51790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7085"/>
                </a:solidFill>
              </a:rPr>
              <a:t>Prototype / 登录与门户入口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85232" y="1837944"/>
            <a:ext cx="2194560" cy="978408"/>
          </a:xfrm>
          <a:prstGeom prst="roundRect">
            <a:avLst>
              <a:gd name="adj" fmla="val 3738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58384" y="1828800"/>
            <a:ext cx="1051560" cy="65836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19385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D"/>
                </a:solidFill>
              </a:rPr>
              <a:t>门户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2B3D"/>
                </a:solidFill>
              </a:rPr>
              <a:t>入口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0528" y="184708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账号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10528" y="1975104"/>
            <a:ext cx="84124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043684"/>
            <a:ext cx="6949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学号 / 邮箱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6510528" y="2340864"/>
            <a:ext cx="841248" cy="201168"/>
          </a:xfrm>
          <a:prstGeom prst="roundRect">
            <a:avLst>
              <a:gd name="adj" fmla="val 22727"/>
            </a:avLst>
          </a:prstGeom>
          <a:solidFill>
            <a:srgbClr val="2E6B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38658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登录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100584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11312" y="111556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关键页面 2｜用户首页与工作台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4464" y="1444752"/>
            <a:ext cx="3218688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84464" y="1444752"/>
            <a:ext cx="321868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55448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22208" y="155448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31936" y="155448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5088" y="1517904"/>
            <a:ext cx="2487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用户首页与仪表盘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412480" y="1837944"/>
            <a:ext cx="2962656" cy="978408"/>
          </a:xfrm>
          <a:prstGeom prst="roundRect">
            <a:avLst>
              <a:gd name="adj" fmla="val 3738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34190" y="1892808"/>
            <a:ext cx="893274" cy="210312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13064" y="192938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总览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9532462" y="1874520"/>
            <a:ext cx="763682" cy="21031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36608" y="1918979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作业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10426052" y="1892808"/>
            <a:ext cx="830527" cy="18761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70242" y="192686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消息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8613648" y="2176272"/>
            <a:ext cx="768096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23376" y="22860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配额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723376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BFF"/>
                </a:solidFill>
              </a:rPr>
              <a:t>3200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089136" y="228600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28048" y="2176272"/>
            <a:ext cx="768096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37776" y="22860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作业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637776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0003536" y="228600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42448" y="2176272"/>
            <a:ext cx="768096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52176" y="22860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待办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552176" y="24688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917936" y="228600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3547871"/>
            <a:ext cx="6766560" cy="2348431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102352" y="3657600"/>
            <a:ext cx="6437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本次原型关注什么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193792" y="3968496"/>
            <a:ext cx="6272784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不是为了把界面画得“像成品”，而是为了更早验证：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1）入口是否清楚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2）关键任务能否走通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3）不同角色页面是否应该分化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4）页面流能否形成完整产品路径。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AF1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1887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01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444752" y="10515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</a:rPr>
              <a:t>界面原型是什么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44752" y="130759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原型、线框、流程与高保真之间的关系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2093976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1EB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3969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02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444752" y="20025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</a:rPr>
              <a:t>项目原型讲解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44752" y="225856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登录、首页、资源申请、审批、作业、账单/工单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304495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9067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03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444752" y="29535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</a:rPr>
              <a:t>项目匹配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44752" y="320954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全部围绕“超算中心运营管理门户网站”落图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3995928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4164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04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444752" y="39044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</a:rPr>
              <a:t>课堂互动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44752" y="416052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穿插 5 个问题帮助同学判断原型价值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4946904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E6FA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99262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B6D4"/>
                </a:solidFill>
              </a:rPr>
              <a:t>05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444752" y="4855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828"/>
                </a:solidFill>
              </a:rPr>
              <a:t>收尾信息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44752" y="5111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成员分工、成员评分、参考文献与致谢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406640" y="1097280"/>
            <a:ext cx="4553712" cy="47548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06640" y="1097280"/>
            <a:ext cx="4069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34656" y="1207008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44384" y="1207008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1207008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117043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用户首页与仪表盘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34656" y="1490472"/>
            <a:ext cx="4361688" cy="4233672"/>
          </a:xfrm>
          <a:prstGeom prst="roundRect">
            <a:avLst>
              <a:gd name="adj" fmla="val 959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1232" y="1536192"/>
            <a:ext cx="1005840" cy="415137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1719072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6F2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1764792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首页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80960" y="2029968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207568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资源申请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680960" y="2340864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54112" y="2386584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我的作业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680960" y="2651760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54112" y="26974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账单报表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80960" y="2962656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30083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帮助中心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80960" y="3273552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54112" y="3319272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个人中心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595360" y="1536192"/>
            <a:ext cx="271576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59952" y="1645920"/>
            <a:ext cx="2551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欢迎回来，今日资源使用与待办概览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741664" y="2048256"/>
            <a:ext cx="1051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51392" y="2157984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当前配额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851392" y="2340864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FF"/>
                </a:solidFill>
              </a:rPr>
              <a:t>3200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500616" y="21579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21240" y="2048256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30968" y="2157984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运行作业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030968" y="234086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620756" y="213055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54512" y="2048256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064240" y="2157984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待审批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1064240" y="234086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1576304" y="21579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41664" y="2880360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906256" y="299008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运行作业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869680" y="3182112"/>
            <a:ext cx="2880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06256" y="32278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任务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9875520" y="3182112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912096" y="3227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队列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0515600" y="3182112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552176" y="32278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1155680" y="3182112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192256" y="3227832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耗时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869680" y="3401568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906256" y="34564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mol-sim-01</a:t>
            </a:r>
            <a:endParaRPr lang="en-US" sz="940" dirty="0"/>
          </a:p>
        </p:txBody>
      </p:sp>
      <p:sp>
        <p:nvSpPr>
          <p:cNvPr id="82" name="Shape 80"/>
          <p:cNvSpPr/>
          <p:nvPr/>
        </p:nvSpPr>
        <p:spPr>
          <a:xfrm>
            <a:off x="9875520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912096" y="3456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gpu</a:t>
            </a:r>
            <a:endParaRPr lang="en-US" sz="940" dirty="0"/>
          </a:p>
        </p:txBody>
      </p:sp>
      <p:sp>
        <p:nvSpPr>
          <p:cNvPr id="84" name="Shape 82"/>
          <p:cNvSpPr/>
          <p:nvPr/>
        </p:nvSpPr>
        <p:spPr>
          <a:xfrm>
            <a:off x="10515600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48708" y="3426793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38460" y="3445081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运行中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1155680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1192256" y="3456432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02:16</a:t>
            </a:r>
            <a:endParaRPr lang="en-US" sz="940" dirty="0"/>
          </a:p>
        </p:txBody>
      </p:sp>
      <p:sp>
        <p:nvSpPr>
          <p:cNvPr id="89" name="Shape 87"/>
          <p:cNvSpPr/>
          <p:nvPr/>
        </p:nvSpPr>
        <p:spPr>
          <a:xfrm>
            <a:off x="8869680" y="3602736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06256" y="365760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climate-batch</a:t>
            </a:r>
            <a:endParaRPr lang="en-US" sz="940" dirty="0"/>
          </a:p>
        </p:txBody>
      </p:sp>
      <p:sp>
        <p:nvSpPr>
          <p:cNvPr id="91" name="Shape 89"/>
          <p:cNvSpPr/>
          <p:nvPr/>
        </p:nvSpPr>
        <p:spPr>
          <a:xfrm>
            <a:off x="9875520" y="360273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912096" y="365760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cpu</a:t>
            </a:r>
            <a:endParaRPr lang="en-US" sz="940" dirty="0"/>
          </a:p>
        </p:txBody>
      </p:sp>
      <p:sp>
        <p:nvSpPr>
          <p:cNvPr id="93" name="Shape 91"/>
          <p:cNvSpPr/>
          <p:nvPr/>
        </p:nvSpPr>
        <p:spPr>
          <a:xfrm>
            <a:off x="10515600" y="360273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543506" y="3630168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524744" y="3646249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排队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1155680" y="360273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192256" y="3657600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UML基础II是什么：为什么这一部分讲“界面原型”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" y="841248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EAF1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9611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6BFF"/>
                </a:solidFill>
              </a:rPr>
              <a:t>基础II范围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" y="1325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界面原型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" y="1874520"/>
            <a:ext cx="38862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它关注的不是底层代码，而是“页面长什么样、用户怎么点、信息如何流动、角色如何看到不同入口”。对课程项目来说，原型是把文字需求变成可讨论界面的最快方式。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078992"/>
            <a:ext cx="3017520" cy="235000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1887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什么是原型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481328"/>
            <a:ext cx="2651760" cy="24537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原型是对产品界面和交互的提前模拟。
</a:t>
            </a:r>
            <a:r>
              <a:rPr lang="en-US" sz="135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线框更强调布局，原型更强调可理解的操作路径。
</a:t>
            </a:r>
            <a:r>
              <a:rPr lang="en-US" sz="135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高保真原型会更接近最终产品视觉和行为。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078992"/>
            <a:ext cx="3474720" cy="239572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1188720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为什么先做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9328" y="1481328"/>
            <a:ext cx="3063240" cy="21573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先暴露流程断点与权限冲突</a:t>
            </a:r>
            <a:endParaRPr lang="en-US" sz="1350" dirty="0">
              <a:solidFill>
                <a:srgbClr val="344054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3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便于组内统一页面范围与信息层级</a:t>
            </a:r>
            <a:endParaRPr lang="en-US" sz="1350" dirty="0">
              <a:solidFill>
                <a:srgbClr val="344054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3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5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便于后续UML、SRS和答辩演示衔接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为什么“超算中心运营管理门户网站”特别适合先做界面原型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9768" y="636927"/>
            <a:ext cx="3657600" cy="541086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902347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项目特征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353312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EAF1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9903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1444752" y="1400513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8"/>
                </a:solidFill>
              </a:rPr>
              <a:t>角色多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44752" y="1645791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054"/>
                </a:solidFill>
              </a:rPr>
              <a:t>普通用户、PI/审批人、管理员、运维看到的入口不同。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0080" y="2295144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1EB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408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444752" y="22860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8"/>
                </a:solidFill>
              </a:rPr>
              <a:t>流程长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44752" y="2615184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054"/>
                </a:solidFill>
              </a:rPr>
              <a:t>从登录、申请、审批、开通到作业与账单，是明显的页面链路。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8269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3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435607" y="32774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8"/>
                </a:solidFill>
              </a:rPr>
              <a:t>状态多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44752" y="3590372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054"/>
                </a:solidFill>
              </a:rPr>
              <a:t>申请状态、作业状态、工单状态都需要在界面中清楚展示。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658368" cy="201168"/>
          </a:xfrm>
          <a:prstGeom prst="roundRect">
            <a:avLst>
              <a:gd name="adj" fmla="val 36364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2452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4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1444752" y="4239081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8"/>
                </a:solidFill>
              </a:rPr>
              <a:t>信息密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44752" y="4613470"/>
            <a:ext cx="23317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054"/>
                </a:solidFill>
              </a:rPr>
              <a:t>既有表单、表格，也有监控、报表、消息提醒。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458489" y="2506088"/>
            <a:ext cx="2743200" cy="1874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Text 23"/>
          <p:cNvSpPr/>
          <p:nvPr/>
        </p:nvSpPr>
        <p:spPr>
          <a:xfrm>
            <a:off x="4623081" y="261581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本次原型范围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76052" y="2933205"/>
            <a:ext cx="2395728" cy="19059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登录入口
</a:t>
            </a: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用户首页
</a:t>
            </a: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资源申请
</a:t>
            </a: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
</a:t>
            </a: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作业监控
</a:t>
            </a:r>
            <a:r>
              <a:rPr lang="en-US" sz="133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33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账单/工单</a:t>
            </a:r>
            <a:endParaRPr lang="en-US" sz="1330" dirty="0"/>
          </a:p>
        </p:txBody>
      </p:sp>
      <p:sp>
        <p:nvSpPr>
          <p:cNvPr id="70" name="Shape 68"/>
          <p:cNvSpPr/>
          <p:nvPr/>
        </p:nvSpPr>
        <p:spPr>
          <a:xfrm>
            <a:off x="12701016" y="20665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AE2FD"/>
          </a:solidFill>
          <a:ln w="12700">
            <a:solidFill>
              <a:srgbClr val="EAE2F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57232" y="331012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497312" y="331012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137392" y="331012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012200" y="2002537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8776" y="2057401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climate-batch</a:t>
            </a:r>
            <a:endParaRPr lang="en-US" sz="940" dirty="0"/>
          </a:p>
        </p:txBody>
      </p:sp>
      <p:sp>
        <p:nvSpPr>
          <p:cNvPr id="92" name="Shape 90"/>
          <p:cNvSpPr/>
          <p:nvPr/>
        </p:nvSpPr>
        <p:spPr>
          <a:xfrm>
            <a:off x="10018040" y="2002537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054616" y="2057401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cpu</a:t>
            </a:r>
            <a:endParaRPr lang="en-US" sz="940" dirty="0"/>
          </a:p>
        </p:txBody>
      </p:sp>
      <p:sp>
        <p:nvSpPr>
          <p:cNvPr id="94" name="Shape 92"/>
          <p:cNvSpPr/>
          <p:nvPr/>
        </p:nvSpPr>
        <p:spPr>
          <a:xfrm>
            <a:off x="10658120" y="2002537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703840" y="2057401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703840" y="2103121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排队</a:t>
            </a:r>
            <a:endParaRPr lang="en-US" sz="1080" dirty="0"/>
          </a:p>
        </p:txBody>
      </p:sp>
      <p:sp>
        <p:nvSpPr>
          <p:cNvPr id="97" name="Shape 95"/>
          <p:cNvSpPr/>
          <p:nvPr/>
        </p:nvSpPr>
        <p:spPr>
          <a:xfrm>
            <a:off x="11298200" y="2002537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334776" y="2057401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  <p:sp>
        <p:nvSpPr>
          <p:cNvPr id="102" name="Shape 100"/>
          <p:cNvSpPr/>
          <p:nvPr/>
        </p:nvSpPr>
        <p:spPr>
          <a:xfrm>
            <a:off x="7549160" y="2039112"/>
            <a:ext cx="4297680" cy="289076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549160" y="1938528"/>
            <a:ext cx="42976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677176" y="2148841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786904" y="2148841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896632" y="2148841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969784" y="2112265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审批中心</a:t>
            </a:r>
            <a:endParaRPr lang="en-US" sz="1250" dirty="0"/>
          </a:p>
        </p:txBody>
      </p:sp>
      <p:sp>
        <p:nvSpPr>
          <p:cNvPr id="108" name="Shape 106"/>
          <p:cNvSpPr/>
          <p:nvPr/>
        </p:nvSpPr>
        <p:spPr>
          <a:xfrm>
            <a:off x="7677176" y="2432305"/>
            <a:ext cx="4041648" cy="1746504"/>
          </a:xfrm>
          <a:prstGeom prst="roundRect">
            <a:avLst>
              <a:gd name="adj" fmla="val 2094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713752" y="2478025"/>
            <a:ext cx="96012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23480" y="2660905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ECF8F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96632" y="2706625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待审批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7823480" y="2971801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96632" y="3017521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已处理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823480" y="3282697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96632" y="3328417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配额开通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7823480" y="3593593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896632" y="3639313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操作记录</a:t>
            </a:r>
            <a:endParaRPr lang="en-US" sz="1050" dirty="0"/>
          </a:p>
        </p:txBody>
      </p:sp>
      <p:sp>
        <p:nvSpPr>
          <p:cNvPr id="118" name="Text 116"/>
          <p:cNvSpPr/>
          <p:nvPr/>
        </p:nvSpPr>
        <p:spPr>
          <a:xfrm>
            <a:off x="8774456" y="2569465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PI / 管理员审批工作台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8774456" y="2843785"/>
            <a:ext cx="26517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8939048" y="2953513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申请列表</a:t>
            </a:r>
            <a:endParaRPr lang="en-US" sz="1600" dirty="0"/>
          </a:p>
        </p:txBody>
      </p:sp>
      <p:sp>
        <p:nvSpPr>
          <p:cNvPr id="121" name="Shape 119"/>
          <p:cNvSpPr/>
          <p:nvPr/>
        </p:nvSpPr>
        <p:spPr>
          <a:xfrm>
            <a:off x="8902472" y="3172969"/>
            <a:ext cx="239572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939048" y="3218689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申请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9954032" y="3172969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990608" y="3218689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类型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10594112" y="3172969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630688" y="3218689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8902472" y="3392425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048" y="3447289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气候模拟</a:t>
            </a:r>
            <a:endParaRPr lang="en-US" sz="940" dirty="0"/>
          </a:p>
        </p:txBody>
      </p:sp>
      <p:sp>
        <p:nvSpPr>
          <p:cNvPr id="129" name="Shape 127"/>
          <p:cNvSpPr/>
          <p:nvPr/>
        </p:nvSpPr>
        <p:spPr>
          <a:xfrm>
            <a:off x="9954032" y="3392425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990608" y="3447289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正式</a:t>
            </a:r>
            <a:endParaRPr lang="en-US" sz="940" dirty="0"/>
          </a:p>
        </p:txBody>
      </p:sp>
      <p:sp>
        <p:nvSpPr>
          <p:cNvPr id="131" name="Shape 129"/>
          <p:cNvSpPr/>
          <p:nvPr/>
        </p:nvSpPr>
        <p:spPr>
          <a:xfrm>
            <a:off x="10594112" y="3392425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639832" y="3447288"/>
            <a:ext cx="612648" cy="228599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639832" y="3493009"/>
            <a:ext cx="612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待审批</a:t>
            </a:r>
            <a:endParaRPr lang="en-US" sz="1080" dirty="0"/>
          </a:p>
        </p:txBody>
      </p:sp>
      <p:sp>
        <p:nvSpPr>
          <p:cNvPr id="134" name="Shape 132"/>
          <p:cNvSpPr/>
          <p:nvPr/>
        </p:nvSpPr>
        <p:spPr>
          <a:xfrm>
            <a:off x="8902472" y="3794761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39048" y="3849625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生物分析</a:t>
            </a:r>
            <a:endParaRPr lang="en-US" sz="940" dirty="0"/>
          </a:p>
        </p:txBody>
      </p:sp>
      <p:sp>
        <p:nvSpPr>
          <p:cNvPr id="136" name="Shape 134"/>
          <p:cNvSpPr/>
          <p:nvPr/>
        </p:nvSpPr>
        <p:spPr>
          <a:xfrm>
            <a:off x="9954032" y="3794761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990608" y="3849625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扩容</a:t>
            </a:r>
            <a:endParaRPr lang="en-US" sz="940" dirty="0"/>
          </a:p>
        </p:txBody>
      </p:sp>
      <p:sp>
        <p:nvSpPr>
          <p:cNvPr id="138" name="Shape 136"/>
          <p:cNvSpPr/>
          <p:nvPr/>
        </p:nvSpPr>
        <p:spPr>
          <a:xfrm>
            <a:off x="10594112" y="3794761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639832" y="3849625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639832" y="3895345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F4444"/>
                </a:solidFill>
              </a:rPr>
              <a:t>待补充</a:t>
            </a:r>
            <a:endParaRPr lang="en-US" sz="1080" dirty="0"/>
          </a:p>
        </p:txBody>
      </p:sp>
      <p:sp>
        <p:nvSpPr>
          <p:cNvPr id="141" name="Shape 139"/>
          <p:cNvSpPr/>
          <p:nvPr/>
        </p:nvSpPr>
        <p:spPr>
          <a:xfrm>
            <a:off x="8902472" y="4197097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939048" y="4251961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材料计算</a:t>
            </a:r>
            <a:endParaRPr lang="en-US" sz="940" dirty="0"/>
          </a:p>
        </p:txBody>
      </p:sp>
      <p:sp>
        <p:nvSpPr>
          <p:cNvPr id="143" name="Shape 141"/>
          <p:cNvSpPr/>
          <p:nvPr/>
        </p:nvSpPr>
        <p:spPr>
          <a:xfrm>
            <a:off x="9954032" y="4197097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990608" y="4251961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试用</a:t>
            </a:r>
            <a:endParaRPr lang="en-US" sz="940" dirty="0"/>
          </a:p>
        </p:txBody>
      </p:sp>
      <p:sp>
        <p:nvSpPr>
          <p:cNvPr id="145" name="Shape 143"/>
          <p:cNvSpPr/>
          <p:nvPr/>
        </p:nvSpPr>
        <p:spPr>
          <a:xfrm>
            <a:off x="10594112" y="4197097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639832" y="4251961"/>
            <a:ext cx="612648" cy="210312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639832" y="4297681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通过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从线框到高保真：原型并不是只有一种形态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09728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0700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低保真线框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481328"/>
            <a:ext cx="306324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先讨论布局、功能分区和主流程。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适合快速改动，不必纠结视觉细节。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更适合早期统一页面范围。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3090672"/>
            <a:ext cx="30358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90672"/>
            <a:ext cx="303580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320040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20040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20040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16382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Wireframe / 资源申请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3483864"/>
            <a:ext cx="2779776" cy="1362456"/>
          </a:xfrm>
          <a:prstGeom prst="roundRect">
            <a:avLst>
              <a:gd name="adj" fmla="val 2685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456432"/>
            <a:ext cx="2633472" cy="1133856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3456432"/>
            <a:ext cx="2633472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712464"/>
            <a:ext cx="420624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7904" y="3712464"/>
            <a:ext cx="1975104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5336" y="3968496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3968496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968496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5336" y="4279392"/>
            <a:ext cx="18836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5336" y="4389120"/>
            <a:ext cx="18836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5336" y="4498848"/>
            <a:ext cx="18836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4608576"/>
            <a:ext cx="1883664" cy="73152"/>
          </a:xfrm>
          <a:prstGeom prst="roundRect">
            <a:avLst>
              <a:gd name="adj" fmla="val 25000"/>
            </a:avLst>
          </a:prstGeom>
          <a:solidFill>
            <a:srgbClr val="E6ED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5336" y="4718304"/>
            <a:ext cx="18836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109728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43984" y="120700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中保真页面原型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17136" y="1481328"/>
            <a:ext cx="306324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开始体现导航、组件、表单和状态。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适合评审信息层级与主要操作。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最适合课程项目展示与讨论。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53712" y="3090672"/>
            <a:ext cx="30358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53712" y="3090672"/>
            <a:ext cx="303580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320040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91456" y="320040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320040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16382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资源申请表单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81728" y="3483864"/>
            <a:ext cx="2779776" cy="1362456"/>
          </a:xfrm>
          <a:prstGeom prst="roundRect">
            <a:avLst>
              <a:gd name="adj" fmla="val 2685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3493008"/>
            <a:ext cx="566928" cy="1060704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9744" y="3602736"/>
            <a:ext cx="402336" cy="265938"/>
          </a:xfrm>
          <a:prstGeom prst="roundRect">
            <a:avLst>
              <a:gd name="adj" fmla="val 44444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364845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须知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449824" y="3657600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项目名称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9824" y="3785616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22976" y="3854196"/>
            <a:ext cx="8138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气候模拟专题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510528" y="365760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类型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510528" y="3785616"/>
            <a:ext cx="7498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3854196"/>
            <a:ext cx="6035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正式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6364224" y="4370832"/>
            <a:ext cx="749808" cy="18288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441655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提交申请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65008" y="1097280"/>
            <a:ext cx="3657600" cy="4663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29600" y="120700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高保真 / 可点击原型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02752" y="1481328"/>
            <a:ext cx="306324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更接近真实产品视觉和交互。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适合可用性测试、开发交接和演示。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重点是让流程更像真实使用场景。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339328" y="3090672"/>
            <a:ext cx="3035808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339328" y="3090672"/>
            <a:ext cx="303580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67344" y="320040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77072" y="320040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86800" y="320040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59952" y="3163824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用户首页与仪表盘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8467344" y="3483864"/>
            <a:ext cx="2779776" cy="1362456"/>
          </a:xfrm>
          <a:prstGeom prst="roundRect">
            <a:avLst>
              <a:gd name="adj" fmla="val 2685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58784" y="3483864"/>
            <a:ext cx="749808" cy="182880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49056" y="352044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总览</a:t>
            </a:r>
            <a:endParaRPr lang="en-US" sz="1080" dirty="0"/>
          </a:p>
        </p:txBody>
      </p:sp>
      <p:sp>
        <p:nvSpPr>
          <p:cNvPr id="61" name="Shape 59"/>
          <p:cNvSpPr/>
          <p:nvPr/>
        </p:nvSpPr>
        <p:spPr>
          <a:xfrm>
            <a:off x="9539714" y="3483864"/>
            <a:ext cx="719854" cy="2286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36608" y="35478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作业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10424160" y="3502940"/>
            <a:ext cx="719854" cy="209524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26624" y="353872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消息</a:t>
            </a:r>
            <a:endParaRPr lang="en-US" sz="1080" dirty="0"/>
          </a:p>
        </p:txBody>
      </p:sp>
      <p:sp>
        <p:nvSpPr>
          <p:cNvPr id="65" name="Shape 63"/>
          <p:cNvSpPr/>
          <p:nvPr/>
        </p:nvSpPr>
        <p:spPr>
          <a:xfrm>
            <a:off x="8613648" y="3840480"/>
            <a:ext cx="7498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23376" y="395020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配额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723376" y="41330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6BFF"/>
                </a:solidFill>
              </a:rPr>
              <a:t>3200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070848" y="395020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09760" y="3840480"/>
            <a:ext cx="7498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619488" y="395020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作业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619488" y="41330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966960" y="395020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405872" y="3840480"/>
            <a:ext cx="74980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395020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待办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0515600" y="413308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863072" y="395020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原型落地之前，先把信息架构和导航讲清楚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38912" y="1078992"/>
            <a:ext cx="2926080" cy="4754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118872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导航层级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426464"/>
            <a:ext cx="251460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一级导航按“用户任务”组织，而不是按技术模块命名。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高频入口放首页：资源申请、我的作业、审批待办、帮助工单。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角色不同，侧边栏与快捷卡片不同。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120700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34874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登录 / 注册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0" y="1207008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34874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门户首页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132320" y="120700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1F6F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134874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B6D4"/>
                </a:solidFill>
              </a:rPr>
              <a:t>个人中心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840480" y="221284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6293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资源申请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77840" y="221284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3F4E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4980" y="237176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审批中心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315200" y="221284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DE9E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3865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F4444"/>
                </a:solidFill>
              </a:rPr>
              <a:t>帮助工单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840480" y="32552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37697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作业中心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577840" y="32552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41418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账单报表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7315200" y="325526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1F6F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9772" y="339242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B6D4"/>
                </a:solidFill>
              </a:rPr>
              <a:t>公告文档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166360" y="1435608"/>
            <a:ext cx="301752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12280" y="1435608"/>
            <a:ext cx="301752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26280" y="1664208"/>
            <a:ext cx="0" cy="54864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44768" y="1664208"/>
            <a:ext cx="0" cy="54864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63840" y="1664208"/>
            <a:ext cx="0" cy="54864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26280" y="2670048"/>
            <a:ext cx="0" cy="585216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44768" y="2670048"/>
            <a:ext cx="0" cy="585216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28432" y="2670048"/>
            <a:ext cx="0" cy="585216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35440" y="1078992"/>
            <a:ext cx="2542032" cy="47548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00032" y="118872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角色差异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54896" y="1426464"/>
            <a:ext cx="205740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普通用户：首页更强调申请、作业、账单。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/ 审批人：首页更强调待审批列表。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/ 运维：首页更强调配额开通、公告、监控。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项目原型一：登录 / 门户入口页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731520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005840"/>
            <a:ext cx="73152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115568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1115568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115568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10789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登录与门户入口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" y="1399032"/>
            <a:ext cx="7059168" cy="4782312"/>
          </a:xfrm>
          <a:prstGeom prst="roundRect">
            <a:avLst>
              <a:gd name="adj" fmla="val 765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1517904"/>
            <a:ext cx="4023360" cy="4462272"/>
          </a:xfrm>
          <a:prstGeom prst="roundRect">
            <a:avLst>
              <a:gd name="adj" fmla="val 909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677451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超算中心运营管理门户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6968" y="208483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344054"/>
                </a:solidFill>
              </a:rPr>
              <a:t>统一入口：注册登录｜资源申请｜审批查询｜作业监控｜账单统计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86968" y="2532888"/>
            <a:ext cx="841248" cy="256032"/>
          </a:xfrm>
          <a:prstGeom prst="roundRect">
            <a:avLst>
              <a:gd name="adj" fmla="val 17857"/>
            </a:avLst>
          </a:prstGeom>
          <a:solidFill>
            <a:srgbClr val="2E6B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57860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立即登录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37944" y="253288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7944" y="2578608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4054"/>
                </a:solidFill>
              </a:rPr>
              <a:t>查看帮助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" y="2926080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4712" y="301752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21868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44054"/>
                </a:solidFill>
              </a:rPr>
              <a:t>快速申请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691640" y="2926080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9384" y="301752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F1EB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321868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44054"/>
                </a:solidFill>
              </a:rPr>
              <a:t>队列状态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496312" y="2926080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34056" y="301752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21868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44054"/>
                </a:solidFill>
              </a:rPr>
              <a:t>账单中心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300984" y="2926080"/>
            <a:ext cx="71323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38728" y="3017520"/>
            <a:ext cx="237744" cy="146304"/>
          </a:xfrm>
          <a:prstGeom prst="roundRect">
            <a:avLst>
              <a:gd name="adj" fmla="val 25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321868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44054"/>
                </a:solidFill>
              </a:rPr>
              <a:t>帮助工单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404104" y="1719071"/>
            <a:ext cx="1828800" cy="2714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68696" y="182880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用户登录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50408" y="207568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账号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50408" y="2203704"/>
            <a:ext cx="153619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272284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学工号 / 邮箱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550408" y="248716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密码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0408" y="2615184"/>
            <a:ext cx="153619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2683764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••••••••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550408" y="2898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验证码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50408" y="3026664"/>
            <a:ext cx="153619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095244"/>
            <a:ext cx="13898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AB12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550408" y="3346704"/>
            <a:ext cx="1536192" cy="256032"/>
          </a:xfrm>
          <a:prstGeom prst="roundRect">
            <a:avLst>
              <a:gd name="adj" fmla="val 17857"/>
            </a:avLst>
          </a:prstGeom>
          <a:solidFill>
            <a:srgbClr val="2E6B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0408" y="3392424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登录门户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68696" y="3852776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67085"/>
                </a:solidFill>
              </a:rPr>
              <a:t>角色入口：普通用户｜PI/审批人｜管理员｜运维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8156448" y="1097280"/>
            <a:ext cx="3566160" cy="4956048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21040" y="120700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本页设计要点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94192" y="1499616"/>
            <a:ext cx="3017520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先给出统一门户价值主张，降低第一次进入时的理解成本。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登录卡片放右侧，符合“先看说明、再执行操作”的阅读路径。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首页快捷入口不直接暴露全部复杂功能，只放高频任务。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支持按角色进入，但不在登录前展示过多技术细节。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课堂互动问题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68355" y="1104532"/>
            <a:ext cx="9263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结合上一页的“登录 / 门户入口”原型，评审时最该先验证哪一点？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1" y="2249424"/>
            <a:ext cx="10067229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7802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35023" y="2432304"/>
            <a:ext cx="8143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用户能否一眼区分“登录门户、去申请资源、查看帮助”这三类入口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" y="3182112"/>
            <a:ext cx="1006722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10712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335024" y="3364992"/>
            <a:ext cx="67053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登录页里的每个字段是否已经与最终数据库字段一一对应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" y="4114800"/>
            <a:ext cx="1006722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35023" y="4297680"/>
            <a:ext cx="61378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登录页是否需要把后续所有模块都一次性展示完整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项目原型二：用户首页 / 仪表盘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969264"/>
            <a:ext cx="722376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69264"/>
            <a:ext cx="722376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78992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78992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078992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042416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用户首页与仪表盘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362456"/>
            <a:ext cx="6967728" cy="4873752"/>
          </a:xfrm>
          <a:prstGeom prst="roundRect">
            <a:avLst>
              <a:gd name="adj" fmla="val 750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408176"/>
            <a:ext cx="1005840" cy="4791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591056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6F2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6367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首页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1901952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47672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资源申请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212848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25856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我的作业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2523744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69464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账单报表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" y="2834640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288036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帮助中心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6384" y="3145536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19125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个人中心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700784" y="1408176"/>
            <a:ext cx="5870448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65376" y="1517904"/>
            <a:ext cx="41239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欢迎回来，今日资源使用与待办概览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47088" y="1920240"/>
            <a:ext cx="1051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56816" y="2029968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当前配额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956816" y="2212848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6BFF"/>
                </a:solidFill>
              </a:rPr>
              <a:t>3200 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06040" y="202996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26664" y="1920240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36392" y="2029968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运行作业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36392" y="221284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12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48456" y="202996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59936" y="1920240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9664" y="2029968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待审批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69664" y="2212848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81728" y="202996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47088" y="2752344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011680" y="2862072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运行作业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975104" y="3054096"/>
            <a:ext cx="2880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30998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任务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80944" y="3054096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队列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21024" y="3054096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0" y="30998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261104" y="3054096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0" y="3099816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耗时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975104" y="3273552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0" y="33284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mol-sim-01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2980944" y="3273552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33284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gpu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3621024" y="3273552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48456" y="3300984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60595" y="332841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运行中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61104" y="3273552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3328416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02:16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1975104" y="3474720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11680" y="352958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climate-batch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2980944" y="347472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0" y="35295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cpu</a:t>
            </a:r>
            <a:endParaRPr lang="en-US" sz="940" dirty="0"/>
          </a:p>
        </p:txBody>
      </p:sp>
      <p:sp>
        <p:nvSpPr>
          <p:cNvPr id="73" name="Shape 71"/>
          <p:cNvSpPr/>
          <p:nvPr/>
        </p:nvSpPr>
        <p:spPr>
          <a:xfrm>
            <a:off x="3621024" y="347472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40101" y="3502467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38052" y="35295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排队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261104" y="347472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97680" y="3529584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  <p:sp>
        <p:nvSpPr>
          <p:cNvPr id="78" name="Shape 76"/>
          <p:cNvSpPr/>
          <p:nvPr/>
        </p:nvSpPr>
        <p:spPr>
          <a:xfrm>
            <a:off x="5157216" y="2752344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321808" y="2862072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公告与提醒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303520" y="3108960"/>
            <a:ext cx="1499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周五 20:00 维护窗口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新用户培训已开放报名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1 条审批结果待查看</a:t>
            </a:r>
            <a:endParaRPr lang="en-US" sz="1060" dirty="0"/>
          </a:p>
        </p:txBody>
      </p:sp>
      <p:sp>
        <p:nvSpPr>
          <p:cNvPr id="81" name="Shape 79"/>
          <p:cNvSpPr/>
          <p:nvPr/>
        </p:nvSpPr>
        <p:spPr>
          <a:xfrm>
            <a:off x="8101584" y="1078992"/>
            <a:ext cx="3602736" cy="502920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8266176" y="118872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为什么这样布局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339328" y="1499616"/>
            <a:ext cx="3035808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顶部做“总览”，下方做“任务型模块”，符合用户打开门户后的第一诉求。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左侧导航固定，减少在申请、作业、账单之间来回找入口。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首页只保留关键指标：配额、运行作业、待审批、本月账单。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公告和提醒单独成区，避免和作业数据混在一起。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项目原型三：资源申请表单页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969264"/>
            <a:ext cx="7278624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69264"/>
            <a:ext cx="7278624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78992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78992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078992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042416"/>
            <a:ext cx="6547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资源申请表单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362456"/>
            <a:ext cx="7022592" cy="4892040"/>
          </a:xfrm>
          <a:prstGeom prst="roundRect">
            <a:avLst>
              <a:gd name="adj" fmla="val 748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408176"/>
            <a:ext cx="914400" cy="4809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591056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EF7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63677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申请须知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1901952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4767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填写表单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212848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258568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上传材料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2523744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6946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提交确认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37360" y="149961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正式资源申请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1737360"/>
            <a:ext cx="914400" cy="21031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17830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基本信息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2834640" y="1737360"/>
            <a:ext cx="914400" cy="219456"/>
          </a:xfrm>
          <a:prstGeom prst="roundRect">
            <a:avLst>
              <a:gd name="adj" fmla="val 44444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7830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资源配置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931920" y="1737360"/>
            <a:ext cx="932688" cy="219456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17830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项目说明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29200" y="1737360"/>
            <a:ext cx="914400" cy="210312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78308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98A2B3"/>
                </a:solidFill>
              </a:rPr>
              <a:t>确认提交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755648" y="2048256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项目名称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755648" y="2176272"/>
            <a:ext cx="15544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2244852"/>
            <a:ext cx="14081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气候模拟专题项目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456432" y="204825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申请类型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56432" y="2176272"/>
            <a:ext cx="118872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2244852"/>
            <a:ext cx="1042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正式资源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791456" y="20482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预计时长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91456" y="217627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244852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6 个月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1755648" y="25054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CPU 核数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55648" y="263347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2702052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256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2980944" y="25054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GPU 张数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980944" y="263347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54096" y="2702052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8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206240" y="2505456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存储容量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206240" y="2633472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9392" y="2702052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20 TB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1737360" y="2889504"/>
            <a:ext cx="4498848" cy="1316736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01952" y="2999232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研究说明与附件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901952" y="3364992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67085"/>
                </a:solidFill>
              </a:rPr>
              <a:t>研究目标、预期数据规模、软件环境需求、成员名单、导师/PI 信息。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1901952" y="3602736"/>
            <a:ext cx="1828800" cy="310896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02536" y="3749040"/>
            <a:ext cx="16276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</a:rPr>
              <a:t>拖拽上传项目材料 / 伦理审批 / 导师证明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3895344" y="3730752"/>
            <a:ext cx="93268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95344" y="3782936"/>
            <a:ext cx="9326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4054"/>
                </a:solidFill>
              </a:rPr>
              <a:t>保存草稿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138928" y="3712464"/>
            <a:ext cx="804672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8928" y="3769220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/>
              <a:t>提交申请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101584" y="1078992"/>
            <a:ext cx="3602736" cy="502920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266176" y="1188720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表单原型思路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39328" y="1499616"/>
            <a:ext cx="3035808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左侧是申请阶段，右侧是填写区域，用户更容易知道自己走到哪里。
</a:t>
            </a: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字段按“项目基本信息—资源配置—说明材料”分组，避免巨长表单。
</a:t>
            </a: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支持保存草稿，适合科研项目材料不一次准备齐全的情况。
</a:t>
            </a: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材料上传与提交按钮放在页尾，符合实际操作顺序。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项目原型四：审批中心 / 配额开通页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969264"/>
            <a:ext cx="73152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69264"/>
            <a:ext cx="73152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78992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78992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078992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042416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审批中心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362456"/>
            <a:ext cx="7059168" cy="4892040"/>
          </a:xfrm>
          <a:prstGeom prst="roundRect">
            <a:avLst>
              <a:gd name="adj" fmla="val 748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408176"/>
            <a:ext cx="960120" cy="4809744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591056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ECF8F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636776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待审批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1901952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4767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已处理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212848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25856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配额开通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2523744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69464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操作记录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37360" y="149961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PI / 管理员审批工作台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1773936"/>
            <a:ext cx="26517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01952" y="1883664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申请列表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865376" y="2103120"/>
            <a:ext cx="239572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214884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申请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16936" y="2103120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214884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类型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57016" y="2103120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148840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65376" y="2322576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01952" y="2377440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气候模拟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916936" y="2322576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53512" y="237744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正式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3557016" y="2322576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02736" y="2377440"/>
            <a:ext cx="621792" cy="21031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2423160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待审批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1865376" y="2724912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01952" y="277977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生物分析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2916936" y="2724912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53512" y="277977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扩容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3557016" y="2724912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02736" y="2779776"/>
            <a:ext cx="594359" cy="219456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02736" y="2825496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F4444"/>
                </a:solidFill>
              </a:rPr>
              <a:t>待补充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1865376" y="3127248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01952" y="318211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材料计算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2916936" y="3127248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53512" y="318211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试用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3557016" y="3127248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02736" y="3182112"/>
            <a:ext cx="594357" cy="228600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02736" y="3227832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通过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4553712" y="1773936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18304" y="1883664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申请详情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736592" y="2084832"/>
            <a:ext cx="19568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申请人：张同学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所属项目：Climate-24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申请资源：256 CPU / 8 GPU / 20TB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说明：需运行多轮高分辨率模拟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4754880" y="3218688"/>
            <a:ext cx="80467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264408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驳回补充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50992" y="3218688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326440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审批通过并开通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19872" y="1078992"/>
            <a:ext cx="3584448" cy="502920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284464" y="118872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审批页的关键不是“好看”，而是“快判定”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57616" y="1499616"/>
            <a:ext cx="2999232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左边先看列表，右边再看详情，符合审批动作的真实阅读顺序。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待审批、待补充、通过等状态必须一眼可区分。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审批按钮离详情很近，避免来回切页。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“通过并开通”体现了审批与配额开通的业务衔接。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课堂互动问题 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810676" y="1060704"/>
            <a:ext cx="80590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结合资源申请页原型，下面哪一项最值得优先评审？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2" y="2249424"/>
            <a:ext cx="1042037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7802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35023" y="2432304"/>
            <a:ext cx="80927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用户是否知道当前在第几步、哪些字段必填、提交后会发生什么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" y="3182112"/>
            <a:ext cx="1042037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10712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335023" y="3364991"/>
            <a:ext cx="6919801" cy="33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申请页中的统计卡片是否必须和首页保持完全一样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" y="4114800"/>
            <a:ext cx="1042037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35024" y="4297680"/>
            <a:ext cx="7935100" cy="32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审批人的工作台是否必须和申请页共用同一套导航布局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项目原型五：作业监控 / 队列状态页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987552"/>
            <a:ext cx="7296912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87552"/>
            <a:ext cx="729691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9728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9728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09728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060704"/>
            <a:ext cx="6565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作业监控与队列状态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380744"/>
            <a:ext cx="7040880" cy="4873752"/>
          </a:xfrm>
          <a:prstGeom prst="roundRect">
            <a:avLst>
              <a:gd name="adj" fmla="val 750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426464"/>
            <a:ext cx="914400" cy="4791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609344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EEF3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65506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6BFF"/>
                </a:solidFill>
              </a:rPr>
              <a:t>作业总览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1920240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6596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队列状态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231136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27685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日志结果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2542032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8775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文件管理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37360" y="151790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我的作业与集群状态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1883664"/>
            <a:ext cx="960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47088" y="1993392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运行中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47088" y="217627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404872" y="199339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98064" y="1883664"/>
            <a:ext cx="9601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1993392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排队中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07792" y="217627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14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465576" y="199339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58768" y="1883664"/>
            <a:ext cx="10058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68496" y="199339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失败告警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68496" y="217627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0" y="199339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CDDDD"/>
          </a:solidFill>
          <a:ln w="12700">
            <a:solidFill>
              <a:srgbClr val="FC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92624" y="1883664"/>
            <a:ext cx="19202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201168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集群可用率 92%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GPU 空闲节点 16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737360" y="2670048"/>
            <a:ext cx="3657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901952" y="2779776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作业列表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865376" y="2980944"/>
            <a:ext cx="33832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01952" y="302666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作业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916936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53512" y="30266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队列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557016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302666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70248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06824" y="30266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节点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27448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302666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日志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65376" y="3200400"/>
            <a:ext cx="33832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01952" y="325526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sim-2415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2916936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53512" y="325526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gpu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3557016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02736" y="3255264"/>
            <a:ext cx="594358" cy="109728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4448" y="3264408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运行中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70248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06824" y="325526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08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4727448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64024" y="325526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查看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1865376" y="3401568"/>
            <a:ext cx="33832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01952" y="345643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genome-07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2916936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53512" y="345643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cpu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3557016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598165" y="3438144"/>
            <a:ext cx="594358" cy="14630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70731" y="345643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排队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270248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06824" y="3456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4727448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64024" y="3456432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查看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5577840" y="2670048"/>
            <a:ext cx="133502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742432" y="27797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日志预览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705856" y="3300984"/>
            <a:ext cx="106070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10:34 job started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667085"/>
                </a:solidFill>
              </a:rPr>
              <a:t>10:36 loading 10:41 checkpoint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8138160" y="1078992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302752" y="11887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为什么这页要“数据 + 操作”并列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357616" y="1499616"/>
            <a:ext cx="2971800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用户进入这页最先想知道“作业是否在跑、排队多久、哪里报错”。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所以需要上方状态概览，下方作业列表，旁边给日志预览。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监控页不能只有图表，也要能回到具体任务。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这里是门户和超算资源层连接最直接的页面之一。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项目原型六：账单统计 / 帮助工单页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2064" y="987552"/>
            <a:ext cx="731520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987552"/>
            <a:ext cx="73152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097280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097280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097280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060704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账单统计与帮助工单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1380744"/>
            <a:ext cx="7059168" cy="4873752"/>
          </a:xfrm>
          <a:prstGeom prst="roundRect">
            <a:avLst>
              <a:gd name="adj" fmla="val 750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426464"/>
            <a:ext cx="914400" cy="4791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1609344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EBF9F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1655064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</a:rPr>
              <a:t>账单概览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" y="1920240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65960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费用报表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2231136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27685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帮助工单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" y="2542032"/>
            <a:ext cx="69494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587752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知识库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37360" y="151790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运营统计与服务支持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37360" y="1883664"/>
            <a:ext cx="10972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47088" y="199339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本月费用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47088" y="217627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</a:rPr>
              <a:t>¥ 5,420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32888" y="19293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2F2F7"/>
          </a:solidFill>
          <a:ln w="12700">
            <a:solidFill>
              <a:srgbClr val="D2F2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44368" y="1883664"/>
            <a:ext cx="10058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54096" y="199339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待支付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54096" y="217627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¥ 860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95595" y="195681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9936" y="1883664"/>
            <a:ext cx="116791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9664" y="1993392"/>
            <a:ext cx="7863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进行中工单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69664" y="217627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BFF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978908" y="196596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37360" y="2688336"/>
            <a:ext cx="2670048" cy="144223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911096" y="2760227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账单与报表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65376" y="2980944"/>
            <a:ext cx="2414016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01952" y="30266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周期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96896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30266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费用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28416" y="2980944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302666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65376" y="3200400"/>
            <a:ext cx="241401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01952" y="32552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2026-03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2596896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33472" y="325526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¥ 5420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3328416" y="3200400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69675" y="3255264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E6FAFD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526" y="324612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6B6D4"/>
                </a:solidFill>
              </a:rPr>
              <a:t>已出账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1865376" y="3495845"/>
            <a:ext cx="2414016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3530845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2026-02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2596896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46558" y="3518705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¥ 4860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3328416" y="340156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69675" y="3530845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49653" y="3503413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已支付</a:t>
            </a:r>
            <a:endParaRPr lang="en-US" sz="1080" dirty="0"/>
          </a:p>
        </p:txBody>
      </p:sp>
      <p:sp>
        <p:nvSpPr>
          <p:cNvPr id="57" name="Shape 55"/>
          <p:cNvSpPr/>
          <p:nvPr/>
        </p:nvSpPr>
        <p:spPr>
          <a:xfrm>
            <a:off x="4659025" y="2707885"/>
            <a:ext cx="2441133" cy="144223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64608" y="288036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帮助工单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828032" y="2889504"/>
            <a:ext cx="1920240" cy="12959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作业失败排查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存储扩容申请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GPU 环境配置咨询</a:t>
            </a:r>
            <a:endParaRPr lang="en-US" sz="1060" dirty="0"/>
          </a:p>
        </p:txBody>
      </p:sp>
      <p:sp>
        <p:nvSpPr>
          <p:cNvPr id="60" name="Shape 58"/>
          <p:cNvSpPr/>
          <p:nvPr/>
        </p:nvSpPr>
        <p:spPr>
          <a:xfrm>
            <a:off x="6005296" y="332021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93839" y="337413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新建工单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138160" y="1078992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302752" y="11887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运营视角为什么必须进原型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357616" y="1499616"/>
            <a:ext cx="2971800" cy="141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超算门户不只是“提交作业”，还要覆盖账单、报表、服务支持。
</a:t>
            </a: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账单、工单和知识库在同一区域，能形成服务闭环。
</a:t>
            </a: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运维和管理员也需要原型，不只是普通用户界面。
</a:t>
            </a: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这页把“运营统计”落成可见页面，避免停留在口号层面。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同一套门户，不同角色首页原型不能完全一样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060704"/>
            <a:ext cx="9778404" cy="5084064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70432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普通用户首页强调“我要做什么”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1572768"/>
            <a:ext cx="7717536" cy="3511296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" y="1572768"/>
            <a:ext cx="32004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82496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682496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682496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64592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用户首页与仪表盘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1965960"/>
            <a:ext cx="6851694" cy="2990088"/>
          </a:xfrm>
          <a:prstGeom prst="roundRect">
            <a:avLst>
              <a:gd name="adj" fmla="val 1242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011680"/>
            <a:ext cx="1005840" cy="2907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2194560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6F2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224028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首页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" y="2505456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25511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资源申请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9264" y="2816352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2862072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我的作业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9264" y="3127248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172968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账单报表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" y="3438144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483864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帮助中心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9264" y="3749040"/>
            <a:ext cx="7863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" y="3794760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个人中心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83664" y="2011680"/>
            <a:ext cx="2980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2121408"/>
            <a:ext cx="28958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1828"/>
                </a:solidFill>
              </a:rPr>
              <a:t>欢迎回来，今日资源使用与待办概览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29968" y="2523744"/>
            <a:ext cx="10515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2633472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当前配额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139696" y="281635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</a:rPr>
              <a:t>3200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88920" y="263347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9E4FF"/>
          </a:solidFill>
          <a:ln w="12700">
            <a:solidFill>
              <a:srgbClr val="D9E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9544" y="2523744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9272" y="26334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运行作业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319272" y="281635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</a:rPr>
              <a:t>12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3899128" y="2608405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D5EEDE"/>
          </a:solidFill>
          <a:ln w="12700">
            <a:solidFill>
              <a:srgbClr val="D5EE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42816" y="2523744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26334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待审批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352544" y="2816352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869653" y="26151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76088" y="2523744"/>
            <a:ext cx="10241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85816" y="26334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本月账单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85816" y="28163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¥ 5,420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07608" y="263347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AE2FD"/>
          </a:solidFill>
          <a:ln w="12700">
            <a:solidFill>
              <a:srgbClr val="EAE2F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29968" y="3355848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194560" y="3465576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运行作业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157984" y="3657600"/>
            <a:ext cx="288036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94560" y="370332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任务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63824" y="3657600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7033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队列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803904" y="3657600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7033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443984" y="3657600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3703320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耗时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57984" y="3877056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94560" y="393192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mol-sim-01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3163824" y="387705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0" y="3931920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gpu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3803904" y="387705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31336" y="3906380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31336" y="392750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运行中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443984" y="387705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80560" y="3931920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02:16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2157984" y="4078224"/>
            <a:ext cx="288036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0" y="413308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climate-batch</a:t>
            </a:r>
            <a:endParaRPr lang="en-US" sz="940" dirty="0"/>
          </a:p>
        </p:txBody>
      </p:sp>
      <p:sp>
        <p:nvSpPr>
          <p:cNvPr id="73" name="Shape 71"/>
          <p:cNvSpPr/>
          <p:nvPr/>
        </p:nvSpPr>
        <p:spPr>
          <a:xfrm>
            <a:off x="3163824" y="4078224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0" y="413308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cpu</a:t>
            </a:r>
            <a:endParaRPr lang="en-US" sz="940" dirty="0"/>
          </a:p>
        </p:txBody>
      </p:sp>
      <p:sp>
        <p:nvSpPr>
          <p:cNvPr id="75" name="Shape 73"/>
          <p:cNvSpPr/>
          <p:nvPr/>
        </p:nvSpPr>
        <p:spPr>
          <a:xfrm>
            <a:off x="3803904" y="4078224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38904" y="4114169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31336" y="414223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排队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443984" y="4078224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0560" y="4133088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  <p:sp>
        <p:nvSpPr>
          <p:cNvPr id="80" name="Shape 78"/>
          <p:cNvSpPr/>
          <p:nvPr/>
        </p:nvSpPr>
        <p:spPr>
          <a:xfrm>
            <a:off x="5340096" y="3355848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5504688" y="346557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公告与提醒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5486400" y="3712464"/>
            <a:ext cx="1499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周五 20:00 维护窗口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新用户培训已开放报名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1 条审批结果待查看</a:t>
            </a:r>
            <a:endParaRPr lang="en-US" sz="1060" dirty="0"/>
          </a:p>
        </p:txBody>
      </p:sp>
      <p:sp>
        <p:nvSpPr>
          <p:cNvPr id="83" name="Text 81"/>
          <p:cNvSpPr/>
          <p:nvPr/>
        </p:nvSpPr>
        <p:spPr>
          <a:xfrm>
            <a:off x="749808" y="5321808"/>
            <a:ext cx="3200400" cy="7977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8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重点入口：申请、作业、账单、帮助
</a:t>
            </a:r>
            <a:r>
              <a:rPr lang="en-US" sz="128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8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强调个人待办和自己的资源状态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79066-A097-DA49-6355-3110BD00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C44A7E-4ACA-05A5-FB29-099161A2B006}"/>
              </a:ext>
            </a:extLst>
          </p:cNvPr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同一套门户，不同角色首页原型不能完全一样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AA7F1F-ACFC-4728-82F0-2CDB6A8600AE}"/>
              </a:ext>
            </a:extLst>
          </p:cNvPr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1AF74D-DDCE-6769-AE8A-3B7718B665D9}"/>
              </a:ext>
            </a:extLst>
          </p:cNvPr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AE7E37-158F-42E2-15C8-903D92860096}"/>
              </a:ext>
            </a:extLst>
          </p:cNvPr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5BB260B-0442-AA41-1BAF-5CDC4905B176}"/>
              </a:ext>
            </a:extLst>
          </p:cNvPr>
          <p:cNvSpPr/>
          <p:nvPr/>
        </p:nvSpPr>
        <p:spPr>
          <a:xfrm>
            <a:off x="493145" y="2414016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74F385B-8E34-0C1D-CF90-46F3185B819C}"/>
              </a:ext>
            </a:extLst>
          </p:cNvPr>
          <p:cNvSpPr/>
          <p:nvPr/>
        </p:nvSpPr>
        <p:spPr>
          <a:xfrm>
            <a:off x="602873" y="2523744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待审批</a:t>
            </a:r>
            <a:endParaRPr lang="en-US" sz="10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8F9DBFC-8485-9A67-5007-40A462E5DD88}"/>
              </a:ext>
            </a:extLst>
          </p:cNvPr>
          <p:cNvSpPr/>
          <p:nvPr/>
        </p:nvSpPr>
        <p:spPr>
          <a:xfrm>
            <a:off x="602873" y="270662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3810982-614A-B247-DF3E-82EDC32EA454}"/>
              </a:ext>
            </a:extLst>
          </p:cNvPr>
          <p:cNvSpPr/>
          <p:nvPr/>
        </p:nvSpPr>
        <p:spPr>
          <a:xfrm>
            <a:off x="1114937" y="25237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FDEED3"/>
          </a:solidFill>
          <a:ln w="12700">
            <a:solidFill>
              <a:srgbClr val="FDEED3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62B2320-B615-0319-B058-C313436A04E6}"/>
              </a:ext>
            </a:extLst>
          </p:cNvPr>
          <p:cNvSpPr/>
          <p:nvPr/>
        </p:nvSpPr>
        <p:spPr>
          <a:xfrm>
            <a:off x="1526417" y="2414016"/>
            <a:ext cx="10241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F4FD46A-77F0-94F5-3129-5B1E61D1891F}"/>
              </a:ext>
            </a:extLst>
          </p:cNvPr>
          <p:cNvSpPr/>
          <p:nvPr/>
        </p:nvSpPr>
        <p:spPr>
          <a:xfrm>
            <a:off x="1636145" y="2523744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本月账单</a:t>
            </a:r>
            <a:endParaRPr lang="en-US" sz="105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1629B9D-9C57-ED31-7A3C-563C9BA6B351}"/>
              </a:ext>
            </a:extLst>
          </p:cNvPr>
          <p:cNvSpPr/>
          <p:nvPr/>
        </p:nvSpPr>
        <p:spPr>
          <a:xfrm>
            <a:off x="1636145" y="270662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</a:rPr>
              <a:t>¥ 5,420</a:t>
            </a:r>
            <a:endParaRPr lang="en-US" sz="18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1E8B918-FF7C-FC1A-967E-89F58E6EEFF8}"/>
              </a:ext>
            </a:extLst>
          </p:cNvPr>
          <p:cNvSpPr/>
          <p:nvPr/>
        </p:nvSpPr>
        <p:spPr>
          <a:xfrm>
            <a:off x="2257937" y="25237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AE2FD"/>
          </a:solidFill>
          <a:ln w="12700">
            <a:solidFill>
              <a:srgbClr val="EAE2FD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7C40422-B654-3A27-289A-764EEAB0AA04}"/>
              </a:ext>
            </a:extLst>
          </p:cNvPr>
          <p:cNvSpPr/>
          <p:nvPr/>
        </p:nvSpPr>
        <p:spPr>
          <a:xfrm>
            <a:off x="694313" y="3547872"/>
            <a:ext cx="0" cy="621792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6BA8BE8-4240-16E4-3D8F-DF5417379534}"/>
              </a:ext>
            </a:extLst>
          </p:cNvPr>
          <p:cNvSpPr/>
          <p:nvPr/>
        </p:nvSpPr>
        <p:spPr>
          <a:xfrm>
            <a:off x="730889" y="3593592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耗时</a:t>
            </a:r>
            <a:endParaRPr lang="en-US" sz="95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12C31633-AA2C-52C5-E919-F3257920ED8A}"/>
              </a:ext>
            </a:extLst>
          </p:cNvPr>
          <p:cNvSpPr/>
          <p:nvPr/>
        </p:nvSpPr>
        <p:spPr>
          <a:xfrm>
            <a:off x="694313" y="3767328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D1AD6CEB-87BC-A628-8231-D5DC942D4F4D}"/>
              </a:ext>
            </a:extLst>
          </p:cNvPr>
          <p:cNvSpPr/>
          <p:nvPr/>
        </p:nvSpPr>
        <p:spPr>
          <a:xfrm>
            <a:off x="730889" y="3822192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02:16</a:t>
            </a:r>
            <a:endParaRPr lang="en-US" sz="94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D13DF252-F4A6-C56C-6C95-EA5320C6B5A7}"/>
              </a:ext>
            </a:extLst>
          </p:cNvPr>
          <p:cNvSpPr/>
          <p:nvPr/>
        </p:nvSpPr>
        <p:spPr>
          <a:xfrm>
            <a:off x="694313" y="3968496"/>
            <a:ext cx="0" cy="20116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4BFAAAD2-5ACE-2C19-E27C-B51257325EC3}"/>
              </a:ext>
            </a:extLst>
          </p:cNvPr>
          <p:cNvSpPr/>
          <p:nvPr/>
        </p:nvSpPr>
        <p:spPr>
          <a:xfrm>
            <a:off x="730889" y="4023360"/>
            <a:ext cx="521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--</a:t>
            </a:r>
            <a:endParaRPr lang="en-US" sz="94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0595F1DA-4B81-D02F-6FDC-3373ED2D6947}"/>
              </a:ext>
            </a:extLst>
          </p:cNvPr>
          <p:cNvSpPr/>
          <p:nvPr/>
        </p:nvSpPr>
        <p:spPr>
          <a:xfrm>
            <a:off x="1590425" y="3246120"/>
            <a:ext cx="1783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6D1D9011-193A-9D48-FAE1-40944FFA962C}"/>
              </a:ext>
            </a:extLst>
          </p:cNvPr>
          <p:cNvSpPr/>
          <p:nvPr/>
        </p:nvSpPr>
        <p:spPr>
          <a:xfrm>
            <a:off x="1755017" y="33558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公告与提醒</a:t>
            </a:r>
            <a:endParaRPr lang="en-US" sz="16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05D74240-B4BE-28D1-DE41-52195BB8EDDD}"/>
              </a:ext>
            </a:extLst>
          </p:cNvPr>
          <p:cNvSpPr/>
          <p:nvPr/>
        </p:nvSpPr>
        <p:spPr>
          <a:xfrm>
            <a:off x="1736729" y="3602736"/>
            <a:ext cx="149961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周五 20:00 维护窗口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新用户培训已开放报名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344054"/>
                </a:solidFill>
              </a:rPr>
              <a:t>• 1 条审批结果待查看</a:t>
            </a:r>
            <a:endParaRPr lang="en-US" sz="106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1832D74E-31FE-1E1D-7134-F948D219954C}"/>
              </a:ext>
            </a:extLst>
          </p:cNvPr>
          <p:cNvSpPr/>
          <p:nvPr/>
        </p:nvSpPr>
        <p:spPr>
          <a:xfrm>
            <a:off x="437649" y="950976"/>
            <a:ext cx="7394660" cy="5084064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616F923A-BEF7-AAA9-ACB4-50FA87C0A687}"/>
              </a:ext>
            </a:extLst>
          </p:cNvPr>
          <p:cNvSpPr/>
          <p:nvPr/>
        </p:nvSpPr>
        <p:spPr>
          <a:xfrm>
            <a:off x="676025" y="1060704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管理员 / PI </a:t>
            </a:r>
            <a:r>
              <a:rPr lang="en-US" sz="1600" b="1" dirty="0" err="1">
                <a:solidFill>
                  <a:srgbClr val="101828"/>
                </a:solidFill>
              </a:rPr>
              <a:t>首页强调</a:t>
            </a:r>
            <a:r>
              <a:rPr lang="zh-CN" altLang="en-US" sz="1600" b="1" dirty="0">
                <a:solidFill>
                  <a:srgbClr val="101828"/>
                </a:solidFill>
              </a:rPr>
              <a:t>“</a:t>
            </a:r>
            <a:r>
              <a:rPr lang="en-US" sz="1600" b="1" dirty="0" err="1">
                <a:solidFill>
                  <a:srgbClr val="101828"/>
                </a:solidFill>
              </a:rPr>
              <a:t>我要处理什么</a:t>
            </a:r>
            <a:r>
              <a:rPr lang="zh-CN" altLang="en-US" sz="1600" b="1" dirty="0">
                <a:solidFill>
                  <a:srgbClr val="101828"/>
                </a:solidFill>
              </a:rPr>
              <a:t>”</a:t>
            </a:r>
            <a:endParaRPr lang="en-US" sz="16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DCB40E3D-C08E-AD2F-8598-042B2EF1A102}"/>
              </a:ext>
            </a:extLst>
          </p:cNvPr>
          <p:cNvSpPr/>
          <p:nvPr/>
        </p:nvSpPr>
        <p:spPr>
          <a:xfrm>
            <a:off x="749176" y="1463040"/>
            <a:ext cx="6843495" cy="3511296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7D764D4E-82D0-A8FC-D14B-E6D991763238}"/>
              </a:ext>
            </a:extLst>
          </p:cNvPr>
          <p:cNvSpPr/>
          <p:nvPr/>
        </p:nvSpPr>
        <p:spPr>
          <a:xfrm>
            <a:off x="749177" y="1463040"/>
            <a:ext cx="320040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58DC6DF2-7486-63A2-3B8B-03FFEB16CA65}"/>
              </a:ext>
            </a:extLst>
          </p:cNvPr>
          <p:cNvSpPr/>
          <p:nvPr/>
        </p:nvSpPr>
        <p:spPr>
          <a:xfrm>
            <a:off x="877193" y="1572768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12213BBA-64D0-A454-4253-35AD6238F015}"/>
              </a:ext>
            </a:extLst>
          </p:cNvPr>
          <p:cNvSpPr/>
          <p:nvPr/>
        </p:nvSpPr>
        <p:spPr>
          <a:xfrm>
            <a:off x="986921" y="1572768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FEA6CE55-0E32-26E9-2BEA-5EB09810D80D}"/>
              </a:ext>
            </a:extLst>
          </p:cNvPr>
          <p:cNvSpPr/>
          <p:nvPr/>
        </p:nvSpPr>
        <p:spPr>
          <a:xfrm>
            <a:off x="1096649" y="1572768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D7A84633-467D-17EA-BD92-A74308C5C2E5}"/>
              </a:ext>
            </a:extLst>
          </p:cNvPr>
          <p:cNvSpPr/>
          <p:nvPr/>
        </p:nvSpPr>
        <p:spPr>
          <a:xfrm>
            <a:off x="1169801" y="153619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审批中心</a:t>
            </a:r>
            <a:endParaRPr lang="en-US" sz="125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1BAE4FAB-E741-AB1B-EDF7-FEB54A91C392}"/>
              </a:ext>
            </a:extLst>
          </p:cNvPr>
          <p:cNvSpPr/>
          <p:nvPr/>
        </p:nvSpPr>
        <p:spPr>
          <a:xfrm>
            <a:off x="877192" y="1856232"/>
            <a:ext cx="6557825" cy="2990088"/>
          </a:xfrm>
          <a:prstGeom prst="roundRect">
            <a:avLst>
              <a:gd name="adj" fmla="val 1242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D3CBA3D4-7F69-09B7-A43F-9C8783DBD9A1}"/>
              </a:ext>
            </a:extLst>
          </p:cNvPr>
          <p:cNvSpPr/>
          <p:nvPr/>
        </p:nvSpPr>
        <p:spPr>
          <a:xfrm>
            <a:off x="913769" y="1901952"/>
            <a:ext cx="960120" cy="2907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475EE314-BF85-09FB-C8E1-F8406BE355F5}"/>
              </a:ext>
            </a:extLst>
          </p:cNvPr>
          <p:cNvSpPr/>
          <p:nvPr/>
        </p:nvSpPr>
        <p:spPr>
          <a:xfrm>
            <a:off x="1023497" y="2084832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ECF8F1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32B17E69-73EE-4CC0-9255-021A0B228E36}"/>
              </a:ext>
            </a:extLst>
          </p:cNvPr>
          <p:cNvSpPr/>
          <p:nvPr/>
        </p:nvSpPr>
        <p:spPr>
          <a:xfrm>
            <a:off x="1096649" y="213055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</a:rPr>
              <a:t>待审批</a:t>
            </a:r>
            <a:endParaRPr lang="en-US" sz="105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ADCBC28E-AFA6-8532-D2E8-0C67F243CC50}"/>
              </a:ext>
            </a:extLst>
          </p:cNvPr>
          <p:cNvSpPr/>
          <p:nvPr/>
        </p:nvSpPr>
        <p:spPr>
          <a:xfrm>
            <a:off x="1023497" y="2395728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D29566B3-1B8B-9506-5351-AE311F326EEA}"/>
              </a:ext>
            </a:extLst>
          </p:cNvPr>
          <p:cNvSpPr/>
          <p:nvPr/>
        </p:nvSpPr>
        <p:spPr>
          <a:xfrm>
            <a:off x="1096649" y="244144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已处理</a:t>
            </a:r>
            <a:endParaRPr lang="en-US" sz="105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5F6E727B-2F21-4B0C-460D-DE41B45174E9}"/>
              </a:ext>
            </a:extLst>
          </p:cNvPr>
          <p:cNvSpPr/>
          <p:nvPr/>
        </p:nvSpPr>
        <p:spPr>
          <a:xfrm>
            <a:off x="1023497" y="2706624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5EA80D60-B138-A29F-E933-FE522BC5E2BD}"/>
              </a:ext>
            </a:extLst>
          </p:cNvPr>
          <p:cNvSpPr/>
          <p:nvPr/>
        </p:nvSpPr>
        <p:spPr>
          <a:xfrm>
            <a:off x="1096649" y="2752344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配额开通</a:t>
            </a:r>
            <a:endParaRPr lang="en-US" sz="105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EEF37A4A-5586-1B53-5E86-53D88EC233CD}"/>
              </a:ext>
            </a:extLst>
          </p:cNvPr>
          <p:cNvSpPr/>
          <p:nvPr/>
        </p:nvSpPr>
        <p:spPr>
          <a:xfrm>
            <a:off x="1023497" y="3017520"/>
            <a:ext cx="74066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E9BDE185-F1F1-B82B-383B-821DFCF9F58B}"/>
              </a:ext>
            </a:extLst>
          </p:cNvPr>
          <p:cNvSpPr/>
          <p:nvPr/>
        </p:nvSpPr>
        <p:spPr>
          <a:xfrm>
            <a:off x="1096649" y="3063240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操作记录</a:t>
            </a:r>
            <a:endParaRPr lang="en-US" sz="105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0BEEB802-4BB8-4705-9F38-2ECE8B39E6E3}"/>
              </a:ext>
            </a:extLst>
          </p:cNvPr>
          <p:cNvSpPr/>
          <p:nvPr/>
        </p:nvSpPr>
        <p:spPr>
          <a:xfrm>
            <a:off x="1974473" y="199339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PI / 管理员审批工作台</a:t>
            </a:r>
            <a:endParaRPr lang="en-US" sz="140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3E93BD2C-2F90-4FAE-D591-C020245F69C0}"/>
              </a:ext>
            </a:extLst>
          </p:cNvPr>
          <p:cNvSpPr/>
          <p:nvPr/>
        </p:nvSpPr>
        <p:spPr>
          <a:xfrm>
            <a:off x="1974473" y="2267712"/>
            <a:ext cx="265176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858D421C-8503-64E6-7BE3-325B0446B91D}"/>
              </a:ext>
            </a:extLst>
          </p:cNvPr>
          <p:cNvSpPr/>
          <p:nvPr/>
        </p:nvSpPr>
        <p:spPr>
          <a:xfrm>
            <a:off x="2139065" y="2377440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申请列表</a:t>
            </a:r>
            <a:endParaRPr lang="en-US" sz="1600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9537AE42-0607-1098-70C9-0D2306204548}"/>
              </a:ext>
            </a:extLst>
          </p:cNvPr>
          <p:cNvSpPr/>
          <p:nvPr/>
        </p:nvSpPr>
        <p:spPr>
          <a:xfrm>
            <a:off x="2102489" y="2596896"/>
            <a:ext cx="2395728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80F4F758-34FD-259F-EF0E-7B352C6E3787}"/>
              </a:ext>
            </a:extLst>
          </p:cNvPr>
          <p:cNvSpPr/>
          <p:nvPr/>
        </p:nvSpPr>
        <p:spPr>
          <a:xfrm>
            <a:off x="2139065" y="264261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申请</a:t>
            </a:r>
            <a:endParaRPr lang="en-US" sz="950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60F81749-D436-ED53-A92F-F43664090D14}"/>
              </a:ext>
            </a:extLst>
          </p:cNvPr>
          <p:cNvSpPr/>
          <p:nvPr/>
        </p:nvSpPr>
        <p:spPr>
          <a:xfrm>
            <a:off x="3154049" y="2596896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25B01C44-5A9D-83F4-28F3-7232AE267316}"/>
              </a:ext>
            </a:extLst>
          </p:cNvPr>
          <p:cNvSpPr/>
          <p:nvPr/>
        </p:nvSpPr>
        <p:spPr>
          <a:xfrm>
            <a:off x="3190625" y="26426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类型</a:t>
            </a:r>
            <a:endParaRPr lang="en-US" sz="95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A8B41A48-0956-BCC8-0C2F-27F72B35F755}"/>
              </a:ext>
            </a:extLst>
          </p:cNvPr>
          <p:cNvSpPr/>
          <p:nvPr/>
        </p:nvSpPr>
        <p:spPr>
          <a:xfrm>
            <a:off x="3794129" y="2596896"/>
            <a:ext cx="0" cy="142646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F7516E72-3713-7416-6C46-F12E0241083B}"/>
              </a:ext>
            </a:extLst>
          </p:cNvPr>
          <p:cNvSpPr/>
          <p:nvPr/>
        </p:nvSpPr>
        <p:spPr>
          <a:xfrm>
            <a:off x="3830705" y="2642616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状态</a:t>
            </a:r>
            <a:endParaRPr lang="en-US" sz="950" dirty="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79C9915D-AEEF-B1A2-4E42-E790D97A25FB}"/>
              </a:ext>
            </a:extLst>
          </p:cNvPr>
          <p:cNvSpPr/>
          <p:nvPr/>
        </p:nvSpPr>
        <p:spPr>
          <a:xfrm>
            <a:off x="2102489" y="2816352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2C0435CB-4619-857F-007F-DD3F79D768CB}"/>
              </a:ext>
            </a:extLst>
          </p:cNvPr>
          <p:cNvSpPr/>
          <p:nvPr/>
        </p:nvSpPr>
        <p:spPr>
          <a:xfrm>
            <a:off x="2139065" y="2871216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气候模拟</a:t>
            </a:r>
            <a:endParaRPr lang="en-US" sz="940" dirty="0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B20028AF-17AD-C552-44D7-0653F8D86EB6}"/>
              </a:ext>
            </a:extLst>
          </p:cNvPr>
          <p:cNvSpPr/>
          <p:nvPr/>
        </p:nvSpPr>
        <p:spPr>
          <a:xfrm>
            <a:off x="3154049" y="2816352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1D8ACC82-41DB-8344-33F3-EB835CBD17EF}"/>
              </a:ext>
            </a:extLst>
          </p:cNvPr>
          <p:cNvSpPr/>
          <p:nvPr/>
        </p:nvSpPr>
        <p:spPr>
          <a:xfrm>
            <a:off x="3190625" y="287121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正式</a:t>
            </a:r>
            <a:endParaRPr lang="en-US" sz="94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66916C81-7F63-FCA0-E381-B6653AA39889}"/>
              </a:ext>
            </a:extLst>
          </p:cNvPr>
          <p:cNvSpPr/>
          <p:nvPr/>
        </p:nvSpPr>
        <p:spPr>
          <a:xfrm>
            <a:off x="3794129" y="2816352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F1C95654-8489-2035-EB5D-33091873FE2D}"/>
              </a:ext>
            </a:extLst>
          </p:cNvPr>
          <p:cNvSpPr/>
          <p:nvPr/>
        </p:nvSpPr>
        <p:spPr>
          <a:xfrm>
            <a:off x="3839849" y="2871216"/>
            <a:ext cx="612648" cy="27432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2DF72934-6151-68D9-A489-9FA42885F773}"/>
              </a:ext>
            </a:extLst>
          </p:cNvPr>
          <p:cNvSpPr/>
          <p:nvPr/>
        </p:nvSpPr>
        <p:spPr>
          <a:xfrm>
            <a:off x="3839849" y="2916936"/>
            <a:ext cx="6126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待审批</a:t>
            </a:r>
            <a:endParaRPr lang="en-US" sz="1080" dirty="0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0B0C37EC-8C41-5DF9-89CB-51B0C4891778}"/>
              </a:ext>
            </a:extLst>
          </p:cNvPr>
          <p:cNvSpPr/>
          <p:nvPr/>
        </p:nvSpPr>
        <p:spPr>
          <a:xfrm>
            <a:off x="2102489" y="3218688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9" name="Text 117">
            <a:extLst>
              <a:ext uri="{FF2B5EF4-FFF2-40B4-BE49-F238E27FC236}">
                <a16:creationId xmlns:a16="http://schemas.microsoft.com/office/drawing/2014/main" id="{004CE295-B5FD-A637-6E8F-3AA241ACEB0E}"/>
              </a:ext>
            </a:extLst>
          </p:cNvPr>
          <p:cNvSpPr/>
          <p:nvPr/>
        </p:nvSpPr>
        <p:spPr>
          <a:xfrm>
            <a:off x="2139065" y="3273552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生物分析</a:t>
            </a:r>
            <a:endParaRPr lang="en-US" sz="940" dirty="0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7655AA69-6E51-5617-88EC-C675170C8162}"/>
              </a:ext>
            </a:extLst>
          </p:cNvPr>
          <p:cNvSpPr/>
          <p:nvPr/>
        </p:nvSpPr>
        <p:spPr>
          <a:xfrm>
            <a:off x="3154049" y="3218688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21" name="Text 119">
            <a:extLst>
              <a:ext uri="{FF2B5EF4-FFF2-40B4-BE49-F238E27FC236}">
                <a16:creationId xmlns:a16="http://schemas.microsoft.com/office/drawing/2014/main" id="{5189E72E-45C0-3B43-B26F-9CE806B98D4C}"/>
              </a:ext>
            </a:extLst>
          </p:cNvPr>
          <p:cNvSpPr/>
          <p:nvPr/>
        </p:nvSpPr>
        <p:spPr>
          <a:xfrm>
            <a:off x="3190625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扩容</a:t>
            </a:r>
            <a:endParaRPr lang="en-US" sz="940" dirty="0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410D9CAA-A321-5D69-C71D-B831ABAEF240}"/>
              </a:ext>
            </a:extLst>
          </p:cNvPr>
          <p:cNvSpPr/>
          <p:nvPr/>
        </p:nvSpPr>
        <p:spPr>
          <a:xfrm>
            <a:off x="3794129" y="3218688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79CC530E-03CB-C00E-302B-CB3939ECC601}"/>
              </a:ext>
            </a:extLst>
          </p:cNvPr>
          <p:cNvSpPr/>
          <p:nvPr/>
        </p:nvSpPr>
        <p:spPr>
          <a:xfrm>
            <a:off x="3839849" y="3273552"/>
            <a:ext cx="612648" cy="210312"/>
          </a:xfrm>
          <a:prstGeom prst="roundRect">
            <a:avLst>
              <a:gd name="adj" fmla="val 50000"/>
            </a:avLst>
          </a:prstGeom>
          <a:solidFill>
            <a:srgbClr val="FE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9B9509C5-B039-6938-3046-936407E1146C}"/>
              </a:ext>
            </a:extLst>
          </p:cNvPr>
          <p:cNvSpPr/>
          <p:nvPr/>
        </p:nvSpPr>
        <p:spPr>
          <a:xfrm>
            <a:off x="3839849" y="3319272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F4444"/>
                </a:solidFill>
              </a:rPr>
              <a:t>待补充</a:t>
            </a:r>
            <a:endParaRPr lang="en-US" sz="108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C3DCB0D9-CC95-72EA-0E24-7AE0E10449E2}"/>
              </a:ext>
            </a:extLst>
          </p:cNvPr>
          <p:cNvSpPr/>
          <p:nvPr/>
        </p:nvSpPr>
        <p:spPr>
          <a:xfrm>
            <a:off x="2102489" y="3621024"/>
            <a:ext cx="23957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8A754B05-5EDC-50C4-B5DB-A2E19754186C}"/>
              </a:ext>
            </a:extLst>
          </p:cNvPr>
          <p:cNvSpPr/>
          <p:nvPr/>
        </p:nvSpPr>
        <p:spPr>
          <a:xfrm>
            <a:off x="2139065" y="3675888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材料计算</a:t>
            </a:r>
            <a:endParaRPr lang="en-US" sz="940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1E396BFD-27FE-449D-D484-348AA8E7C61B}"/>
              </a:ext>
            </a:extLst>
          </p:cNvPr>
          <p:cNvSpPr/>
          <p:nvPr/>
        </p:nvSpPr>
        <p:spPr>
          <a:xfrm>
            <a:off x="3154049" y="3621024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F6A1344F-0D5C-421F-78BA-BBA98ECB2EBA}"/>
              </a:ext>
            </a:extLst>
          </p:cNvPr>
          <p:cNvSpPr/>
          <p:nvPr/>
        </p:nvSpPr>
        <p:spPr>
          <a:xfrm>
            <a:off x="3190625" y="3675888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试用</a:t>
            </a:r>
            <a:endParaRPr lang="en-US" sz="940" dirty="0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E5F69441-EE3D-AACF-AE86-622047EA2F0C}"/>
              </a:ext>
            </a:extLst>
          </p:cNvPr>
          <p:cNvSpPr/>
          <p:nvPr/>
        </p:nvSpPr>
        <p:spPr>
          <a:xfrm>
            <a:off x="3794129" y="3621024"/>
            <a:ext cx="0" cy="402336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30" name="Shape 128">
            <a:extLst>
              <a:ext uri="{FF2B5EF4-FFF2-40B4-BE49-F238E27FC236}">
                <a16:creationId xmlns:a16="http://schemas.microsoft.com/office/drawing/2014/main" id="{02BEB9D3-3541-2B82-A44B-D7956C2EDD41}"/>
              </a:ext>
            </a:extLst>
          </p:cNvPr>
          <p:cNvSpPr/>
          <p:nvPr/>
        </p:nvSpPr>
        <p:spPr>
          <a:xfrm>
            <a:off x="3839849" y="3675888"/>
            <a:ext cx="612648" cy="228600"/>
          </a:xfrm>
          <a:prstGeom prst="roundRect">
            <a:avLst>
              <a:gd name="adj" fmla="val 50000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C04C73A8-63B5-0D9D-244A-7DD637739DD1}"/>
              </a:ext>
            </a:extLst>
          </p:cNvPr>
          <p:cNvSpPr/>
          <p:nvPr/>
        </p:nvSpPr>
        <p:spPr>
          <a:xfrm>
            <a:off x="3839849" y="3721608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通过</a:t>
            </a:r>
            <a:endParaRPr lang="en-US" sz="1080" dirty="0"/>
          </a:p>
        </p:txBody>
      </p:sp>
      <p:sp>
        <p:nvSpPr>
          <p:cNvPr id="132" name="Shape 130">
            <a:extLst>
              <a:ext uri="{FF2B5EF4-FFF2-40B4-BE49-F238E27FC236}">
                <a16:creationId xmlns:a16="http://schemas.microsoft.com/office/drawing/2014/main" id="{AA27CABA-7532-7800-ACC1-F499674F521B}"/>
              </a:ext>
            </a:extLst>
          </p:cNvPr>
          <p:cNvSpPr/>
          <p:nvPr/>
        </p:nvSpPr>
        <p:spPr>
          <a:xfrm>
            <a:off x="4790825" y="2267712"/>
            <a:ext cx="233172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3" name="Text 131">
            <a:extLst>
              <a:ext uri="{FF2B5EF4-FFF2-40B4-BE49-F238E27FC236}">
                <a16:creationId xmlns:a16="http://schemas.microsoft.com/office/drawing/2014/main" id="{E32F1562-1AA4-0365-3C3B-9F4F4BEC1782}"/>
              </a:ext>
            </a:extLst>
          </p:cNvPr>
          <p:cNvSpPr/>
          <p:nvPr/>
        </p:nvSpPr>
        <p:spPr>
          <a:xfrm>
            <a:off x="4955417" y="2377440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申请详情</a:t>
            </a:r>
            <a:endParaRPr lang="en-US" sz="1600" dirty="0"/>
          </a:p>
        </p:txBody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2AF95560-0BC0-717E-6E14-A7EAE0DAD00C}"/>
              </a:ext>
            </a:extLst>
          </p:cNvPr>
          <p:cNvSpPr/>
          <p:nvPr/>
        </p:nvSpPr>
        <p:spPr>
          <a:xfrm>
            <a:off x="4973705" y="2578608"/>
            <a:ext cx="19568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申请人：张同学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所属项目：Climate-24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申请资源：256 CPU / 8 GPU / 20TB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344054"/>
                </a:solidFill>
              </a:rPr>
              <a:t>说明：需运行多轮高分辨率模拟</a:t>
            </a:r>
            <a:endParaRPr lang="en-US" sz="1080" dirty="0"/>
          </a:p>
        </p:txBody>
      </p:sp>
      <p:sp>
        <p:nvSpPr>
          <p:cNvPr id="135" name="Shape 133">
            <a:extLst>
              <a:ext uri="{FF2B5EF4-FFF2-40B4-BE49-F238E27FC236}">
                <a16:creationId xmlns:a16="http://schemas.microsoft.com/office/drawing/2014/main" id="{D1DE57DC-BEFB-F7FD-A3AB-D5DC1D38ADEB}"/>
              </a:ext>
            </a:extLst>
          </p:cNvPr>
          <p:cNvSpPr/>
          <p:nvPr/>
        </p:nvSpPr>
        <p:spPr>
          <a:xfrm>
            <a:off x="4991993" y="3712464"/>
            <a:ext cx="804672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6" name="Text 134">
            <a:extLst>
              <a:ext uri="{FF2B5EF4-FFF2-40B4-BE49-F238E27FC236}">
                <a16:creationId xmlns:a16="http://schemas.microsoft.com/office/drawing/2014/main" id="{E10A7851-E404-DE4E-2326-0BEE13E45257}"/>
              </a:ext>
            </a:extLst>
          </p:cNvPr>
          <p:cNvSpPr/>
          <p:nvPr/>
        </p:nvSpPr>
        <p:spPr>
          <a:xfrm>
            <a:off x="4991993" y="3758184"/>
            <a:ext cx="8046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驳回补充</a:t>
            </a:r>
            <a:endParaRPr lang="en-US" sz="1100" dirty="0"/>
          </a:p>
        </p:txBody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899C5961-004B-FC8D-DE75-6AE6E5680D31}"/>
              </a:ext>
            </a:extLst>
          </p:cNvPr>
          <p:cNvSpPr/>
          <p:nvPr/>
        </p:nvSpPr>
        <p:spPr>
          <a:xfrm>
            <a:off x="5888105" y="3712464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8" name="Text 136">
            <a:extLst>
              <a:ext uri="{FF2B5EF4-FFF2-40B4-BE49-F238E27FC236}">
                <a16:creationId xmlns:a16="http://schemas.microsoft.com/office/drawing/2014/main" id="{63CB2B1B-2B2F-7C7B-D33E-A949E8B3FE2E}"/>
              </a:ext>
            </a:extLst>
          </p:cNvPr>
          <p:cNvSpPr/>
          <p:nvPr/>
        </p:nvSpPr>
        <p:spPr>
          <a:xfrm>
            <a:off x="5888105" y="3758184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审批通过并开通</a:t>
            </a:r>
            <a:endParaRPr lang="en-US" sz="1100" dirty="0"/>
          </a:p>
        </p:txBody>
      </p:sp>
      <p:sp>
        <p:nvSpPr>
          <p:cNvPr id="139" name="Text 137">
            <a:extLst>
              <a:ext uri="{FF2B5EF4-FFF2-40B4-BE49-F238E27FC236}">
                <a16:creationId xmlns:a16="http://schemas.microsoft.com/office/drawing/2014/main" id="{3F8D67A4-8465-1283-F14B-7A1FD3DED0BC}"/>
              </a:ext>
            </a:extLst>
          </p:cNvPr>
          <p:cNvSpPr/>
          <p:nvPr/>
        </p:nvSpPr>
        <p:spPr>
          <a:xfrm>
            <a:off x="804041" y="5212080"/>
            <a:ext cx="3127248" cy="7977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8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重点入口：待审批、配额开通、操作记录
</a:t>
            </a:r>
            <a:r>
              <a:rPr lang="en-US" sz="128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28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强调列表处理效率和风险提醒</a:t>
            </a:r>
            <a:endParaRPr lang="en-US" sz="1280" dirty="0"/>
          </a:p>
        </p:txBody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84507721-8BBD-E473-FFEC-DE3A89E67FE6}"/>
              </a:ext>
            </a:extLst>
          </p:cNvPr>
          <p:cNvSpPr/>
          <p:nvPr/>
        </p:nvSpPr>
        <p:spPr>
          <a:xfrm>
            <a:off x="8146988" y="2066543"/>
            <a:ext cx="3657600" cy="247392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1" name="Text 139">
            <a:extLst>
              <a:ext uri="{FF2B5EF4-FFF2-40B4-BE49-F238E27FC236}">
                <a16:creationId xmlns:a16="http://schemas.microsoft.com/office/drawing/2014/main" id="{08EA4889-C681-E673-2E85-8F59A76376BB}"/>
              </a:ext>
            </a:extLst>
          </p:cNvPr>
          <p:cNvSpPr/>
          <p:nvPr/>
        </p:nvSpPr>
        <p:spPr>
          <a:xfrm>
            <a:off x="8425935" y="226771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这一页想说明什么</a:t>
            </a:r>
            <a:endParaRPr lang="en-US" sz="1600" dirty="0"/>
          </a:p>
        </p:txBody>
      </p:sp>
      <p:sp>
        <p:nvSpPr>
          <p:cNvPr id="142" name="Text 140">
            <a:extLst>
              <a:ext uri="{FF2B5EF4-FFF2-40B4-BE49-F238E27FC236}">
                <a16:creationId xmlns:a16="http://schemas.microsoft.com/office/drawing/2014/main" id="{0894F62C-3B87-ABC6-89C2-39BC7A178C23}"/>
              </a:ext>
            </a:extLst>
          </p:cNvPr>
          <p:cNvSpPr/>
          <p:nvPr/>
        </p:nvSpPr>
        <p:spPr>
          <a:xfrm>
            <a:off x="8425935" y="2743962"/>
            <a:ext cx="3054096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“同一个系统不同角色同一界面”通常会造成噪音过多。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角色化原型可以帮助我们更早发现权限、导航和信息优先级问题。
</a:t>
            </a:r>
            <a:r>
              <a:rPr lang="en-US" sz="14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这也能反向支持后续用例图和权限模型。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4956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课堂互动问题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14284" y="1243583"/>
            <a:ext cx="89440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从上一页两套首页原型来看，为什么不能只做一个“通用首页”？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1" y="2249424"/>
            <a:ext cx="1016182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7802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35024" y="2432304"/>
            <a:ext cx="8796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普通用户更关心申请、作业和账单，PI/管理员更关心待审批、异常与开通处理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" y="3182112"/>
            <a:ext cx="1016182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10712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335024" y="3364991"/>
            <a:ext cx="7127906" cy="336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因为角色越多，首页就应该放越多相同模块，这样最省设计工作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" y="4114800"/>
            <a:ext cx="1016182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35023" y="4297679"/>
            <a:ext cx="5084695" cy="312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因为只要把配色改一改，就已经完成了角色区分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把几张原型连起来，才能看见完整页面流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078992"/>
            <a:ext cx="11247120" cy="539496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10917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资源申请主线的 wireflow / 页面流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1901951"/>
            <a:ext cx="2121408" cy="3061033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048256"/>
            <a:ext cx="193852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048256"/>
            <a:ext cx="19385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157984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" y="2157984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3584" y="2157984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6736" y="212140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登录与入口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24128" y="2441448"/>
            <a:ext cx="1682496" cy="1106424"/>
          </a:xfrm>
          <a:prstGeom prst="roundRect">
            <a:avLst>
              <a:gd name="adj" fmla="val 3306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395728"/>
            <a:ext cx="1682496" cy="932688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2395728"/>
            <a:ext cx="1682496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2651760"/>
            <a:ext cx="420624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1056" y="2651760"/>
            <a:ext cx="1024128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18488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18488" y="3218688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18488" y="3328416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18488" y="3438144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18488" y="3547872"/>
            <a:ext cx="932688" cy="73152"/>
          </a:xfrm>
          <a:prstGeom prst="roundRect">
            <a:avLst>
              <a:gd name="adj" fmla="val 25000"/>
            </a:avLst>
          </a:prstGeom>
          <a:solidFill>
            <a:srgbClr val="E6ED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18488" y="3657600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3895344"/>
            <a:ext cx="1335024" cy="219456"/>
          </a:xfrm>
          <a:prstGeom prst="roundRect">
            <a:avLst>
              <a:gd name="adj" fmla="val 33333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394106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1 登录进入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05840" y="4187952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统一入口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005840" y="4361688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登录 / 帮助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1005840" y="4535424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角色识别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3090672" y="2944368"/>
            <a:ext cx="310896" cy="219456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1901951"/>
            <a:ext cx="2121408" cy="2991665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75888" y="2048256"/>
            <a:ext cx="193852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75888" y="2048256"/>
            <a:ext cx="19385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03904" y="2157984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13632" y="2157984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0" y="2157984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6512" y="212140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资源申请表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803904" y="2441448"/>
            <a:ext cx="1682496" cy="1106424"/>
          </a:xfrm>
          <a:prstGeom prst="roundRect">
            <a:avLst>
              <a:gd name="adj" fmla="val 3306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03904" y="2395728"/>
            <a:ext cx="1682496" cy="932688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03904" y="2395728"/>
            <a:ext cx="1682496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77056" y="2651760"/>
            <a:ext cx="420624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0832" y="2651760"/>
            <a:ext cx="1024128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98264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0056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98264" y="3218688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98264" y="3328416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98264" y="3438144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98264" y="3547872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EF3E2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98264" y="3657600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68496" y="3895344"/>
            <a:ext cx="1335024" cy="219456"/>
          </a:xfrm>
          <a:prstGeom prst="roundRect">
            <a:avLst>
              <a:gd name="adj" fmla="val 33333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68496" y="394106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2 填写申请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3785616" y="4187952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步骤导航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3785616" y="4361688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必填字段</a:t>
            </a:r>
            <a:endParaRPr lang="en-US" sz="1040" dirty="0"/>
          </a:p>
        </p:txBody>
      </p:sp>
      <p:sp>
        <p:nvSpPr>
          <p:cNvPr id="58" name="Text 56"/>
          <p:cNvSpPr/>
          <p:nvPr/>
        </p:nvSpPr>
        <p:spPr>
          <a:xfrm>
            <a:off x="3785616" y="4535424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提交确认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5879592" y="2907792"/>
            <a:ext cx="310896" cy="219456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64224" y="1901952"/>
            <a:ext cx="2121408" cy="299166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55664" y="2048256"/>
            <a:ext cx="193852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55664" y="2048256"/>
            <a:ext cx="19385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2157984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93408" y="2157984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03136" y="2157984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212140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审批工作台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6583680" y="2441448"/>
            <a:ext cx="1682496" cy="1106424"/>
          </a:xfrm>
          <a:prstGeom prst="roundRect">
            <a:avLst>
              <a:gd name="adj" fmla="val 3306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3680" y="2395728"/>
            <a:ext cx="1682496" cy="932688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3680" y="2395728"/>
            <a:ext cx="1682496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56832" y="2651760"/>
            <a:ext cx="420624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50608" y="2651760"/>
            <a:ext cx="1024128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78040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99832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78040" y="3218688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78040" y="3328416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78040" y="3438144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78040" y="3547872"/>
            <a:ext cx="932688" cy="73152"/>
          </a:xfrm>
          <a:prstGeom prst="roundRect">
            <a:avLst>
              <a:gd name="adj" fmla="val 25000"/>
            </a:avLst>
          </a:prstGeom>
          <a:solidFill>
            <a:srgbClr val="E3F4E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57600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48272" y="3895344"/>
            <a:ext cx="1335024" cy="219456"/>
          </a:xfrm>
          <a:prstGeom prst="roundRect">
            <a:avLst>
              <a:gd name="adj" fmla="val 33333"/>
            </a:avLst>
          </a:prstGeom>
          <a:solidFill>
            <a:srgbClr val="E3F4E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48272" y="394106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3 审批处理</a:t>
            </a:r>
            <a:endParaRPr lang="en-US" sz="1080" dirty="0"/>
          </a:p>
        </p:txBody>
      </p:sp>
      <p:sp>
        <p:nvSpPr>
          <p:cNvPr id="82" name="Text 80"/>
          <p:cNvSpPr/>
          <p:nvPr/>
        </p:nvSpPr>
        <p:spPr>
          <a:xfrm>
            <a:off x="6565392" y="4187952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待审批列表</a:t>
            </a:r>
            <a:endParaRPr lang="en-US" sz="1040" dirty="0"/>
          </a:p>
        </p:txBody>
      </p:sp>
      <p:sp>
        <p:nvSpPr>
          <p:cNvPr id="83" name="Text 81"/>
          <p:cNvSpPr/>
          <p:nvPr/>
        </p:nvSpPr>
        <p:spPr>
          <a:xfrm>
            <a:off x="6565392" y="4361688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详情查看</a:t>
            </a:r>
            <a:endParaRPr lang="en-US" sz="1040" dirty="0"/>
          </a:p>
        </p:txBody>
      </p:sp>
      <p:sp>
        <p:nvSpPr>
          <p:cNvPr id="84" name="Text 82"/>
          <p:cNvSpPr/>
          <p:nvPr/>
        </p:nvSpPr>
        <p:spPr>
          <a:xfrm>
            <a:off x="6565392" y="4535424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通过 / 驳回</a:t>
            </a:r>
            <a:endParaRPr lang="en-US" sz="1040" dirty="0"/>
          </a:p>
        </p:txBody>
      </p:sp>
      <p:sp>
        <p:nvSpPr>
          <p:cNvPr id="85" name="Shape 83"/>
          <p:cNvSpPr/>
          <p:nvPr/>
        </p:nvSpPr>
        <p:spPr>
          <a:xfrm>
            <a:off x="8627364" y="2907792"/>
            <a:ext cx="310896" cy="219456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144000" y="1901952"/>
            <a:ext cx="2121408" cy="299166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235440" y="2048256"/>
            <a:ext cx="193852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  <a:effectLst>
            <a:outerShdw blurRad="1778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235440" y="2048256"/>
            <a:ext cx="193852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63456" y="2157984"/>
            <a:ext cx="54864" cy="5486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73184" y="2157984"/>
            <a:ext cx="54864" cy="54864"/>
          </a:xfrm>
          <a:prstGeom prst="ellipse">
            <a:avLst/>
          </a:prstGeom>
          <a:solidFill>
            <a:srgbClr val="F6C454"/>
          </a:solidFill>
          <a:ln w="12700">
            <a:solidFill>
              <a:srgbClr val="F6C45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582912" y="2157984"/>
            <a:ext cx="54864" cy="54864"/>
          </a:xfrm>
          <a:prstGeom prst="ellipse">
            <a:avLst/>
          </a:prstGeom>
          <a:solidFill>
            <a:srgbClr val="32D583"/>
          </a:solidFill>
          <a:ln w="12700">
            <a:solidFill>
              <a:srgbClr val="32D58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656064" y="212140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67085"/>
                </a:solidFill>
              </a:rPr>
              <a:t>Prototype / 作业监控页</a:t>
            </a:r>
            <a:endParaRPr lang="en-US" sz="1250" dirty="0"/>
          </a:p>
        </p:txBody>
      </p:sp>
      <p:sp>
        <p:nvSpPr>
          <p:cNvPr id="93" name="Shape 91"/>
          <p:cNvSpPr/>
          <p:nvPr/>
        </p:nvSpPr>
        <p:spPr>
          <a:xfrm>
            <a:off x="9363456" y="2441448"/>
            <a:ext cx="1682496" cy="1106424"/>
          </a:xfrm>
          <a:prstGeom prst="roundRect">
            <a:avLst>
              <a:gd name="adj" fmla="val 3306"/>
            </a:avLst>
          </a:prstGeom>
          <a:solidFill>
            <a:srgbClr val="FCFCFD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63456" y="2395728"/>
            <a:ext cx="1682496" cy="932688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363456" y="2395728"/>
            <a:ext cx="1682496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36608" y="2651760"/>
            <a:ext cx="420624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30384" y="2651760"/>
            <a:ext cx="1024128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57816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579608" y="290779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57816" y="3218688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57816" y="3328416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957816" y="3438144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57816" y="3547872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1EBFE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57816" y="3657600"/>
            <a:ext cx="932688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528048" y="3895344"/>
            <a:ext cx="1335024" cy="219456"/>
          </a:xfrm>
          <a:prstGeom prst="roundRect">
            <a:avLst>
              <a:gd name="adj" fmla="val 33333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528048" y="394106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4 查看作业</a:t>
            </a:r>
            <a:endParaRPr lang="en-US" sz="1080" dirty="0"/>
          </a:p>
        </p:txBody>
      </p:sp>
      <p:sp>
        <p:nvSpPr>
          <p:cNvPr id="108" name="Text 106"/>
          <p:cNvSpPr/>
          <p:nvPr/>
        </p:nvSpPr>
        <p:spPr>
          <a:xfrm>
            <a:off x="9345168" y="4187952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运行 / 排队</a:t>
            </a:r>
            <a:endParaRPr lang="en-US" sz="1040" dirty="0"/>
          </a:p>
        </p:txBody>
      </p:sp>
      <p:sp>
        <p:nvSpPr>
          <p:cNvPr id="109" name="Text 107"/>
          <p:cNvSpPr/>
          <p:nvPr/>
        </p:nvSpPr>
        <p:spPr>
          <a:xfrm>
            <a:off x="9345168" y="4361688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日志结果</a:t>
            </a:r>
            <a:endParaRPr lang="en-US" sz="1040" dirty="0"/>
          </a:p>
        </p:txBody>
      </p:sp>
      <p:sp>
        <p:nvSpPr>
          <p:cNvPr id="110" name="Text 108"/>
          <p:cNvSpPr/>
          <p:nvPr/>
        </p:nvSpPr>
        <p:spPr>
          <a:xfrm>
            <a:off x="9345168" y="4535424"/>
            <a:ext cx="1719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344054"/>
                </a:solidFill>
              </a:rPr>
              <a:t>• 队列状态</a:t>
            </a:r>
            <a:endParaRPr lang="en-US" sz="1040" dirty="0"/>
          </a:p>
        </p:txBody>
      </p:sp>
      <p:sp>
        <p:nvSpPr>
          <p:cNvPr id="111" name="Text 109"/>
          <p:cNvSpPr/>
          <p:nvPr/>
        </p:nvSpPr>
        <p:spPr>
          <a:xfrm>
            <a:off x="822960" y="590702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054"/>
                </a:solidFill>
              </a:rPr>
              <a:t>如果这条页面流讲不通，说明前面的页面虽然“单页像样”，但还没有真正组成一条可走通、可评审的产品路径。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界面原型不仅要有页面，还要有统一的组件和交互规则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" y="1078992"/>
            <a:ext cx="365760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8872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状态标签规则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16276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733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待审批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1810512" y="16276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E8F7E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6733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运行中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798064" y="16276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E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167335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EF4444"/>
                </a:solidFill>
              </a:rPr>
              <a:t>已驳回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749808" y="2103120"/>
            <a:ext cx="3054096" cy="254455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状态必须颜色一致，不能在不同页面换含义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高风险动作如驳回、删除要和普通按钮区分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统计页、审批页、作业页的状态标签应共享同一套规则。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79392" y="1078992"/>
            <a:ext cx="365760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43984" y="118872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表单与表格规则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35424" y="16276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项目名称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35424" y="1755648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8242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必填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5797296" y="1627632"/>
            <a:ext cx="1097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资源类型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97296" y="1755648"/>
            <a:ext cx="109728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824228"/>
            <a:ext cx="950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下拉选择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35424" y="2084832"/>
            <a:ext cx="2359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问题说明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35424" y="2212848"/>
            <a:ext cx="23591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281428"/>
            <a:ext cx="2212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98A2B3"/>
                </a:solidFill>
              </a:rPr>
              <a:t>错误时出现红色提示与就近说明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517136" y="2834640"/>
            <a:ext cx="301752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28803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字段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22976" y="2834640"/>
            <a:ext cx="0" cy="91440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28803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示例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28816" y="2834640"/>
            <a:ext cx="0" cy="91440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8803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规则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17136" y="3054096"/>
            <a:ext cx="3017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31089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状态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5522976" y="3054096"/>
            <a:ext cx="0" cy="347472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31089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chip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528816" y="3054096"/>
            <a:ext cx="0" cy="347472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108960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全页一致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4517136" y="3401568"/>
            <a:ext cx="3017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34564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操作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5522976" y="3401568"/>
            <a:ext cx="0" cy="347472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34564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button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6528816" y="3401568"/>
            <a:ext cx="0" cy="347472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5392" y="3456432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主次分明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8083296" y="1078992"/>
            <a:ext cx="3657600" cy="5212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47888" y="118872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原型说明（annotation）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21040" y="1499616"/>
            <a:ext cx="3017520" cy="11330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原型旁边最好写清点击后跳转、状态变化、字段校验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 err="1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这类标注能直接帮助开发和评审理解页面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所以课堂展示不要只放截图，也要讲交互规则。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原型阶段最值得提前发现的 4 类问题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353312"/>
            <a:ext cx="5230368" cy="182880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2E6BFF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导航迷路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" y="1755648"/>
            <a:ext cx="1719072" cy="877824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1755648"/>
            <a:ext cx="1719072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011680"/>
            <a:ext cx="42062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4752" y="2011680"/>
            <a:ext cx="1060704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72184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72184" y="2578608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72184" y="2688336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2184" y="2798064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72184" y="2907792"/>
            <a:ext cx="969264" cy="73152"/>
          </a:xfrm>
          <a:prstGeom prst="roundRect">
            <a:avLst>
              <a:gd name="adj" fmla="val 25000"/>
            </a:avLst>
          </a:prstGeom>
          <a:solidFill>
            <a:srgbClr val="E6ED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72184" y="3017520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1700784"/>
            <a:ext cx="272491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44054"/>
                </a:solidFill>
              </a:rPr>
              <a:t>用户找不到“申请”“作业”“帮助”入口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254496" y="1385788"/>
            <a:ext cx="5230368" cy="1810513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19088" y="1463040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表单过长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73952" y="1755648"/>
            <a:ext cx="1719072" cy="877824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1755648"/>
            <a:ext cx="1719072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2011680"/>
            <a:ext cx="42062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2011680"/>
            <a:ext cx="1060704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8312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0104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11896" y="2267712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68312" y="2578608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68312" y="2688336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8312" y="2798064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68312" y="2907792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EF3E2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68312" y="3017520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1828800"/>
            <a:ext cx="27249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44054"/>
                </a:solidFill>
              </a:rPr>
              <a:t>字段堆积导致中途退出或漏填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658368" y="3383280"/>
            <a:ext cx="5230368" cy="1901952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2960" y="3493008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状态不清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77824" y="3785616"/>
            <a:ext cx="1719072" cy="877824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7824" y="3785616"/>
            <a:ext cx="1719072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976" y="4041648"/>
            <a:ext cx="42062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44752" y="4041648"/>
            <a:ext cx="1060704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72184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93976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15768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72184" y="4608576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72184" y="4718304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72184" y="4828032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72184" y="4937760"/>
            <a:ext cx="969264" cy="73152"/>
          </a:xfrm>
          <a:prstGeom prst="roundRect">
            <a:avLst>
              <a:gd name="adj" fmla="val 25000"/>
            </a:avLst>
          </a:prstGeom>
          <a:solidFill>
            <a:srgbClr val="E3F4E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72184" y="5047488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88920" y="3751247"/>
            <a:ext cx="293522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44054"/>
                </a:solidFill>
              </a:rPr>
              <a:t>待审批、排队、失败等状态表达混乱</a:t>
            </a:r>
            <a:endParaRPr lang="en-US" sz="1420" dirty="0"/>
          </a:p>
        </p:txBody>
      </p:sp>
      <p:sp>
        <p:nvSpPr>
          <p:cNvPr id="51" name="Shape 49"/>
          <p:cNvSpPr/>
          <p:nvPr/>
        </p:nvSpPr>
        <p:spPr>
          <a:xfrm>
            <a:off x="6254496" y="3383279"/>
            <a:ext cx="5230368" cy="1869475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19088" y="3493008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角色错位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73952" y="3785616"/>
            <a:ext cx="1719072" cy="877824"/>
          </a:xfrm>
          <a:prstGeom prst="rect">
            <a:avLst/>
          </a:prstGeom>
          <a:solidFill>
            <a:srgbClr val="FCFCF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3785616"/>
            <a:ext cx="1719072" cy="164592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47104" y="4041648"/>
            <a:ext cx="420624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4041648"/>
            <a:ext cx="1060704" cy="164592"/>
          </a:xfrm>
          <a:prstGeom prst="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68312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90104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11896" y="4297680"/>
            <a:ext cx="530352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68312" y="4608576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68312" y="4718304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68312" y="4828032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68312" y="4937760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DE9E9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068312" y="5047488"/>
            <a:ext cx="969264" cy="73152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0" y="3742103"/>
            <a:ext cx="272491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44054"/>
                </a:solidFill>
              </a:rPr>
              <a:t>普通用户看到管理员入口，或审批人缺少关键按钮</a:t>
            </a:r>
            <a:endParaRPr lang="en-US" sz="1420" dirty="0"/>
          </a:p>
        </p:txBody>
      </p:sp>
      <p:sp>
        <p:nvSpPr>
          <p:cNvPr id="66" name="Text 64"/>
          <p:cNvSpPr/>
          <p:nvPr/>
        </p:nvSpPr>
        <p:spPr>
          <a:xfrm>
            <a:off x="749808" y="601675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B3D"/>
                </a:solidFill>
              </a:rPr>
              <a:t>结论：原型阶段越早暴露这些问题，后续 UML、SRS 和开发返工成本就越低。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课堂互动问题 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45804" y="115214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结合上一页提到的 4 类原型问题，如果首页很好看但用户总找不到“资源申请”入口，这更像哪一类问题？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1" y="2121408"/>
            <a:ext cx="10235185" cy="82296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7802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35024" y="2432304"/>
            <a:ext cx="58603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导航迷路：入口层级和任务路径没有讲清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" y="3099816"/>
            <a:ext cx="10235184" cy="77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410712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56432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335023" y="3364992"/>
            <a:ext cx="55324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状态不清：待审批、排队、失败等状态标签混淆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1" y="4032504"/>
            <a:ext cx="10235185" cy="7772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35023" y="4297680"/>
            <a:ext cx="7033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角色错位：普通用户误看到了管理员按钮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界面原型如何反向支撑后续 UML、SRS 与开发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6384" y="2359152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51460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原型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86384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看见页面边界与用户任务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71216" y="2478024"/>
            <a:ext cx="512064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0890" y="2377440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3818" y="255117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用例图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529584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确认角色和功能边界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78109" y="2478024"/>
            <a:ext cx="512064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359152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3437" y="2498519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状态/顺序图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272784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确认状态变化与服务交互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57616" y="2459736"/>
            <a:ext cx="512064" cy="256032"/>
          </a:xfrm>
          <a:prstGeom prst="chevron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15984" y="2359152"/>
            <a:ext cx="2011680" cy="493776"/>
          </a:xfrm>
          <a:prstGeom prst="roundRect">
            <a:avLst>
              <a:gd name="adj" fmla="val 14815"/>
            </a:avLst>
          </a:prstGeom>
          <a:solidFill>
            <a:srgbClr val="E3F4E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6637" y="2516807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4A"/>
                </a:solidFill>
              </a:rPr>
              <a:t>SRS / 开发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015984" y="29809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4054"/>
                </a:solidFill>
              </a:rPr>
              <a:t>把页面规则、字段和流程写清楚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4041648"/>
            <a:ext cx="9912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4407408"/>
            <a:ext cx="9784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44054"/>
                </a:solidFill>
              </a:rPr>
              <a:t>这次“UML基础II：界面原型”并不是脱离项目另讲一套，而是让同一个超算中心门户项目，从文字需求进一步变成可展示、可评审、可继续建模的页面方案。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互动Q5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20624" y="1060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B3D"/>
                </a:solidFill>
              </a:rPr>
              <a:t>课堂互动问题 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118104" y="108529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828"/>
                </a:solidFill>
              </a:rPr>
              <a:t>按照这套 PPT 的讲法，界面原型在课程项目里最合理的作用是什么？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1791" y="1923393"/>
            <a:ext cx="5268205" cy="1299079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7802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6EDFF"/>
          </a:solidFill>
          <a:ln w="12700">
            <a:solidFill>
              <a:srgbClr val="2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23744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E6BFF"/>
                </a:solidFill>
              </a:rPr>
              <a:t>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335024" y="2432303"/>
            <a:ext cx="4321644" cy="342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4054"/>
                </a:solidFill>
              </a:rPr>
              <a:t>先把入口、流程、状态和角色差异讲清，再去支撑 UML、SRS 和开发讨论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62238" y="2978106"/>
            <a:ext cx="5116856" cy="89611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97571" y="3310128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1EB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7571" y="3371298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8B5CF6"/>
                </a:solidFill>
              </a:rPr>
              <a:t>B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678988" y="3370037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344054"/>
                </a:solidFill>
                <a:latin typeface="+mn-ea"/>
              </a:rPr>
              <a:t>等所有页面视觉完全定稿后</a:t>
            </a:r>
            <a:r>
              <a:rPr lang="en-US" sz="1800" dirty="0">
                <a:solidFill>
                  <a:srgbClr val="344054"/>
                </a:solidFill>
                <a:latin typeface="+mn-ea"/>
              </a:rPr>
              <a:t>，</a:t>
            </a:r>
          </a:p>
          <a:p>
            <a:pPr marL="0" indent="0">
              <a:buNone/>
            </a:pPr>
            <a:r>
              <a:rPr lang="zh-CN" altLang="en-US" sz="1800" dirty="0">
                <a:solidFill>
                  <a:srgbClr val="344054"/>
                </a:solidFill>
                <a:latin typeface="+mn-ea"/>
              </a:rPr>
              <a:t>补充需要的</a:t>
            </a:r>
            <a:r>
              <a:rPr lang="en-US" sz="1800" dirty="0" err="1">
                <a:solidFill>
                  <a:srgbClr val="344054"/>
                </a:solidFill>
                <a:latin typeface="+mn-ea"/>
              </a:rPr>
              <a:t>原型截图</a:t>
            </a:r>
            <a:endParaRPr lang="en-US" sz="180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" y="3800120"/>
            <a:ext cx="5268204" cy="134795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4340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912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9E0B"/>
                </a:solidFill>
              </a:rPr>
              <a:t>C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335024" y="429768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 err="1">
                <a:solidFill>
                  <a:srgbClr val="344054"/>
                </a:solidFill>
              </a:rPr>
              <a:t>展示页面长什么样，不需要和后续建模链路对应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组内成员分工与演示安排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E6BFF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20700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吴易骏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29844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6BFF"/>
                </a:solidFill>
              </a:rPr>
              <a:t>总体结构与统稿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" y="1627632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</a:rPr>
              <a:t>负责本次 UML基础II 专题逻辑、页序安排与收尾。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6217920" y="1077573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120700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肖泓宇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287885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</a:rPr>
              <a:t>资料与引用核查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7376" y="1627632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</a:rPr>
              <a:t>负责原型定义、文献来源、引用页与规范检查。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276148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蒋长麟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91056" y="28346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</a:rPr>
              <a:t>页面原型设计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9536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</a:rPr>
              <a:t>负责登录、首页、申请、部署相关页面方案。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82512" y="276148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陈许恺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68896" y="280437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A34A"/>
                </a:solidFill>
              </a:rPr>
              <a:t>流程与交互设计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37376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</a:rPr>
              <a:t>负责审批、作业、工单与页面流说明。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4672" y="431596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王涛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6195" y="4404255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</a:rPr>
              <a:t>互动设计与答疑准备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9536" y="4736592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344054"/>
                </a:solidFill>
              </a:rPr>
              <a:t>负责互动问题设置、页面整合、美化与现场补充。</a:t>
            </a:r>
            <a:endParaRPr lang="en-US" sz="12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组内成员评分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42416"/>
            <a:ext cx="11027664" cy="5376672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52144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评分说明：采用 5 分制。5 = 完成突出，4 = 按时完成，3 = 基本完成，2 = 参与较少，1 = 未完成。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1755648"/>
            <a:ext cx="10588752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0136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姓名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66544" y="1755648"/>
            <a:ext cx="0" cy="389534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80136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主要任务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755648"/>
            <a:ext cx="0" cy="389534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801368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完成情况说明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741664" y="1755648"/>
            <a:ext cx="0" cy="389534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18013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自评分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38944" y="1755648"/>
            <a:ext cx="0" cy="3895344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180136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7085"/>
                </a:solidFill>
              </a:rPr>
              <a:t>组评分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" y="1975104"/>
            <a:ext cx="10588752" cy="735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2996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吴易骏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2066544" y="197510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02996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总体结构与统稿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078224" y="197510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029968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完成主题结构整合与整体收束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741664" y="197510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0299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5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838944" y="197510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202996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4.9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86384" y="2710282"/>
            <a:ext cx="10588752" cy="735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765146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肖泓宇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066544" y="2710282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2765146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资料与引用核查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4078224" y="2710282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765146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完成原型定义、参考文献与引注复核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741664" y="2710282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276514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5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838944" y="2710282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276514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4.9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786384" y="3445459"/>
            <a:ext cx="10588752" cy="735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500323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蒋长麟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2066544" y="3445459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3500323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页面原型设计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4078224" y="3445459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500323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完成登录、首页、申请等关键原型设计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8741664" y="3445459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3500323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5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9838944" y="3445459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0" y="3500323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4.8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786384" y="4180637"/>
            <a:ext cx="10588752" cy="735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4235501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陈许恺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2066544" y="4180637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4235501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流程与交互设计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4078224" y="4180637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0" y="4235501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完成审批、作业、工单及页面流整理</a:t>
            </a:r>
            <a:endParaRPr lang="en-US" sz="940" dirty="0"/>
          </a:p>
        </p:txBody>
      </p:sp>
      <p:sp>
        <p:nvSpPr>
          <p:cNvPr id="54" name="Shape 52"/>
          <p:cNvSpPr/>
          <p:nvPr/>
        </p:nvSpPr>
        <p:spPr>
          <a:xfrm>
            <a:off x="8741664" y="4180637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78240" y="4235501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5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9838944" y="4180637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0" y="4235501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4.8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786384" y="4915814"/>
            <a:ext cx="10588752" cy="735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4970678"/>
            <a:ext cx="1207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王涛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2066544" y="491581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03120" y="497067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互动设计与答疑准备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4078224" y="491581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0" y="4970678"/>
            <a:ext cx="45902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完成互动题、排版整合与答疑准备</a:t>
            </a:r>
            <a:endParaRPr lang="en-US" sz="940" dirty="0"/>
          </a:p>
        </p:txBody>
      </p:sp>
      <p:sp>
        <p:nvSpPr>
          <p:cNvPr id="64" name="Shape 62"/>
          <p:cNvSpPr/>
          <p:nvPr/>
        </p:nvSpPr>
        <p:spPr>
          <a:xfrm>
            <a:off x="8741664" y="491581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78240" y="497067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5</a:t>
            </a:r>
            <a:endParaRPr lang="en-US" sz="940" dirty="0"/>
          </a:p>
        </p:txBody>
      </p:sp>
      <p:sp>
        <p:nvSpPr>
          <p:cNvPr id="66" name="Shape 64"/>
          <p:cNvSpPr/>
          <p:nvPr/>
        </p:nvSpPr>
        <p:spPr>
          <a:xfrm>
            <a:off x="9838944" y="4915814"/>
            <a:ext cx="0" cy="735178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75520" y="497067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344054"/>
                </a:solidFill>
              </a:rPr>
              <a:t>4.8</a:t>
            </a:r>
            <a:endParaRPr lang="en-US" sz="9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参考文献与资料来源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18520" cy="5449824"/>
          </a:xfrm>
          <a:prstGeom prst="roundRect">
            <a:avLst>
              <a:gd name="adj" fmla="val 1342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33856"/>
            <a:ext cx="10689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828"/>
                </a:solidFill>
              </a:rPr>
              <a:t>本页即参考文献页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144475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[1] Visual Paradigm. What is Wireframe?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1956816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[2] IxDF. What is a Prototype?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7824" y="2468880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[3] IxDF. What Are High-Fidelity Prototypes?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[4] NNGroup. Paper Prototyping 101 / Prototyping topic resources.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349300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[5] NNGroup. Prototype specifications / annotations.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400507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[6] </a:t>
            </a:r>
            <a:r>
              <a:rPr lang="en-US" sz="1500" dirty="0" err="1">
                <a:solidFill>
                  <a:srgbClr val="344054"/>
                </a:solidFill>
              </a:rPr>
              <a:t>超算中心运营管理门户网站-项目计划书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7824" y="4517136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[7] SRA2026-G06-UML基础I.pptx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73152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B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0131552" y="91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dirty="0">
                <a:solidFill>
                  <a:srgbClr val="2E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软件需求分析原理与实践｜第6组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219456" y="65471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G06 · UML基础II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731752" y="6528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F2B3D"/>
                </a:solidFill>
              </a:rPr>
              <a:t>界面原型不是“做几张好看的页面”，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1F2B3D"/>
                </a:solidFill>
              </a:rPr>
              <a:t>而是把项目的角色、任务、流程与信息层级真正讲清楚。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2664</Words>
  <Application>Microsoft Office PowerPoint</Application>
  <PresentationFormat>宽屏</PresentationFormat>
  <Paragraphs>737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G06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UML基础II：界面原型</dc:title>
  <dc:subject>UI Prototype</dc:subject>
  <dc:creator>OpenAI</dc:creator>
  <cp:lastModifiedBy>YIJUN WU</cp:lastModifiedBy>
  <cp:revision>3</cp:revision>
  <dcterms:created xsi:type="dcterms:W3CDTF">2026-04-07T06:37:11Z</dcterms:created>
  <dcterms:modified xsi:type="dcterms:W3CDTF">2026-04-07T10:17:33Z</dcterms:modified>
</cp:coreProperties>
</file>