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5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>
                <a:solidFill>
                  <a:srgbClr val="202C40"/>
                </a:solidFill>
                <a:latin typeface="Microsoft YaHei"/>
              </a:rPr>
              <a:t>软件需求规格说明书评审汇报</a:t>
            </a:r>
            <a:endParaRPr sz="2600" b="1" dirty="0">
              <a:solidFill>
                <a:srgbClr val="202C40"/>
              </a:solidFill>
              <a:latin typeface="Microsoft Ya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8912" y="1783079"/>
            <a:ext cx="4572000" cy="269615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500" b="1" dirty="0" err="1">
                <a:solidFill>
                  <a:srgbClr val="202C40"/>
                </a:solidFill>
                <a:latin typeface="Microsoft YaHei"/>
              </a:rPr>
              <a:t>项目名称</a:t>
            </a:r>
            <a:endParaRPr lang="en-US" sz="1500" b="1" dirty="0">
              <a:solidFill>
                <a:srgbClr val="202C40"/>
              </a:solidFill>
              <a:latin typeface="Microsoft YaHei"/>
            </a:endParaRPr>
          </a:p>
          <a:p>
            <a:pPr algn="ctr"/>
            <a:endParaRPr sz="1500" b="1" dirty="0">
              <a:solidFill>
                <a:srgbClr val="202C40"/>
              </a:solidFill>
              <a:latin typeface="Microsoft YaHei"/>
            </a:endParaRPr>
          </a:p>
          <a:p>
            <a:pPr algn="ctr"/>
            <a:r>
              <a:rPr sz="1400" dirty="0" err="1">
                <a:solidFill>
                  <a:srgbClr val="232D3C"/>
                </a:solidFill>
                <a:latin typeface="Microsoft YaHei"/>
              </a:rPr>
              <a:t>超算中心运营管理门户网站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400" dirty="0">
                <a:solidFill>
                  <a:srgbClr val="232D3C"/>
                </a:solidFill>
                <a:latin typeface="Microsoft YaHei"/>
              </a:rPr>
              <a:t>评审文档：SRA2026-G06-软件需求规格说明书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783080"/>
            <a:ext cx="612648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500" b="1" dirty="0" err="1">
                <a:solidFill>
                  <a:srgbClr val="202C40"/>
                </a:solidFill>
                <a:latin typeface="Microsoft YaHei"/>
              </a:rPr>
              <a:t>评审主线</a:t>
            </a:r>
            <a:endParaRPr lang="en-US" sz="1500" b="1" dirty="0">
              <a:solidFill>
                <a:srgbClr val="202C40"/>
              </a:solidFill>
              <a:latin typeface="Microsoft YaHei"/>
            </a:endParaRPr>
          </a:p>
          <a:p>
            <a:pPr algn="ctr"/>
            <a:endParaRPr sz="1500" b="1" dirty="0">
              <a:solidFill>
                <a:srgbClr val="202C40"/>
              </a:solidFill>
              <a:latin typeface="Microsoft YaHei"/>
            </a:endParaRPr>
          </a:p>
          <a:p>
            <a:r>
              <a:rPr sz="1400" dirty="0">
                <a:solidFill>
                  <a:srgbClr val="232D3C"/>
                </a:solidFill>
                <a:latin typeface="Microsoft YaHei"/>
              </a:rPr>
              <a:t>1.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愿景、上下文与用户代表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r>
              <a:rPr sz="1400" dirty="0">
                <a:solidFill>
                  <a:srgbClr val="232D3C"/>
                </a:solidFill>
                <a:latin typeface="Microsoft YaHei"/>
              </a:rPr>
              <a:t>2.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原型、用例、非功能需求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r>
              <a:rPr sz="1400" dirty="0">
                <a:solidFill>
                  <a:srgbClr val="232D3C"/>
                </a:solidFill>
                <a:latin typeface="Microsoft YaHei"/>
              </a:rPr>
              <a:t>3.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优先级、可行性、冲突分析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r>
              <a:rPr sz="1400" dirty="0">
                <a:solidFill>
                  <a:srgbClr val="232D3C"/>
                </a:solidFill>
                <a:latin typeface="Microsoft YaHei"/>
              </a:rPr>
              <a:t>4.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数据字典、ER、环境与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UML </a:t>
            </a:r>
            <a:r>
              <a:rPr lang="zh-CN" altLang="en-US" sz="1400" dirty="0">
                <a:solidFill>
                  <a:srgbClr val="232D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endParaRPr lang="en-US" altLang="zh-CN" sz="1400" dirty="0">
              <a:solidFill>
                <a:srgbClr val="232D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400" dirty="0">
                <a:solidFill>
                  <a:srgbClr val="232D3C"/>
                </a:solidFill>
                <a:latin typeface="Microsoft YaHei"/>
              </a:rPr>
              <a:t>5. Test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Case、User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Manual、评审记录与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Baseline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89165" y="128015"/>
            <a:ext cx="25437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dirty="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78"/>
                </a:solidFill>
                <a:latin typeface="Microsoft YaHei"/>
              </a:rPr>
              <a:t>第6组｜吴易骏 肖泓宇 蒋长麟 陈许恺 王涛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8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评审目标与依据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06400" rIns="127000" rtlCol="0" anchor="ctr"/>
          <a:lstStyle/>
          <a:p>
            <a:pPr algn="ctr"/>
            <a:r>
              <a:rPr sz="1400" dirty="0" err="1">
                <a:solidFill>
                  <a:srgbClr val="232D3C"/>
                </a:solidFill>
                <a:latin typeface="Microsoft YaHei"/>
              </a:rPr>
              <a:t>引用前期项目计划、原型与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UML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成果做支撑</a:t>
            </a:r>
            <a:endParaRPr sz="14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3657600" cy="301752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307592"/>
            <a:ext cx="343814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500" b="1" dirty="0">
                <a:solidFill>
                  <a:srgbClr val="FFFFFF"/>
                </a:solidFill>
                <a:latin typeface="Microsoft YaHei"/>
              </a:rPr>
              <a:t>前期支撑</a:t>
            </a:r>
            <a:endParaRPr sz="15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749039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06400" rIns="127000" rtlCol="0" anchor="ctr"/>
          <a:lstStyle/>
          <a:p>
            <a:r>
              <a:rPr sz="1400" dirty="0" err="1">
                <a:solidFill>
                  <a:srgbClr val="232D3C"/>
                </a:solidFill>
                <a:latin typeface="Microsoft YaHei"/>
              </a:rPr>
              <a:t>检查关注点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+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SRS证据位置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+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评审口径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r>
              <a:rPr sz="1400" dirty="0" err="1">
                <a:solidFill>
                  <a:srgbClr val="232D3C"/>
                </a:solidFill>
                <a:latin typeface="Microsoft YaHei"/>
              </a:rPr>
              <a:t>最后给出整体验证结论与答辩补充点</a:t>
            </a:r>
            <a:endParaRPr sz="14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749039" cy="301752"/>
          </a:xfrm>
          <a:prstGeom prst="rect">
            <a:avLst/>
          </a:prstGeom>
          <a:solidFill>
            <a:srgbClr val="6F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8" y="1307592"/>
            <a:ext cx="35295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评审方法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06400" rIns="127000" rtlCol="0" anchor="ctr"/>
          <a:lstStyle/>
          <a:p>
            <a:pPr algn="ctr"/>
            <a:r>
              <a:rPr sz="1400" dirty="0" err="1">
                <a:solidFill>
                  <a:srgbClr val="232D3C"/>
                </a:solidFill>
                <a:latin typeface="Microsoft YaHei"/>
              </a:rPr>
              <a:t>文档完整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400" dirty="0" err="1">
                <a:solidFill>
                  <a:srgbClr val="232D3C"/>
                </a:solidFill>
                <a:latin typeface="Microsoft YaHei"/>
              </a:rPr>
              <a:t>需求可追踪、可移交、可验证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400" dirty="0" err="1">
                <a:solidFill>
                  <a:srgbClr val="232D3C"/>
                </a:solidFill>
                <a:latin typeface="Microsoft YaHei"/>
              </a:rPr>
              <a:t>评审表关注项都有落点</a:t>
            </a:r>
            <a:endParaRPr sz="14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520440" cy="301752"/>
          </a:xfrm>
          <a:prstGeom prst="rect">
            <a:avLst/>
          </a:prstGeom>
          <a:solidFill>
            <a:srgbClr val="22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307592"/>
            <a:ext cx="33009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500" b="1" dirty="0">
                <a:solidFill>
                  <a:srgbClr val="FFFFFF"/>
                </a:solidFill>
                <a:latin typeface="Microsoft YaHei"/>
              </a:rPr>
              <a:t>预期结果</a:t>
            </a:r>
            <a:endParaRPr sz="1500" b="1" dirty="0">
              <a:solidFill>
                <a:srgbClr val="FFFFFF"/>
              </a:solidFill>
              <a:latin typeface="Microsoft YaHei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611880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32D3C"/>
                          </a:solidFill>
                          <a:latin typeface="Microsoft YaHei"/>
                        </a:rPr>
                        <a:t>分组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32D3C"/>
                          </a:solidFill>
                          <a:latin typeface="Microsoft YaHei"/>
                        </a:rPr>
                        <a:t>评审项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32D3C"/>
                          </a:solidFill>
                          <a:latin typeface="Microsoft YaHei"/>
                        </a:rPr>
                        <a:t>重点检查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1-6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Vision &amp; Scope、Context、用户代表、需求获取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7-10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原型、用例文档、界面原型、非功能需求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11-18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优先级、可行性、冲突分析、完整性与可移交性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19-24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数据字典、ER、环境、来源追踪、UML说明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25-30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D3C"/>
                          </a:solidFill>
                          <a:latin typeface="Microsoft YaHei"/>
                        </a:rPr>
                        <a:t>Test Case、User Manual、内部评审、Baseline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SRS 文档结构总览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 dirty="0" err="1">
                <a:solidFill>
                  <a:srgbClr val="202C40"/>
                </a:solidFill>
                <a:latin typeface="Microsoft YaHei"/>
              </a:rPr>
              <a:t>一、引言</a:t>
            </a:r>
            <a:endParaRPr sz="1400" b="1" dirty="0">
              <a:solidFill>
                <a:srgbClr val="202C40"/>
              </a:solidFill>
              <a:latin typeface="Microsoft YaHei"/>
            </a:endParaRPr>
          </a:p>
          <a:p>
            <a:pPr algn="ctr"/>
            <a:r>
              <a:rPr sz="1300" dirty="0">
                <a:solidFill>
                  <a:srgbClr val="232D3C"/>
                </a:solidFill>
                <a:latin typeface="Microsoft YaHei"/>
              </a:rPr>
              <a:t>1.1-1.7</a:t>
            </a: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目的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/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范围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>
                <a:solidFill>
                  <a:srgbClr val="232D3C"/>
                </a:solidFill>
                <a:latin typeface="Microsoft YaHei"/>
              </a:rPr>
              <a:t>Vision &amp; Scope</a:t>
            </a: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需求获取确认</a:t>
            </a:r>
            <a:endParaRPr sz="13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 dirty="0" err="1">
                <a:solidFill>
                  <a:srgbClr val="202C40"/>
                </a:solidFill>
                <a:latin typeface="Microsoft YaHei"/>
              </a:rPr>
              <a:t>二、总体描述</a:t>
            </a:r>
            <a:endParaRPr sz="1400" b="1" dirty="0">
              <a:solidFill>
                <a:srgbClr val="202C40"/>
              </a:solidFill>
              <a:latin typeface="Microsoft YaHei"/>
            </a:endParaRPr>
          </a:p>
          <a:p>
            <a:pPr algn="ctr"/>
            <a:r>
              <a:rPr sz="1300" dirty="0">
                <a:solidFill>
                  <a:srgbClr val="232D3C"/>
                </a:solidFill>
                <a:latin typeface="Microsoft YaHei"/>
              </a:rPr>
              <a:t>2.1-2.6</a:t>
            </a: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功能概览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用户特点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上下文图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假设与依赖</a:t>
            </a:r>
            <a:endParaRPr sz="13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 dirty="0" err="1">
                <a:solidFill>
                  <a:srgbClr val="202C40"/>
                </a:solidFill>
                <a:latin typeface="Microsoft YaHei"/>
              </a:rPr>
              <a:t>三、具体需求</a:t>
            </a:r>
            <a:endParaRPr sz="1400" b="1" dirty="0">
              <a:solidFill>
                <a:srgbClr val="202C40"/>
              </a:solidFill>
              <a:latin typeface="Microsoft YaHei"/>
            </a:endParaRPr>
          </a:p>
          <a:p>
            <a:pPr algn="ctr"/>
            <a:r>
              <a:rPr sz="1300" dirty="0">
                <a:solidFill>
                  <a:srgbClr val="232D3C"/>
                </a:solidFill>
                <a:latin typeface="Microsoft YaHei"/>
              </a:rPr>
              <a:t>3.1-3.5</a:t>
            </a: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原型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/UI</a:t>
            </a: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功能需求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数据字典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/ER</a:t>
            </a: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质量属性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/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环境</a:t>
            </a:r>
            <a:endParaRPr sz="13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384048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 dirty="0" err="1">
                <a:solidFill>
                  <a:srgbClr val="202C40"/>
                </a:solidFill>
                <a:latin typeface="Microsoft YaHei"/>
              </a:rPr>
              <a:t>四、系统特性与用例</a:t>
            </a:r>
            <a:endParaRPr sz="1400" b="1" dirty="0">
              <a:solidFill>
                <a:srgbClr val="202C40"/>
              </a:solidFill>
              <a:latin typeface="Microsoft YaHei"/>
            </a:endParaRPr>
          </a:p>
          <a:p>
            <a:pPr algn="ctr"/>
            <a:r>
              <a:rPr sz="1300" dirty="0">
                <a:solidFill>
                  <a:srgbClr val="232D3C"/>
                </a:solidFill>
                <a:latin typeface="Microsoft YaHei"/>
              </a:rPr>
              <a:t>4.1-4.X.47</a:t>
            </a: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顶层用例图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>
                <a:solidFill>
                  <a:srgbClr val="232D3C"/>
                </a:solidFill>
                <a:latin typeface="Microsoft YaHei"/>
              </a:rPr>
              <a:t>47个用例条目</a:t>
            </a: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原型+对话图+用例表</a:t>
            </a:r>
            <a:endParaRPr sz="13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069080" y="384048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 dirty="0" err="1">
                <a:solidFill>
                  <a:srgbClr val="202C40"/>
                </a:solidFill>
                <a:latin typeface="Microsoft YaHei"/>
              </a:rPr>
              <a:t>五、需求优先级</a:t>
            </a:r>
            <a:endParaRPr sz="1400" b="1" dirty="0">
              <a:solidFill>
                <a:srgbClr val="202C40"/>
              </a:solidFill>
              <a:latin typeface="Microsoft YaHei"/>
            </a:endParaRPr>
          </a:p>
          <a:p>
            <a:pPr algn="ctr"/>
            <a:r>
              <a:rPr sz="1300" dirty="0">
                <a:solidFill>
                  <a:srgbClr val="232D3C"/>
                </a:solidFill>
                <a:latin typeface="Microsoft YaHei"/>
              </a:rPr>
              <a:t>5.1-5.4</a:t>
            </a: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用户端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/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管理端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/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运维端分级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需求冲突与可行性分析</a:t>
            </a:r>
            <a:endParaRPr sz="13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26679" y="384048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 dirty="0" err="1">
                <a:solidFill>
                  <a:srgbClr val="202C40"/>
                </a:solidFill>
                <a:latin typeface="Microsoft YaHei"/>
              </a:rPr>
              <a:t>六、支持信息</a:t>
            </a:r>
            <a:endParaRPr sz="1400" b="1" dirty="0">
              <a:solidFill>
                <a:srgbClr val="202C40"/>
              </a:solidFill>
              <a:latin typeface="Microsoft YaHei"/>
            </a:endParaRPr>
          </a:p>
          <a:p>
            <a:pPr algn="ctr"/>
            <a:r>
              <a:rPr sz="1300" dirty="0">
                <a:solidFill>
                  <a:srgbClr val="232D3C"/>
                </a:solidFill>
                <a:latin typeface="Microsoft YaHei"/>
              </a:rPr>
              <a:t>6.1-6.2</a:t>
            </a: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术语表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跟踪矩阵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测试摘要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用户手册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 err="1">
                <a:solidFill>
                  <a:srgbClr val="232D3C"/>
                </a:solidFill>
                <a:latin typeface="Microsoft YaHei"/>
              </a:rPr>
              <a:t>评审记录与Baseline</a:t>
            </a:r>
            <a:endParaRPr sz="1300" dirty="0">
              <a:solidFill>
                <a:srgbClr val="232D3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30 项评审条目的展示路径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11556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>
                <a:solidFill>
                  <a:srgbClr val="202C40"/>
                </a:solidFill>
                <a:latin typeface="Microsoft YaHei"/>
              </a:rPr>
              <a:t>A. 愿景、上下文、用户代表</a:t>
            </a:r>
          </a:p>
          <a:p>
            <a:r>
              <a:rPr sz="1300">
                <a:solidFill>
                  <a:srgbClr val="232D3C"/>
                </a:solidFill>
                <a:latin typeface="Microsoft YaHei"/>
              </a:rPr>
              <a:t>条目 1-6｜Vision &amp; Scope、Context Diagram、用户群分类、用户代表确认、需求获取记录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111556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>
                <a:solidFill>
                  <a:srgbClr val="202C40"/>
                </a:solidFill>
                <a:latin typeface="Microsoft YaHei"/>
              </a:rPr>
              <a:t>B. 原型、用例、非功能需求</a:t>
            </a:r>
          </a:p>
          <a:p>
            <a:r>
              <a:rPr sz="1300">
                <a:solidFill>
                  <a:srgbClr val="232D3C"/>
                </a:solidFill>
                <a:latin typeface="Microsoft YaHei"/>
              </a:rPr>
              <a:t>条目 7-10｜原型与工具、用例文档模板、对话图/原型/DM、质量属性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46120"/>
            <a:ext cx="111556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>
                <a:solidFill>
                  <a:srgbClr val="202C40"/>
                </a:solidFill>
                <a:latin typeface="Microsoft YaHei"/>
              </a:rPr>
              <a:t>C. 优先级、可行性与完整性</a:t>
            </a:r>
          </a:p>
          <a:p>
            <a:r>
              <a:rPr sz="1300">
                <a:solidFill>
                  <a:srgbClr val="232D3C"/>
                </a:solidFill>
                <a:latin typeface="Microsoft YaHei"/>
              </a:rPr>
              <a:t>条目 11-18｜分级表、冲突分析、JAD与记录、完整性/移交性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06240"/>
            <a:ext cx="111556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>
                <a:solidFill>
                  <a:srgbClr val="202C40"/>
                </a:solidFill>
                <a:latin typeface="Microsoft YaHei"/>
              </a:rPr>
              <a:t>D. 数据、环境、来源与UML</a:t>
            </a:r>
          </a:p>
          <a:p>
            <a:r>
              <a:rPr sz="1300">
                <a:solidFill>
                  <a:srgbClr val="232D3C"/>
                </a:solidFill>
                <a:latin typeface="Microsoft YaHei"/>
              </a:rPr>
              <a:t>条目 19-24｜数据字典、ER图、运行/实现环境、跟踪矩阵/索引、UML图例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66359"/>
            <a:ext cx="111556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>
                <a:solidFill>
                  <a:srgbClr val="202C40"/>
                </a:solidFill>
                <a:latin typeface="Microsoft YaHei"/>
              </a:rPr>
              <a:t>E. 验证、手册、评审与发布</a:t>
            </a:r>
          </a:p>
          <a:p>
            <a:r>
              <a:rPr sz="1300">
                <a:solidFill>
                  <a:srgbClr val="232D3C"/>
                </a:solidFill>
                <a:latin typeface="Microsoft YaHei"/>
              </a:rPr>
              <a:t>条目 25-30｜测试用例摘要、用户手册、内部评审、整改记录、Baseline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A 组条目（1-6）：愿景、上下文与用户代表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8686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 err="1">
                <a:solidFill>
                  <a:srgbClr val="5A6578"/>
                </a:solidFill>
                <a:latin typeface="Microsoft YaHei"/>
              </a:rPr>
              <a:t>对应</a:t>
            </a:r>
            <a:r>
              <a:rPr sz="1200" dirty="0">
                <a:solidFill>
                  <a:srgbClr val="5A6578"/>
                </a:solidFill>
                <a:latin typeface="Microsoft YaHei"/>
              </a:rPr>
              <a:t> SRS 1.6、1.7、2.3、2.4 </a:t>
            </a:r>
            <a:r>
              <a:rPr sz="1200" dirty="0" err="1">
                <a:solidFill>
                  <a:srgbClr val="5A6578"/>
                </a:solidFill>
                <a:latin typeface="Microsoft YaHei"/>
              </a:rPr>
              <a:t>等章节</a:t>
            </a:r>
            <a:endParaRPr sz="1200" dirty="0">
              <a:solidFill>
                <a:srgbClr val="5A6578"/>
              </a:solidFill>
              <a:latin typeface="Microsoft YaHe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005741"/>
              </p:ext>
            </p:extLst>
          </p:nvPr>
        </p:nvGraphicFramePr>
        <p:xfrm>
          <a:off x="411480" y="1280160"/>
          <a:ext cx="11247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2D3C"/>
                          </a:solidFill>
                          <a:latin typeface="Microsoft YaHei"/>
                        </a:rPr>
                        <a:t>评审项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232D3C"/>
                          </a:solidFill>
                          <a:latin typeface="Microsoft YaHei"/>
                        </a:rPr>
                        <a:t>SRS证据</a:t>
                      </a:r>
                      <a:endParaRPr sz="1200" b="1" dirty="0">
                        <a:solidFill>
                          <a:srgbClr val="232D3C"/>
                        </a:solidFill>
                        <a:latin typeface="Microsoft YaHei"/>
                      </a:endParaRP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232D3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内部评审</a:t>
                      </a:r>
                      <a:endParaRPr sz="1200" b="1" dirty="0">
                        <a:solidFill>
                          <a:srgbClr val="232D3C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1 Vision &amp; Scope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1.6 Vision &amp; Scope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已明确愿景、业务目标、范围内/范围外边界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2 Context Diagram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2.4 上下文图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已给出系统与普通用户、PI、管理员、运维及外部系统的交互关系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3 用户群识别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2.3 用户特点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识别普通用户、PI、中心管理员、运维、支持人员五类用户群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4 用户代表确认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1.7 需求获取与确认说明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表4列明用户代表、获取方式和确认结果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5 用户分类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2.3 + 1.7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既有用户群分类，也有对应代表分类与职责关注点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6 逐类需求获取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1.7 表4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232D3C"/>
                          </a:solidFill>
                          <a:latin typeface="Microsoft YaHei"/>
                        </a:rPr>
                        <a:t>访谈、场景卡片、原型评审、JAD会议、故障场景分析均有记录</a:t>
                      </a:r>
                      <a:endParaRPr sz="1200" dirty="0">
                        <a:solidFill>
                          <a:srgbClr val="232D3C"/>
                        </a:solidFill>
                        <a:latin typeface="Microsoft YaHei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892040"/>
            <a:ext cx="54406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r>
              <a:rPr sz="1300" dirty="0">
                <a:solidFill>
                  <a:srgbClr val="232D3C"/>
                </a:solidFill>
                <a:latin typeface="Microsoft YaHei"/>
              </a:rPr>
              <a:t>Vision &amp; Scope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不是一句口号，而是已经把愿景、业务目标、范围内与范围外逐项写清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。</a:t>
            </a:r>
          </a:p>
          <a:p>
            <a:r>
              <a:rPr sz="1300" dirty="0">
                <a:solidFill>
                  <a:srgbClr val="232D3C"/>
                </a:solidFill>
                <a:latin typeface="Microsoft YaHei"/>
              </a:rPr>
              <a:t>用户代表部分不是泛泛而谈，表4直接给出了角色、获取方式和确认结果。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892040"/>
            <a:ext cx="54406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 dirty="0" err="1">
                <a:solidFill>
                  <a:srgbClr val="202C40"/>
                </a:solidFill>
                <a:latin typeface="Microsoft YaHei"/>
              </a:rPr>
              <a:t>补充</a:t>
            </a:r>
            <a:endParaRPr sz="1400" b="1" dirty="0">
              <a:solidFill>
                <a:srgbClr val="202C40"/>
              </a:solidFill>
              <a:latin typeface="Microsoft YaHei"/>
            </a:endParaRPr>
          </a:p>
          <a:p>
            <a:r>
              <a:rPr sz="1300" dirty="0">
                <a:solidFill>
                  <a:srgbClr val="232D3C"/>
                </a:solidFill>
                <a:latin typeface="Microsoft YaHei"/>
              </a:rPr>
              <a:t>JAD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会议记录，可指向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1.7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的获取方式说明，保留了内部需求确认与评审记录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B 组条目（7-10）：原型、用例文档与非功能需求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8686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 err="1">
                <a:solidFill>
                  <a:srgbClr val="5A6578"/>
                </a:solidFill>
                <a:latin typeface="Microsoft YaHei"/>
              </a:rPr>
              <a:t>对应</a:t>
            </a:r>
            <a:r>
              <a:rPr sz="1200" dirty="0">
                <a:solidFill>
                  <a:srgbClr val="5A6578"/>
                </a:solidFill>
                <a:latin typeface="Microsoft YaHei"/>
              </a:rPr>
              <a:t> SRS 3.1.1、4 章、3.4 </a:t>
            </a:r>
            <a:r>
              <a:rPr sz="1200" dirty="0" err="1">
                <a:solidFill>
                  <a:srgbClr val="5A6578"/>
                </a:solidFill>
                <a:latin typeface="Microsoft YaHei"/>
              </a:rPr>
              <a:t>等章节</a:t>
            </a:r>
            <a:endParaRPr sz="1200" dirty="0">
              <a:solidFill>
                <a:srgbClr val="5A6578"/>
              </a:solidFill>
              <a:latin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66294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06400" rIns="127000" rtlCol="0" anchor="ctr"/>
          <a:lstStyle/>
          <a:p>
            <a:pPr algn="ctr"/>
            <a:r>
              <a:rPr sz="1400">
                <a:solidFill>
                  <a:srgbClr val="232D3C"/>
                </a:solidFill>
                <a:latin typeface="Microsoft YaHei"/>
              </a:rPr>
              <a:t>条目7：3.1.1 共给出 20 个界面原型条目；引用文件 RF-05 明确使用“HTML 与截图”作为界面需求依据。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条目8：第4章按用户群展开用例文档，覆盖 USER、PI、ADMIN、OPS、SUP 五类用例。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条目9：每个主要需求均配套用例表、对话框图、界面原型与相关数据说明，满足“用例图 + 场景说明 + 原型 + DM”检查口径。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条目10：3.4 单列可靠性、可用性、安全保密性、可维护性、可移植性五类非功能需求，并给出验证方法。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6629400" cy="301752"/>
          </a:xfrm>
          <a:prstGeom prst="rect">
            <a:avLst/>
          </a:prstGeom>
          <a:solidFill>
            <a:srgbClr val="6F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64099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本组证据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5680" y="1860804"/>
            <a:ext cx="43891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500" b="1">
                <a:solidFill>
                  <a:srgbClr val="202C40"/>
                </a:solidFill>
                <a:latin typeface="Microsoft YaHei"/>
              </a:rPr>
              <a:t>可直接引用的数量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界面原型：20项（3.1.1.1 - 3.1.1.20）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用例条目：47项（USER01 - SUP05）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497580"/>
            <a:ext cx="438912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>
                <a:solidFill>
                  <a:srgbClr val="202C40"/>
                </a:solidFill>
                <a:latin typeface="Microsoft YaHei"/>
              </a:rPr>
              <a:t>本组结论</a:t>
            </a:r>
          </a:p>
          <a:p>
            <a:r>
              <a:rPr sz="1300">
                <a:solidFill>
                  <a:srgbClr val="232D3C"/>
                </a:solidFill>
                <a:latin typeface="Microsoft YaHei"/>
              </a:rPr>
              <a:t>条目 7-10 在 SRS 中都有明确位置，且原型、用例、非功能需求已经形成互相支撑的结构。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C 组条目（11-18）：优先级、可行性、冲突与完整性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8686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578"/>
                </a:solidFill>
                <a:latin typeface="Microsoft YaHei"/>
              </a:rPr>
              <a:t>对应 SRS 第5章、1.7、2.1-2.2 等章节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325880"/>
            <a:ext cx="5577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06400" rIns="127000" rtlCol="0" anchor="ctr"/>
          <a:lstStyle/>
          <a:p>
            <a:pPr algn="ctr"/>
            <a:r>
              <a:rPr sz="1400">
                <a:solidFill>
                  <a:srgbClr val="232D3C"/>
                </a:solidFill>
                <a:latin typeface="Microsoft YaHei"/>
              </a:rPr>
              <a:t>第5章按用户端、管理端、运维端分别做需求分级，给出需求编号、用户群、影响范围、优先级和说明。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5.4 单列“需求冲突与可行性分析”，对应评审表中的可行性与冲突条目。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优先级排序不是一张总表，而是结合用户群分类来做，因此能同时覆盖条目16与17。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1.1、2.1、2.2、4章与6.1.2-6.2 共同保证需求定义完整、可追踪、可移交。 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325880"/>
            <a:ext cx="5577840" cy="301752"/>
          </a:xfrm>
          <a:prstGeom prst="rect">
            <a:avLst/>
          </a:prstGeom>
          <a:solidFill>
            <a:srgbClr val="F0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53312"/>
            <a:ext cx="53583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条目 11-12、16-18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678640"/>
              </p:ext>
            </p:extLst>
          </p:nvPr>
        </p:nvGraphicFramePr>
        <p:xfrm>
          <a:off x="6217920" y="1325880"/>
          <a:ext cx="53949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273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D3C"/>
                          </a:solidFill>
                          <a:latin typeface="Microsoft YaHei"/>
                        </a:rPr>
                        <a:t>条目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solidFill>
                            <a:srgbClr val="232D3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内部评审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11 优先级打分与排序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已给出分级表；答辩时可强调采用“影响范围 + 用户群 + 业务价值”综合判断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12 可行性分析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已在 5.4 记录；同时与项目计划书中的可行性分析保持一致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13 JAD会议与记录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1.7 明确写到采用 JAD 会议；6.1.5 有内部评审记录可作旁证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14 可移交性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232D3C"/>
                          </a:solidFill>
                          <a:latin typeface="Microsoft YaHei"/>
                        </a:rPr>
                        <a:t>目录、编号、跟踪矩阵、索引和用例表共同支撑他组理解</a:t>
                      </a:r>
                      <a:endParaRPr sz="1100" dirty="0">
                        <a:solidFill>
                          <a:srgbClr val="232D3C"/>
                        </a:solidFill>
                        <a:latin typeface="Microsoft YaHei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15 内容完整性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既有功能需求，也有非功能、数据、环境、用例、测试、手册、基线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7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18 需求冲突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232D3C"/>
                          </a:solidFill>
                          <a:latin typeface="Microsoft YaHei"/>
                        </a:rPr>
                        <a:t>在 5.4 </a:t>
                      </a:r>
                      <a:r>
                        <a:rPr sz="1100" dirty="0" err="1">
                          <a:solidFill>
                            <a:srgbClr val="232D3C"/>
                          </a:solidFill>
                          <a:latin typeface="Microsoft YaHei"/>
                        </a:rPr>
                        <a:t>进行讨论，说明存在冲突时如何平衡范围与可行性</a:t>
                      </a:r>
                      <a:endParaRPr sz="1100" dirty="0">
                        <a:solidFill>
                          <a:srgbClr val="232D3C"/>
                        </a:solidFill>
                        <a:latin typeface="Microsoft YaHei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D 组条目（19-24）：数据、环境、来源与 UML 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8686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578"/>
                </a:solidFill>
                <a:latin typeface="Microsoft YaHei"/>
              </a:rPr>
              <a:t>对应 SRS 3.3、3.5、6.1.2、6.2、4章等章节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669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06400" rIns="127000" rtlCol="0" anchor="ctr"/>
          <a:lstStyle/>
          <a:p>
            <a:pPr algn="ctr"/>
            <a:r>
              <a:rPr sz="1400">
                <a:solidFill>
                  <a:srgbClr val="232D3C"/>
                </a:solidFill>
                <a:latin typeface="Microsoft YaHei"/>
              </a:rPr>
              <a:t>条目19：3.3.1 给出 15 类核心数据字典，3.3.3 给出对应数据表定义。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条目20：3.3.2 已定义 E-R 图，用于说明实体关系。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条目21：3.5.1 定义运行环境，3.5.2 定义实现环境。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条目22：6.1.2 需求跟踪矩阵 + 6.2 索引，保证“需求来源—章节—编号”可追踪。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条目23：第4章顶层用例图、分角色用例图、对话框图等，构成复杂需求的进一步分析说明。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条目24：SRS 中使用的 UML/图例与需求对象匹配：用例图对应角色与功能，E-R 对应数据对象，对话图对应场景流转。 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669280" cy="301752"/>
          </a:xfrm>
          <a:prstGeom prst="rect">
            <a:avLst/>
          </a:prstGeom>
          <a:solidFill>
            <a:srgbClr val="22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54498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逐项证据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17722"/>
            <a:ext cx="5212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600" b="1" dirty="0" err="1">
                <a:solidFill>
                  <a:srgbClr val="202C40"/>
                </a:solidFill>
                <a:latin typeface="Microsoft YaHei"/>
              </a:rPr>
              <a:t>数量口径</a:t>
            </a:r>
            <a:endParaRPr sz="1600" b="1" dirty="0">
              <a:solidFill>
                <a:srgbClr val="202C40"/>
              </a:solidFill>
              <a:latin typeface="Microsoft YaHei"/>
            </a:endParaRPr>
          </a:p>
          <a:p>
            <a:r>
              <a:rPr sz="1500" dirty="0">
                <a:solidFill>
                  <a:srgbClr val="232D3C"/>
                </a:solidFill>
                <a:latin typeface="Microsoft YaHei"/>
              </a:rPr>
              <a:t>数据字典：15类</a:t>
            </a:r>
          </a:p>
          <a:p>
            <a:r>
              <a:rPr sz="1500" dirty="0">
                <a:solidFill>
                  <a:srgbClr val="232D3C"/>
                </a:solidFill>
                <a:latin typeface="Microsoft YaHei"/>
              </a:rPr>
              <a:t>数据表：15张</a:t>
            </a:r>
          </a:p>
          <a:p>
            <a:r>
              <a:rPr sz="1500" dirty="0">
                <a:solidFill>
                  <a:srgbClr val="232D3C"/>
                </a:solidFill>
                <a:latin typeface="Microsoft YaHei"/>
              </a:rPr>
              <a:t>用例条目：47项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611416"/>
            <a:ext cx="5212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>
                <a:solidFill>
                  <a:srgbClr val="202C40"/>
                </a:solidFill>
                <a:latin typeface="Microsoft YaHei"/>
              </a:rPr>
              <a:t>本组结论</a:t>
            </a:r>
          </a:p>
          <a:p>
            <a:r>
              <a:rPr sz="1300">
                <a:solidFill>
                  <a:srgbClr val="232D3C"/>
                </a:solidFill>
                <a:latin typeface="Microsoft YaHei"/>
              </a:rPr>
              <a:t>数据、环境、来源和 UML 说明在 SRS 中已经形成“能查到、能解释、能追踪”的结构。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E 组条目（25-30）：测试、手册、内部评审与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8686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578"/>
                </a:solidFill>
                <a:latin typeface="Microsoft YaHei"/>
              </a:rPr>
              <a:t>对应 6.1.3、6.1.4、6.1.5 等章节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681112"/>
              </p:ext>
            </p:extLst>
          </p:nvPr>
        </p:nvGraphicFramePr>
        <p:xfrm>
          <a:off x="411480" y="1325880"/>
          <a:ext cx="112014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2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98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2D3C"/>
                          </a:solidFill>
                          <a:latin typeface="Microsoft YaHei"/>
                        </a:rPr>
                        <a:t>评审项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2D3C"/>
                          </a:solidFill>
                          <a:latin typeface="Microsoft YaHei"/>
                        </a:rPr>
                        <a:t>SRS证据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232D3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内部评审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25 Test Case 是否提交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6.1.3 测试用例摘要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每项需求均给出测试编号、方法、前置条件、预期结果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26 设计方法是否合适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表128-130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采用等价类/边界值/场景法的组合说明，能支撑课程级验证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27 User Manual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6.1.4 初步用户手册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覆盖登录、提交申请、查看审批、提交作业、查看结果、提交工单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28 内部评审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6.1.5 评审记录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已形成正式小组内部评审记录表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8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29 整改记录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6.1.5 整改记录列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说明评审意见已回填到对应章节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9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30 Baseline 与发布准备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C"/>
                          </a:solidFill>
                          <a:latin typeface="Microsoft YaHei"/>
                        </a:rPr>
                        <a:t>6.1.5 Baseline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232D3C"/>
                          </a:solidFill>
                          <a:latin typeface="Microsoft YaHei"/>
                        </a:rPr>
                        <a:t>已定义</a:t>
                      </a:r>
                      <a:r>
                        <a:rPr sz="1200" dirty="0">
                          <a:solidFill>
                            <a:srgbClr val="232D3C"/>
                          </a:solidFill>
                          <a:latin typeface="Microsoft YaHei"/>
                        </a:rPr>
                        <a:t> SRA2026-G06-SRS-v1.0 </a:t>
                      </a:r>
                      <a:r>
                        <a:rPr sz="1200" dirty="0" err="1">
                          <a:solidFill>
                            <a:srgbClr val="232D3C"/>
                          </a:solidFill>
                          <a:latin typeface="Microsoft YaHei"/>
                        </a:rPr>
                        <a:t>作为正式基线版本</a:t>
                      </a:r>
                      <a:endParaRPr sz="1200" dirty="0">
                        <a:solidFill>
                          <a:srgbClr val="232D3C"/>
                        </a:solidFill>
                        <a:latin typeface="Microsoft YaHei"/>
                      </a:endParaRP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16636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06400" rIns="127000" rtlCol="0" anchor="ctr"/>
          <a:lstStyle/>
          <a:p>
            <a:pPr algn="ctr"/>
            <a:r>
              <a:rPr sz="1400" dirty="0">
                <a:solidFill>
                  <a:srgbClr val="232D3C"/>
                </a:solidFill>
                <a:latin typeface="Microsoft YaHei"/>
              </a:rPr>
              <a:t>最后一组关注的是“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是否能验证、是否有辅助理解材料、是否形成正式版本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”。SRS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在这三点上都有明确落点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。 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166360"/>
            <a:ext cx="10972800" cy="301752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5193792"/>
            <a:ext cx="1075334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rgbClr val="FFFFFF"/>
                </a:solidFill>
                <a:latin typeface="Microsoft YaHei"/>
              </a:rPr>
              <a:t>结论</a:t>
            </a:r>
            <a:endParaRPr sz="1500" b="1" dirty="0">
              <a:solidFill>
                <a:srgbClr val="FFFFFF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关键证据一：原型与用例体系已经形成完整覆盖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500" b="1">
                <a:solidFill>
                  <a:srgbClr val="202C40"/>
                </a:solidFill>
                <a:latin typeface="Microsoft YaHei"/>
              </a:rPr>
              <a:t>3.1.1 用户界面原型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从“登录与身份认证”到“安全设置”，共 20 个原型页面条目。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每个原型都给出：界面名称、主要用户、界面目标、主要元素、交互说明。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原型作用不是展示美观，而是辅助需求获取与后续评审理解。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500" b="1">
                <a:solidFill>
                  <a:srgbClr val="202C40"/>
                </a:solidFill>
                <a:latin typeface="Microsoft YaHei"/>
              </a:rPr>
              <a:t>第4章系统特性与用例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先有顶层用例图，再按普通用户、PI、管理员、运维、支持人员分角色展开。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共覆盖 47 个编号化用例条目。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每个用例配套界面原型与用例表，便于从角色需求落到具体功能。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5204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lang="zh-CN" altLang="en-US" sz="1600" b="1" dirty="0">
                <a:solidFill>
                  <a:srgbClr val="232D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内部评审</a:t>
            </a:r>
          </a:p>
          <a:p>
            <a:r>
              <a:rPr sz="1400" dirty="0">
                <a:solidFill>
                  <a:srgbClr val="232D3C"/>
                </a:solidFill>
                <a:latin typeface="Microsoft YaHei"/>
              </a:rPr>
              <a:t>条目7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看“原型是否辅助需求获取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”；</a:t>
            </a:r>
          </a:p>
          <a:p>
            <a:r>
              <a:rPr sz="1400" dirty="0">
                <a:solidFill>
                  <a:srgbClr val="232D3C"/>
                </a:solidFill>
                <a:latin typeface="Microsoft YaHei"/>
              </a:rPr>
              <a:t>条目8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看“是否采用模板写用例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”；</a:t>
            </a:r>
          </a:p>
          <a:p>
            <a:r>
              <a:rPr sz="1400" dirty="0">
                <a:solidFill>
                  <a:srgbClr val="232D3C"/>
                </a:solidFill>
                <a:latin typeface="Microsoft YaHei"/>
              </a:rPr>
              <a:t>条目9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看“用例图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/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场景说明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/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原型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/DM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是否成套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”。</a:t>
            </a:r>
          </a:p>
          <a:p>
            <a:r>
              <a:rPr sz="1400" dirty="0" err="1">
                <a:solidFill>
                  <a:srgbClr val="232D3C"/>
                </a:solidFill>
                <a:latin typeface="Microsoft YaHei"/>
              </a:rPr>
              <a:t>这三项在本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SRS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中是连在一起呈现的，而不是散点材料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。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关键证据二：用户分类、来源记录与优先级分级是闭环的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7432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>
                <a:solidFill>
                  <a:srgbClr val="202C40"/>
                </a:solidFill>
                <a:latin typeface="Microsoft YaHei"/>
              </a:rPr>
              <a:t>5 类用户群</a:t>
            </a:r>
          </a:p>
          <a:p>
            <a:r>
              <a:rPr sz="1300">
                <a:solidFill>
                  <a:srgbClr val="232D3C"/>
                </a:solidFill>
                <a:latin typeface="Microsoft YaHei"/>
              </a:rPr>
              <a:t>普通用户 / PI / 管理员 / 运维 / 支持人员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27432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>
                <a:solidFill>
                  <a:srgbClr val="202C40"/>
                </a:solidFill>
                <a:latin typeface="Microsoft YaHei"/>
              </a:rPr>
              <a:t>5 类用户代表</a:t>
            </a:r>
          </a:p>
          <a:p>
            <a:r>
              <a:rPr sz="1300">
                <a:solidFill>
                  <a:srgbClr val="232D3C"/>
                </a:solidFill>
                <a:latin typeface="Microsoft YaHei"/>
              </a:rPr>
              <a:t>表4明确获取方式与确认结果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27432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>
                <a:solidFill>
                  <a:srgbClr val="202C40"/>
                </a:solidFill>
                <a:latin typeface="Microsoft YaHei"/>
              </a:rPr>
              <a:t>3 组优先级表</a:t>
            </a:r>
          </a:p>
          <a:p>
            <a:r>
              <a:rPr sz="1300">
                <a:solidFill>
                  <a:srgbClr val="232D3C"/>
                </a:solidFill>
                <a:latin typeface="Microsoft YaHei"/>
              </a:rPr>
              <a:t>用户端 / 管理端 / 运维端需求分级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17320"/>
            <a:ext cx="27432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>
                <a:solidFill>
                  <a:srgbClr val="202C40"/>
                </a:solidFill>
                <a:latin typeface="Microsoft YaHei"/>
              </a:rPr>
              <a:t>1 个冲突与可行性分析节</a:t>
            </a:r>
          </a:p>
          <a:p>
            <a:r>
              <a:rPr sz="1300">
                <a:solidFill>
                  <a:srgbClr val="232D3C"/>
                </a:solidFill>
                <a:latin typeface="Microsoft YaHei"/>
              </a:rPr>
              <a:t>5.4 对应评审表 12、18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63240"/>
            <a:ext cx="11018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06400" rIns="127000" rtlCol="0" anchor="ctr"/>
          <a:lstStyle/>
          <a:p>
            <a:pPr algn="ctr"/>
            <a:r>
              <a:rPr sz="1400" dirty="0" err="1">
                <a:solidFill>
                  <a:srgbClr val="232D3C"/>
                </a:solidFill>
                <a:latin typeface="Microsoft YaHei"/>
              </a:rPr>
              <a:t>前面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1.7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的用户代表记录，对应的是“需求从谁那里来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”；</a:t>
            </a:r>
          </a:p>
          <a:p>
            <a:pPr algn="ctr"/>
            <a:r>
              <a:rPr sz="1400" dirty="0">
                <a:solidFill>
                  <a:srgbClr val="232D3C"/>
                </a:solidFill>
                <a:latin typeface="Microsoft YaHei"/>
              </a:rPr>
              <a:t>第5章的优先级分级，对应的是“这些需求谁更重要、先做什么”；</a:t>
            </a:r>
          </a:p>
          <a:p>
            <a:pPr algn="ctr"/>
            <a:r>
              <a:rPr sz="1400" dirty="0">
                <a:solidFill>
                  <a:srgbClr val="232D3C"/>
                </a:solidFill>
                <a:latin typeface="Microsoft YaHei"/>
              </a:rPr>
              <a:t>5.4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的冲突与可行性分析，对应的是“不能全部同时满足时如何取舍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”。</a:t>
            </a:r>
          </a:p>
          <a:p>
            <a:pPr algn="ctr"/>
            <a:r>
              <a:rPr sz="1400" dirty="0" err="1">
                <a:solidFill>
                  <a:srgbClr val="232D3C"/>
                </a:solidFill>
                <a:latin typeface="Microsoft YaHei"/>
              </a:rPr>
              <a:t>因此评审表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3-6、11-12、16-18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实际上在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SRS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中是被一条逻辑链串起来的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。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63240"/>
            <a:ext cx="11018520" cy="301752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3090672"/>
            <a:ext cx="107990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500" b="1" dirty="0">
                <a:solidFill>
                  <a:srgbClr val="FFFFFF"/>
                </a:solidFill>
                <a:latin typeface="Microsoft YaHei"/>
              </a:rPr>
              <a:t>重点</a:t>
            </a:r>
            <a:endParaRPr sz="1500" b="1" dirty="0">
              <a:solidFill>
                <a:srgbClr val="FFFFFF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关键证据三：数据、环境与可验证性基础已经给出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06400" rIns="127000" rtlCol="0" anchor="ctr"/>
          <a:lstStyle/>
          <a:p>
            <a:r>
              <a:rPr sz="1300" dirty="0">
                <a:solidFill>
                  <a:srgbClr val="232D3C"/>
                </a:solidFill>
                <a:latin typeface="Microsoft YaHei"/>
              </a:rPr>
              <a:t>3.3.1 数据字典：用户账号、角色权限、项目、成员、资源申请、审批记录、资源池、作业任务、作业日志、文件记录、账单、工单、公告、培训报名、审计日志</a:t>
            </a:r>
          </a:p>
          <a:p>
            <a:r>
              <a:rPr sz="1300" dirty="0">
                <a:solidFill>
                  <a:srgbClr val="232D3C"/>
                </a:solidFill>
                <a:latin typeface="Microsoft YaHei"/>
              </a:rPr>
              <a:t>3.3.2 E-R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图：在数据字典基础上表达实体关系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r>
              <a:rPr sz="1300" dirty="0">
                <a:solidFill>
                  <a:srgbClr val="232D3C"/>
                </a:solidFill>
                <a:latin typeface="Microsoft YaHei"/>
              </a:rPr>
              <a:t>3.3.3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数据表：对应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15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张核心表结构</a:t>
            </a:r>
            <a:endParaRPr sz="13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301752"/>
          </a:xfrm>
          <a:prstGeom prst="rect">
            <a:avLst/>
          </a:prstGeom>
          <a:solidFill>
            <a:srgbClr val="22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353312"/>
            <a:ext cx="52669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数据与结构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406400" rIns="127000" rtlCol="0" anchor="ctr"/>
          <a:lstStyle/>
          <a:p>
            <a:pPr algn="ctr"/>
            <a:r>
              <a:rPr sz="1300" dirty="0">
                <a:solidFill>
                  <a:srgbClr val="232D3C"/>
                </a:solidFill>
                <a:latin typeface="Microsoft YaHei"/>
              </a:rPr>
              <a:t>3.5.1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运行环境：说明系统运行所依赖的环境边界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>
                <a:solidFill>
                  <a:srgbClr val="232D3C"/>
                </a:solidFill>
                <a:latin typeface="Microsoft YaHei"/>
              </a:rPr>
              <a:t>3.5.2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实现环境：说明课程阶段的实现与建模环境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algn="ctr"/>
            <a:r>
              <a:rPr sz="1300" dirty="0">
                <a:solidFill>
                  <a:srgbClr val="232D3C"/>
                </a:solidFill>
                <a:latin typeface="Microsoft YaHei"/>
              </a:rPr>
              <a:t>6.1.3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测试用例摘要：说明需求如何被验证</a:t>
            </a:r>
            <a:endParaRPr sz="13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5486400" cy="301752"/>
          </a:xfrm>
          <a:prstGeom prst="rect">
            <a:avLst/>
          </a:prstGeom>
          <a:solidFill>
            <a:srgbClr val="F0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1928" y="1353312"/>
            <a:ext cx="52669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环境与验证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逐项对照表（1-10）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475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9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D3C"/>
                          </a:solidFill>
                          <a:latin typeface="Microsoft YaHei"/>
                        </a:rPr>
                        <a:t>评审项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D3C"/>
                          </a:solidFill>
                          <a:latin typeface="Microsoft YaHei"/>
                        </a:rPr>
                        <a:t>SRS证据位置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D3C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1.6 Vision &amp; Scope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已明确愿景、业务目标、范围内/外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2.4 上下文图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已采用上下文图描述系统与外部对象关系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2.3 用户特点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已识别五类用户群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1.7 表4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已确认用户代表、获取方式和职责关注点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2.3 + 1.7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已对用户群和用户代表分类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1.7 表4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各代表均有需求获取与确认结果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3.1.1 + RF-05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已形成原型，且引用 HTML 与截图成果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第4章用例表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已按模板记录每类主要需求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4章 + 对话图 + 原型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用例文档包含图、说明、原型和DM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3.4 软件系统属性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已记录非功能需求及验证方法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逐项对照表（11-20）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475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9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D3C"/>
                          </a:solidFill>
                          <a:latin typeface="Microsoft YaHei"/>
                        </a:rPr>
                        <a:t>评审项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D3C"/>
                          </a:solidFill>
                          <a:latin typeface="Microsoft YaHei"/>
                        </a:rPr>
                        <a:t>SRS证据位置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D3C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5.1-5.3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已进行优先级打分和排序，按用户群分组展示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5.4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已讨论可行性，并记录需求冲突与取舍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1.7 + 6.1.5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已说明采用JAD会议，内部评审记录可作支撑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目录/编号/跟踪矩阵/索引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需求定义清晰，可支持他组理解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1-6章整体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功能、非功能、数据、环境、测试、手册齐备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第5章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已对全部用户需求进行优先级排序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17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5.1-5.3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优先级排序已考虑用户群分类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5.4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已分析需求冲突及可能解决方式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3.3.1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已含数据字典，内容完整且分项定义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3.3.2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已在数据字典基础上定义 ER 图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C40"/>
                </a:solidFill>
                <a:latin typeface="Microsoft YaHei"/>
              </a:rPr>
              <a:t>逐项对照表（21-30）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4757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9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D3C"/>
                          </a:solidFill>
                          <a:latin typeface="Microsoft YaHei"/>
                        </a:rPr>
                        <a:t>评审项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D3C"/>
                          </a:solidFill>
                          <a:latin typeface="Microsoft YaHei"/>
                        </a:rPr>
                        <a:t>SRS证据位置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32D3C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50800" marR="50800" marT="38100" marB="38100">
                    <a:solidFill>
                      <a:srgbClr val="E7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3.5.1-3.5.2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已定义运行环境与实现环境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6.1.2 + 6.2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已给出需求跟踪矩阵、来源与索引关系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23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4章用例图/对话图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复杂需求已用 UML/图示方式进一步说明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用例图/E-R/对话图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所用图例与需求对象匹配，描述准确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6.1.3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已提交可独立验证的 Test Case 摘要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26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6.1.3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测试方法为等价类/边界值/场景法组合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6.1.4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已提交初步 User Manual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28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6.1.5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已进行小组内部评审并形成记录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6.1.5 整改记录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已记录评审后完善情况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6.1.5 Baseline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C"/>
                          </a:solidFill>
                          <a:latin typeface="Microsoft YaHei"/>
                        </a:rPr>
                        <a:t>已定义基线版本并作为正式评审依据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1240" y="7315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578"/>
                </a:solidFill>
                <a:latin typeface="Microsoft Ya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01168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202C40"/>
                </a:solidFill>
                <a:latin typeface="Microsoft YaHei"/>
              </a:rPr>
              <a:t>结论与关注点</a:t>
            </a:r>
            <a:endParaRPr sz="2400" b="1" dirty="0">
              <a:solidFill>
                <a:srgbClr val="202C40"/>
              </a:solidFill>
              <a:latin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30352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500" b="1">
                <a:solidFill>
                  <a:srgbClr val="202C40"/>
                </a:solidFill>
                <a:latin typeface="Microsoft YaHei"/>
              </a:rPr>
              <a:t>整体结论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从 Vision &amp; Scope 到 Baseline，SRS 已覆盖评审表 30 项检查项的核心证据。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文档不只是“写了很多内容”，而是已经形成：需求获取 → 需求定义 → 原型/用例 → 优先级 → 数据与环境 → 测试/手册/评审 的闭环。</a:t>
            </a:r>
          </a:p>
          <a:p>
            <a:r>
              <a:rPr sz="1400">
                <a:solidFill>
                  <a:srgbClr val="232D3C"/>
                </a:solidFill>
                <a:latin typeface="Microsoft YaHei"/>
              </a:rPr>
              <a:t>因此本次汇报口径可以概括为：SRS 满足评审要求，且具备继续移交设计、测试与实现的基础。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25880"/>
            <a:ext cx="548640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76200" rtlCol="0" anchor="ctr"/>
          <a:lstStyle/>
          <a:p>
            <a:pPr algn="ctr"/>
            <a:r>
              <a:rPr sz="1400" b="1" dirty="0" err="1">
                <a:solidFill>
                  <a:srgbClr val="202C40"/>
                </a:solidFill>
                <a:latin typeface="Microsoft YaHei"/>
              </a:rPr>
              <a:t>补充</a:t>
            </a:r>
            <a:r>
              <a:rPr lang="zh-CN" altLang="en-US" sz="1400" b="1" dirty="0">
                <a:solidFill>
                  <a:srgbClr val="202C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要点</a:t>
            </a:r>
            <a:endParaRPr sz="1400" b="1" dirty="0">
              <a:solidFill>
                <a:srgbClr val="202C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1300" dirty="0">
                <a:solidFill>
                  <a:srgbClr val="232D3C"/>
                </a:solidFill>
                <a:latin typeface="Microsoft YaHei"/>
              </a:rPr>
              <a:t>1. 条目11：说明优先级采用“用户群 +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影响范围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+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业务价值”的综合分级口径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。</a:t>
            </a:r>
          </a:p>
          <a:p>
            <a:r>
              <a:rPr sz="1300" dirty="0">
                <a:solidFill>
                  <a:srgbClr val="232D3C"/>
                </a:solidFill>
                <a:latin typeface="Microsoft YaHei"/>
              </a:rPr>
              <a:t>2. 条目13：强调 1.7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已写明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JAD，若老师追问可展示需求获取会议记录或内部纪要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。</a:t>
            </a:r>
          </a:p>
          <a:p>
            <a:r>
              <a:rPr sz="1300" dirty="0">
                <a:solidFill>
                  <a:srgbClr val="232D3C"/>
                </a:solidFill>
                <a:latin typeface="Microsoft YaHei"/>
              </a:rPr>
              <a:t>3. 条目23-24：说明 SRS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的图示与前期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UML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基础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I/II/III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成果一致，不是临时拼接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。</a:t>
            </a:r>
          </a:p>
          <a:p>
            <a:r>
              <a:rPr sz="1300" dirty="0">
                <a:solidFill>
                  <a:srgbClr val="232D3C"/>
                </a:solidFill>
                <a:latin typeface="Microsoft YaHei"/>
              </a:rPr>
              <a:t>4. 条目30：点明基线版本号 SRA2026-G06-SRS-v1.0，已作为后续设计测试依据。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C40"/>
                </a:solidFill>
                <a:latin typeface="Microsoft YaHei"/>
              </a:rPr>
              <a:t>谢谢大家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43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578"/>
                </a:solidFill>
                <a:latin typeface="Microsoft YaHei"/>
              </a:rPr>
              <a:t>超算中心运营管理门户网站 SRS 评审汇报</a:t>
            </a:r>
          </a:p>
          <a:p>
            <a:pPr algn="l"/>
            <a:r>
              <a:rPr sz="1800" b="0">
                <a:solidFill>
                  <a:srgbClr val="5A6578"/>
                </a:solidFill>
                <a:latin typeface="Microsoft YaHei"/>
              </a:rPr>
              <a:t>第6组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9530" y="128016"/>
            <a:ext cx="24662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dirty="0">
                <a:solidFill>
                  <a:srgbClr val="2F61D5"/>
                </a:solidFill>
                <a:latin typeface="Microsoft YaHei"/>
              </a:rPr>
              <a:t>软件需求分析与实践｜第6组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578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1526</Words>
  <Application>Microsoft Office PowerPoint</Application>
  <PresentationFormat>宽屏</PresentationFormat>
  <Paragraphs>369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微软雅黑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YIJUN WU</cp:lastModifiedBy>
  <cp:revision>2</cp:revision>
  <dcterms:created xsi:type="dcterms:W3CDTF">2013-01-27T09:14:16Z</dcterms:created>
  <dcterms:modified xsi:type="dcterms:W3CDTF">2026-05-23T15:38:02Z</dcterms:modified>
  <cp:category/>
</cp:coreProperties>
</file>