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81" r:id="rId8"/>
    <p:sldId id="262" r:id="rId9"/>
    <p:sldId id="263" r:id="rId10"/>
    <p:sldId id="282" r:id="rId11"/>
    <p:sldId id="264" r:id="rId12"/>
    <p:sldId id="265" r:id="rId13"/>
    <p:sldId id="283" r:id="rId14"/>
    <p:sldId id="286" r:id="rId15"/>
    <p:sldId id="287" r:id="rId16"/>
    <p:sldId id="288" r:id="rId17"/>
    <p:sldId id="289" r:id="rId18"/>
    <p:sldId id="290" r:id="rId19"/>
    <p:sldId id="267" r:id="rId20"/>
    <p:sldId id="268" r:id="rId21"/>
    <p:sldId id="269" r:id="rId22"/>
    <p:sldId id="270" r:id="rId23"/>
    <p:sldId id="284" r:id="rId24"/>
    <p:sldId id="271" r:id="rId25"/>
    <p:sldId id="272" r:id="rId26"/>
    <p:sldId id="273" r:id="rId27"/>
    <p:sldId id="274" r:id="rId28"/>
    <p:sldId id="285" r:id="rId29"/>
    <p:sldId id="276" r:id="rId30"/>
    <p:sldId id="277" r:id="rId31"/>
    <p:sldId id="278" r:id="rId32"/>
    <p:sldId id="279" r:id="rId33"/>
    <p:sldId id="280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28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7624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UML基础 IV：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综合应用和问题解答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翻转课堂 / 专题汇报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216712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第6组｜吴易骏 肖泓宇 蒋长麟 陈许恺 王涛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24871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457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项目：超算中心运营管理门户网站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60920" y="1325880"/>
            <a:ext cx="1234440" cy="685800"/>
          </a:xfrm>
          <a:prstGeom prst="rect">
            <a:avLst/>
          </a:prstGeom>
          <a:solidFill>
            <a:srgbClr val="EAF1FF"/>
          </a:solidFill>
          <a:ln w="15240">
            <a:solidFill>
              <a:srgbClr val="1457D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边界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15400" y="1325880"/>
            <a:ext cx="1234440" cy="685800"/>
          </a:xfrm>
          <a:prstGeom prst="rect">
            <a:avLst/>
          </a:prstGeom>
          <a:solidFill>
            <a:srgbClr val="F0EAFE"/>
          </a:solidFill>
          <a:ln w="15240">
            <a:solidFill>
              <a:srgbClr val="7C3A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UML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图谱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424160" y="1325880"/>
            <a:ext cx="1234440" cy="685800"/>
          </a:xfrm>
          <a:prstGeom prst="rect">
            <a:avLst/>
          </a:prstGeom>
          <a:solidFill>
            <a:srgbClr val="E9F8EF"/>
          </a:solidFill>
          <a:ln w="15240">
            <a:solidFill>
              <a:srgbClr val="18A95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SRS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基线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46520" y="2240280"/>
            <a:ext cx="489204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D9E2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超算门户综合建模场景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资源申请 → 审批 → 作业 → 统计 → 工单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63640" y="3886200"/>
            <a:ext cx="746760" cy="566928"/>
          </a:xfrm>
          <a:prstGeom prst="rect">
            <a:avLst/>
          </a:prstGeom>
          <a:solidFill>
            <a:srgbClr val="EAF1FF"/>
          </a:solidFill>
          <a:ln w="15240">
            <a:solidFill>
              <a:srgbClr val="1457D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用例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174992" y="3886200"/>
            <a:ext cx="746760" cy="566928"/>
          </a:xfrm>
          <a:prstGeom prst="rect">
            <a:avLst/>
          </a:prstGeom>
          <a:solidFill>
            <a:srgbClr val="E9F8EF"/>
          </a:solidFill>
          <a:ln w="15240">
            <a:solidFill>
              <a:srgbClr val="18A95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原型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086344" y="3886200"/>
            <a:ext cx="746760" cy="566928"/>
          </a:xfrm>
          <a:prstGeom prst="rect">
            <a:avLst/>
          </a:prstGeom>
          <a:solidFill>
            <a:srgbClr val="FFF4DF"/>
          </a:solidFill>
          <a:ln w="1524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类/对象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997696" y="3886200"/>
            <a:ext cx="746760" cy="566928"/>
          </a:xfrm>
          <a:prstGeom prst="rect">
            <a:avLst/>
          </a:prstGeom>
          <a:solidFill>
            <a:srgbClr val="F0EAFE"/>
          </a:solidFill>
          <a:ln w="15240">
            <a:solidFill>
              <a:srgbClr val="7C3A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顺序/协作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909048" y="3886200"/>
            <a:ext cx="746760" cy="566928"/>
          </a:xfrm>
          <a:prstGeom prst="rect">
            <a:avLst/>
          </a:prstGeom>
          <a:solidFill>
            <a:srgbClr val="E6F7FA"/>
          </a:solidFill>
          <a:ln w="15240">
            <a:solidFill>
              <a:srgbClr val="20C7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构件/包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820400" y="3886200"/>
            <a:ext cx="746760" cy="566928"/>
          </a:xfrm>
          <a:prstGeom prst="rect">
            <a:avLst/>
          </a:prstGeom>
          <a:solidFill>
            <a:srgbClr val="FEECEC"/>
          </a:solidFill>
          <a:ln w="15240">
            <a:solidFill>
              <a:srgbClr val="EF44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01200" y="228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457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65653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 IV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56716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01200" y="228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457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5653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 IV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56716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08094" y="1325880"/>
            <a:ext cx="466974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 综合应用定位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为什么需要把 UML 图、原型和 SRS 串起来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73152" cy="594360"/>
          </a:xfrm>
          <a:prstGeom prst="rect">
            <a:avLst/>
          </a:prstGeom>
          <a:solidFill>
            <a:srgbClr val="1457D9"/>
          </a:solidFill>
          <a:ln w="12700">
            <a:solidFill>
              <a:srgbClr val="1457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8094" y="2130552"/>
            <a:ext cx="466974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 项目建模链路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围绕超算门户主流程组织完整图谱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130552"/>
            <a:ext cx="73152" cy="594360"/>
          </a:xfrm>
          <a:prstGeom prst="rect">
            <a:avLst/>
          </a:prstGeom>
          <a:solidFill>
            <a:srgbClr val="18A957"/>
          </a:solidFill>
          <a:ln w="12700">
            <a:solidFill>
              <a:srgbClr val="18A9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8094" y="2935224"/>
            <a:ext cx="466974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 综合案例讲解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从资源申请到作业监控的跨图联动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935224"/>
            <a:ext cx="73152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8094" y="3739896"/>
            <a:ext cx="466974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 项目实践复盘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困难、疑惑、经验：我们在超算门户建模中踩过的坑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739896"/>
            <a:ext cx="73152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8094" y="4544568"/>
            <a:ext cx="466974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 问题解答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用常见追问检查图和需求是否匹配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544568"/>
            <a:ext cx="73152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87965" y="1623060"/>
            <a:ext cx="1280160" cy="685800"/>
          </a:xfrm>
          <a:prstGeom prst="rect">
            <a:avLst/>
          </a:prstGeom>
          <a:solidFill>
            <a:srgbClr val="EAF1FF"/>
          </a:solidFill>
          <a:ln w="15240">
            <a:solidFill>
              <a:srgbClr val="1457D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 收尾信息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分工、评分、资料来源与总结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78251" y="2889504"/>
            <a:ext cx="1280160" cy="685800"/>
          </a:xfrm>
          <a:prstGeom prst="rect">
            <a:avLst/>
          </a:prstGeom>
          <a:solidFill>
            <a:srgbClr val="E9F8EF"/>
          </a:solidFill>
          <a:ln w="15240">
            <a:solidFill>
              <a:srgbClr val="18A95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从单张图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到项目复盘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938583" y="4201668"/>
            <a:ext cx="1280160" cy="685800"/>
          </a:xfrm>
          <a:prstGeom prst="rect">
            <a:avLst/>
          </a:prstGeom>
          <a:solidFill>
            <a:srgbClr val="FFF4DF"/>
          </a:solidFill>
          <a:ln w="1524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从评审问题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到</a:t>
            </a:r>
            <a:r>
              <a:rPr lang="zh-CN" altLang="en-US" sz="13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经验沉淀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从“会画图”到“会用图解释需求”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47472" y="78638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综合应用的核心不是多画图，而是让图之间能互相印证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0" y="228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457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5653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 IV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56716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89174" y="1325880"/>
            <a:ext cx="308846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基础 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用例图、类图、状态图、顺序图、协作图、部署图：建立角色、对象、流程、交互和运行环境。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325880"/>
            <a:ext cx="73152" cy="1143000"/>
          </a:xfrm>
          <a:prstGeom prst="rect">
            <a:avLst/>
          </a:prstGeom>
          <a:solidFill>
            <a:srgbClr val="1457D9"/>
          </a:solidFill>
          <a:ln w="12700">
            <a:solidFill>
              <a:srgbClr val="1457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325880"/>
            <a:ext cx="3017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基础 II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界面原型：把文字需求变成可走通的页面路径，验证入口、表单、状态和角色差异。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325880"/>
            <a:ext cx="73152" cy="1143000"/>
          </a:xfrm>
          <a:prstGeom prst="rect">
            <a:avLst/>
          </a:prstGeom>
          <a:solidFill>
            <a:srgbClr val="18A957"/>
          </a:solidFill>
          <a:ln w="12700">
            <a:solidFill>
              <a:srgbClr val="18A9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69236" y="1325880"/>
            <a:ext cx="3097924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基础 III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对象图、构件图、包图：补充运行实例、服务边界和逻辑组织结构。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83880" y="1325880"/>
            <a:ext cx="73152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246120"/>
            <a:ext cx="1653540" cy="658368"/>
          </a:xfrm>
          <a:prstGeom prst="rect">
            <a:avLst/>
          </a:prstGeom>
          <a:solidFill>
            <a:srgbClr val="EAF1FF"/>
          </a:solidFill>
          <a:ln w="15240">
            <a:solidFill>
              <a:srgbClr val="1457D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需求条目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549652" y="3246120"/>
            <a:ext cx="1653540" cy="658368"/>
          </a:xfrm>
          <a:prstGeom prst="rect">
            <a:avLst/>
          </a:prstGeom>
          <a:solidFill>
            <a:srgbClr val="EAF1FF"/>
          </a:solidFill>
          <a:ln w="15240">
            <a:solidFill>
              <a:srgbClr val="1457D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用户场景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367784" y="3246120"/>
            <a:ext cx="1653540" cy="658368"/>
          </a:xfrm>
          <a:prstGeom prst="rect">
            <a:avLst/>
          </a:prstGeom>
          <a:solidFill>
            <a:srgbClr val="E9F8EF"/>
          </a:solidFill>
          <a:ln w="15240">
            <a:solidFill>
              <a:srgbClr val="18A95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界面原型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185916" y="3246120"/>
            <a:ext cx="1653540" cy="658368"/>
          </a:xfrm>
          <a:prstGeom prst="rect">
            <a:avLst/>
          </a:prstGeom>
          <a:solidFill>
            <a:srgbClr val="F0EAFE"/>
          </a:solidFill>
          <a:ln w="15240">
            <a:solidFill>
              <a:srgbClr val="7C3A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UML图谱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004048" y="3246120"/>
            <a:ext cx="1653540" cy="658368"/>
          </a:xfrm>
          <a:prstGeom prst="rect">
            <a:avLst/>
          </a:prstGeom>
          <a:solidFill>
            <a:srgbClr val="FFF4DF"/>
          </a:solidFill>
          <a:ln w="1524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数据/接口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822180" y="3246120"/>
            <a:ext cx="1653540" cy="658368"/>
          </a:xfrm>
          <a:prstGeom prst="rect">
            <a:avLst/>
          </a:prstGeom>
          <a:solidFill>
            <a:srgbClr val="FEECEC"/>
          </a:solidFill>
          <a:ln w="15240">
            <a:solidFill>
              <a:srgbClr val="EF44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测试验证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项目主线：超算门户的一条完整业务链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47472" y="78638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围绕“资源申请—审批—开通—作业—统计—支持”组织所有图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0" y="228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457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5653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 IV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56716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676400" cy="685800"/>
          </a:xfrm>
          <a:prstGeom prst="rect">
            <a:avLst/>
          </a:prstGeom>
          <a:solidFill>
            <a:srgbClr val="EAF1FF"/>
          </a:solidFill>
          <a:ln w="15240">
            <a:solidFill>
              <a:srgbClr val="1457D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登录入口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526792" y="1234440"/>
            <a:ext cx="1676400" cy="685800"/>
          </a:xfrm>
          <a:prstGeom prst="rect">
            <a:avLst/>
          </a:prstGeom>
          <a:solidFill>
            <a:srgbClr val="E9F8EF"/>
          </a:solidFill>
          <a:ln w="15240">
            <a:solidFill>
              <a:srgbClr val="18A95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资源申请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367784" y="1234440"/>
            <a:ext cx="1676400" cy="685800"/>
          </a:xfrm>
          <a:prstGeom prst="rect">
            <a:avLst/>
          </a:prstGeom>
          <a:solidFill>
            <a:srgbClr val="FFF4DF"/>
          </a:solidFill>
          <a:ln w="1524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PI/管理员审批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08776" y="1234440"/>
            <a:ext cx="1676400" cy="685800"/>
          </a:xfrm>
          <a:prstGeom prst="rect">
            <a:avLst/>
          </a:prstGeom>
          <a:solidFill>
            <a:srgbClr val="F0EAFE"/>
          </a:solidFill>
          <a:ln w="15240">
            <a:solidFill>
              <a:srgbClr val="7C3A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账号/配额开通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049768" y="1234440"/>
            <a:ext cx="1676400" cy="685800"/>
          </a:xfrm>
          <a:prstGeom prst="rect">
            <a:avLst/>
          </a:prstGeom>
          <a:solidFill>
            <a:srgbClr val="E6F7FA"/>
          </a:solidFill>
          <a:ln w="15240">
            <a:solidFill>
              <a:srgbClr val="20C7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作业提交/监控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890760" y="1234440"/>
            <a:ext cx="1676400" cy="685800"/>
          </a:xfrm>
          <a:prstGeom prst="rect">
            <a:avLst/>
          </a:prstGeom>
          <a:solidFill>
            <a:srgbClr val="FEECEC"/>
          </a:solidFill>
          <a:ln w="15240">
            <a:solidFill>
              <a:srgbClr val="EF44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账单/工单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14400" y="2377440"/>
            <a:ext cx="411480" cy="685800"/>
          </a:xfrm>
          <a:prstGeom prst="rect">
            <a:avLst/>
          </a:prstGeom>
          <a:solidFill>
            <a:srgbClr val="1457D9"/>
          </a:solidFill>
          <a:ln>
            <a:solidFill>
              <a:srgbClr val="1457D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17320" y="2377440"/>
            <a:ext cx="3977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</a:rPr>
              <a:t>普通用户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</a:rPr>
              <a:t>提交申请、查看审批、监控作业、下载结果。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246120"/>
            <a:ext cx="411480" cy="6858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3246120"/>
            <a:ext cx="3977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</a:rPr>
              <a:t>PI / 审批人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</a:rPr>
              <a:t>审核组内申请、调整配额、确认项目账单。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114800"/>
            <a:ext cx="411480" cy="6858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17320" y="4114800"/>
            <a:ext cx="3977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</a:rPr>
              <a:t>管理员 / 运维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</a:rPr>
              <a:t>资源开通、队列配置、运行监控、审计告警。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99900" y="2423160"/>
            <a:ext cx="4947219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综合建模对象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不是一个页面，也不是一张图，而是同一条业务链在不同视角下的表达：角色、页面、对象、服务、数据、测试。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35040" y="2423160"/>
            <a:ext cx="73152" cy="1051560"/>
          </a:xfrm>
          <a:prstGeom prst="rect">
            <a:avLst/>
          </a:prstGeom>
          <a:solidFill>
            <a:srgbClr val="18A957"/>
          </a:solidFill>
          <a:ln w="12700">
            <a:solidFill>
              <a:srgbClr val="18A9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9900" y="3794760"/>
            <a:ext cx="49472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本项目适配性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超算门户角色多、流程长、状态复杂、数据密集，非常适合用“组合图谱”解释需求。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35040" y="3794760"/>
            <a:ext cx="73152" cy="1051560"/>
          </a:xfrm>
          <a:prstGeom prst="rect">
            <a:avLst/>
          </a:prstGeom>
          <a:solidFill>
            <a:srgbClr val="1457D9"/>
          </a:solidFill>
          <a:ln w="12700">
            <a:solidFill>
              <a:srgbClr val="1457D9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综合建模路径：一条需求如何被逐层说明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47472" y="78638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用“提交正式资源申请”作为示例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0" y="228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457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5653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 IV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56716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77462" y="1234440"/>
            <a:ext cx="286301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USER06：提交正式资源申请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234440"/>
            <a:ext cx="73152" cy="960120"/>
          </a:xfrm>
          <a:prstGeom prst="rect">
            <a:avLst/>
          </a:prstGeom>
          <a:solidFill>
            <a:srgbClr val="1457D9"/>
          </a:solidFill>
          <a:ln w="12700">
            <a:solidFill>
              <a:srgbClr val="1457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76682" y="1234440"/>
            <a:ext cx="291283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原型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资源申请表单 / 上传材料 / 提交确认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1234440"/>
            <a:ext cx="73152" cy="960120"/>
          </a:xfrm>
          <a:prstGeom prst="rect">
            <a:avLst/>
          </a:prstGeom>
          <a:solidFill>
            <a:srgbClr val="18A957"/>
          </a:solidFill>
          <a:ln w="12700">
            <a:solidFill>
              <a:srgbClr val="18A9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75542" y="1234440"/>
            <a:ext cx="286301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用例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参与者、前置条件、主成功场景、异常流程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1234440"/>
            <a:ext cx="73152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7462" y="2697480"/>
            <a:ext cx="286301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草稿 → 已提交 → 待审核 → 通过/驳回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2697480"/>
            <a:ext cx="73152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76682" y="2697480"/>
            <a:ext cx="291283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交互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前端 → 申请服务 → 审批服务 → 通知服务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80560" y="2697480"/>
            <a:ext cx="73152" cy="960120"/>
          </a:xfrm>
          <a:prstGeom prst="rect">
            <a:avLst/>
          </a:prstGeom>
          <a:solidFill>
            <a:srgbClr val="20C7E8"/>
          </a:solidFill>
          <a:ln w="12700">
            <a:solidFill>
              <a:srgbClr val="20C7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75542" y="2697480"/>
            <a:ext cx="286301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测试用例：必填、边界、审批回退、通知触达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0" y="2697480"/>
            <a:ext cx="73152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800600"/>
            <a:ext cx="102412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关键：每一层都不是另起炉灶，而是围绕同一需求编号和同一业务场景展开。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项目综合图谱：不同 UML 图各司其职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47472" y="78638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同一业务场景，不同图回答不同问题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0" y="228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457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5653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 IV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56716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60732" y="2948940"/>
            <a:ext cx="1463040" cy="731520"/>
          </a:xfrm>
          <a:prstGeom prst="rect">
            <a:avLst/>
          </a:prstGeom>
          <a:solidFill>
            <a:srgbClr val="EAF1FF"/>
          </a:solidFill>
          <a:ln w="15240">
            <a:solidFill>
              <a:srgbClr val="1457D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资源申请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综合场景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1554480"/>
            <a:ext cx="1920240" cy="731520"/>
          </a:xfrm>
          <a:prstGeom prst="rect">
            <a:avLst/>
          </a:prstGeom>
          <a:solidFill>
            <a:srgbClr val="EAF1FF"/>
          </a:solidFill>
          <a:ln w="15240">
            <a:solidFill>
              <a:srgbClr val="1457D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用例图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谁参与、能做什么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0" y="1234440"/>
            <a:ext cx="1920240" cy="731520"/>
          </a:xfrm>
          <a:prstGeom prst="rect">
            <a:avLst/>
          </a:prstGeom>
          <a:solidFill>
            <a:srgbClr val="E9F8EF"/>
          </a:solidFill>
          <a:ln w="15240">
            <a:solidFill>
              <a:srgbClr val="18A95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原型图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页面如何走通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75120" y="1234440"/>
            <a:ext cx="1920240" cy="731520"/>
          </a:xfrm>
          <a:prstGeom prst="rect">
            <a:avLst/>
          </a:prstGeom>
          <a:solidFill>
            <a:srgbClr val="FFF4DF"/>
          </a:solidFill>
          <a:ln w="1524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状态图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申请单如何变化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0" y="1554480"/>
            <a:ext cx="1920240" cy="731520"/>
          </a:xfrm>
          <a:prstGeom prst="rect">
            <a:avLst/>
          </a:prstGeom>
          <a:solidFill>
            <a:srgbClr val="F0EAFE"/>
          </a:solidFill>
          <a:ln w="15240">
            <a:solidFill>
              <a:srgbClr val="7C3A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顺序/协作图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服务如何交互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28800" y="4663440"/>
            <a:ext cx="1920240" cy="731520"/>
          </a:xfrm>
          <a:prstGeom prst="rect">
            <a:avLst/>
          </a:prstGeom>
          <a:solidFill>
            <a:srgbClr val="E6F7FA"/>
          </a:solidFill>
          <a:ln w="15240">
            <a:solidFill>
              <a:srgbClr val="20C7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类/对象图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对象结构与实例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89520" y="4663440"/>
            <a:ext cx="1920240" cy="731520"/>
          </a:xfrm>
          <a:prstGeom prst="rect">
            <a:avLst/>
          </a:prstGeom>
          <a:solidFill>
            <a:srgbClr val="FEECEC"/>
          </a:solidFill>
          <a:ln w="15240">
            <a:solidFill>
              <a:srgbClr val="EF44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构件/包/部署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服务边界与运行组织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5806440"/>
            <a:ext cx="10424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图谱价值：如果某张图单独看不清，另一张图能补充；如果两张图互相矛盾，就说明需求需要回到 SRS 中修订。</a:t>
            </a:r>
            <a:endParaRPr lang="en-US" sz="1400" dirty="0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F07C9FB8-7177-5B0A-F661-ED5446B15242}"/>
              </a:ext>
            </a:extLst>
          </p:cNvPr>
          <p:cNvCxnSpPr/>
          <p:nvPr/>
        </p:nvCxnSpPr>
        <p:spPr>
          <a:xfrm flipH="1" flipV="1">
            <a:off x="5027624" y="1965960"/>
            <a:ext cx="206528" cy="9829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E8A97C53-7EBA-5313-1332-42D4B8BBD66E}"/>
              </a:ext>
            </a:extLst>
          </p:cNvPr>
          <p:cNvCxnSpPr>
            <a:stCxn id="7" idx="1"/>
          </p:cNvCxnSpPr>
          <p:nvPr/>
        </p:nvCxnSpPr>
        <p:spPr>
          <a:xfrm flipH="1" flipV="1">
            <a:off x="2834640" y="2286000"/>
            <a:ext cx="2226092" cy="1028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3E54CC17-D5D0-BE90-F79A-16D9AB66FC83}"/>
              </a:ext>
            </a:extLst>
          </p:cNvPr>
          <p:cNvCxnSpPr/>
          <p:nvPr/>
        </p:nvCxnSpPr>
        <p:spPr>
          <a:xfrm flipV="1">
            <a:off x="6312513" y="1965960"/>
            <a:ext cx="636927" cy="9829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8E7483D9-1388-B219-7C93-E8BADDC445D1}"/>
              </a:ext>
            </a:extLst>
          </p:cNvPr>
          <p:cNvCxnSpPr>
            <a:stCxn id="7" idx="3"/>
          </p:cNvCxnSpPr>
          <p:nvPr/>
        </p:nvCxnSpPr>
        <p:spPr>
          <a:xfrm flipV="1">
            <a:off x="6523772" y="2226091"/>
            <a:ext cx="2620228" cy="10886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3FDCABB8-1FD3-02E6-D32D-56965AD46A5E}"/>
              </a:ext>
            </a:extLst>
          </p:cNvPr>
          <p:cNvCxnSpPr/>
          <p:nvPr/>
        </p:nvCxnSpPr>
        <p:spPr>
          <a:xfrm flipH="1">
            <a:off x="3749040" y="3680460"/>
            <a:ext cx="1311692" cy="9829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B41BC24D-9DE4-C4B5-E080-CA7D155D4665}"/>
              </a:ext>
            </a:extLst>
          </p:cNvPr>
          <p:cNvCxnSpPr/>
          <p:nvPr/>
        </p:nvCxnSpPr>
        <p:spPr>
          <a:xfrm>
            <a:off x="6523772" y="3680460"/>
            <a:ext cx="1065748" cy="9829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509760" y="1645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2563EB"/>
                </a:solidFill>
                <a:latin typeface="Microsoft YaHei"/>
              </a:rPr>
              <a:t>软件需求分析原理与实践｜第6组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088"/>
                </a:solidFill>
                <a:latin typeface="Microsoft YaHei"/>
              </a:rPr>
              <a:t>G06 · UML基础 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50040" y="6446520"/>
            <a:ext cx="256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07088"/>
                </a:solidFill>
                <a:latin typeface="Microsoft YaHei"/>
              </a:rP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F8F"/>
                </a:solidFill>
                <a:latin typeface="Microsoft YaHei"/>
              </a:rPr>
              <a:t>互动Q1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89888"/>
            <a:ext cx="10881360" cy="100584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3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91056"/>
            <a:ext cx="10332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50" b="1">
                <a:solidFill>
                  <a:srgbClr val="1F2D3D"/>
                </a:solidFill>
                <a:latin typeface="Microsoft YaHei"/>
              </a:rPr>
              <a:t>在超算门户综合图谱中，如果“资源申请”已经有用例、原型和状态图，但测试用例没有覆盖“审批驳回后重新提交”，最应该补充哪一类内容？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71800"/>
            <a:ext cx="1065276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41832" y="3127248"/>
            <a:ext cx="457200" cy="40233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3090672"/>
            <a:ext cx="969264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50">
                <a:solidFill>
                  <a:srgbClr val="1F2D3D"/>
                </a:solidFill>
                <a:latin typeface="Microsoft YaHei"/>
              </a:rPr>
              <a:t>补充该需求的异常路径测试用例，并回查状态图与原型中是否支持“驳回—修改—重提”。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904487"/>
            <a:ext cx="1065276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41832" y="4059935"/>
            <a:ext cx="457200" cy="402336"/>
          </a:xfrm>
          <a:prstGeom prst="round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4023359"/>
            <a:ext cx="969264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50">
                <a:solidFill>
                  <a:srgbClr val="1F2D3D"/>
                </a:solidFill>
                <a:latin typeface="Microsoft YaHei"/>
              </a:rPr>
              <a:t>优先增加部署图中的服务器节点，因为驳回流程主要取决于服务器数量。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37176"/>
            <a:ext cx="1065276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41832" y="4992624"/>
            <a:ext cx="457200" cy="402336"/>
          </a:xfrm>
          <a:prstGeom prst="roundRect">
            <a:avLst/>
          </a:prstGeom>
          <a:solidFill>
            <a:srgbClr val="009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4956048"/>
            <a:ext cx="969264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50">
                <a:solidFill>
                  <a:srgbClr val="1F2D3D"/>
                </a:solidFill>
                <a:latin typeface="Microsoft YaHei"/>
              </a:rPr>
              <a:t>把资源申请和审批用例合并成一个用例，这样可以减少图之间的对应关系。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综合应用一：角色、用例与原型要互相对应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47472" y="78638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避免“用例里有功能，页面里找不到入口”的问题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0" y="228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457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5653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 IV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56716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71156" y="1143000"/>
            <a:ext cx="3372244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评审关注点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用户群是否识别清楚？每类用户是否有对应需求、用例和页面入口？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143000"/>
            <a:ext cx="73152" cy="914400"/>
          </a:xfrm>
          <a:prstGeom prst="rect">
            <a:avLst/>
          </a:prstGeom>
          <a:solidFill>
            <a:srgbClr val="1457D9"/>
          </a:solidFill>
          <a:ln w="12700">
            <a:solidFill>
              <a:srgbClr val="1457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1156" y="2331720"/>
            <a:ext cx="3372244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项目证据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普通用户、PI、管理员、运维、支持人员分别对应申请、审批、监控、工单等入口。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331720"/>
            <a:ext cx="73152" cy="914400"/>
          </a:xfrm>
          <a:prstGeom prst="rect">
            <a:avLst/>
          </a:prstGeom>
          <a:solidFill>
            <a:srgbClr val="18A957"/>
          </a:solidFill>
          <a:ln w="12700">
            <a:solidFill>
              <a:srgbClr val="18A9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280160"/>
            <a:ext cx="1828800" cy="594360"/>
          </a:xfrm>
          <a:prstGeom prst="rect">
            <a:avLst/>
          </a:prstGeom>
          <a:solidFill>
            <a:srgbClr val="EAF1FF"/>
          </a:solidFill>
          <a:ln w="15240">
            <a:solidFill>
              <a:srgbClr val="1457D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普通用户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申请 / 作业 / 工单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46320" y="2148840"/>
            <a:ext cx="1828800" cy="594360"/>
          </a:xfrm>
          <a:prstGeom prst="rect">
            <a:avLst/>
          </a:prstGeom>
          <a:solidFill>
            <a:srgbClr val="F0EAFE"/>
          </a:solidFill>
          <a:ln w="15240">
            <a:solidFill>
              <a:srgbClr val="7C3A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PI/审批人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审批 / 配额 / 项目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46320" y="3017520"/>
            <a:ext cx="1828800" cy="594360"/>
          </a:xfrm>
          <a:prstGeom prst="rect">
            <a:avLst/>
          </a:prstGeom>
          <a:solidFill>
            <a:srgbClr val="FFF4DF"/>
          </a:solidFill>
          <a:ln w="1524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管理员/运维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配置 / 监控 / 审计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46320" y="3886200"/>
            <a:ext cx="1828800" cy="594360"/>
          </a:xfrm>
          <a:prstGeom prst="rect">
            <a:avLst/>
          </a:prstGeom>
          <a:solidFill>
            <a:srgbClr val="E9F8EF"/>
          </a:solidFill>
          <a:ln w="15240">
            <a:solidFill>
              <a:srgbClr val="18A95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支持人员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工单 / 知识库 / 培训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498080" y="1645920"/>
            <a:ext cx="146304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1457D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用例表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98080" y="2788920"/>
            <a:ext cx="146304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18A95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界面原型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98080" y="3931920"/>
            <a:ext cx="146304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权限规则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546336" y="2057400"/>
            <a:ext cx="197510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小结</a:t>
            </a:r>
            <a:endParaRPr lang="en-US" altLang="zh-CN" sz="1200" b="1" dirty="0">
              <a:solidFill>
                <a:srgbClr val="1F2A37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  <a:p>
            <a:pPr marL="0" indent="0" algn="ctr">
              <a:buNone/>
            </a:pPr>
            <a:r>
              <a:rPr lang="en-US" sz="1200" dirty="0" err="1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本项目不是只画一个通用页面，而是让角色、用例、页面入口和权限边界保持一致</a:t>
            </a: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326880" y="2057400"/>
            <a:ext cx="73152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综合应用二：用需求跟踪矩阵防止“图和文档脱节”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47472" y="78638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 SRS 编号追踪到原型、UML 图和测试用例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0" y="228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457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5653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 IV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56716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188720"/>
            <a:ext cx="1828800" cy="438912"/>
          </a:xfrm>
          <a:prstGeom prst="rect">
            <a:avLst/>
          </a:prstGeom>
          <a:solidFill>
            <a:srgbClr val="1457D9"/>
          </a:solidFill>
          <a:ln w="635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需求编号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23160" y="1188720"/>
            <a:ext cx="2743200" cy="438912"/>
          </a:xfrm>
          <a:prstGeom prst="rect">
            <a:avLst/>
          </a:prstGeom>
          <a:solidFill>
            <a:srgbClr val="1457D9"/>
          </a:solidFill>
          <a:ln w="635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页面/原型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66360" y="1188720"/>
            <a:ext cx="3017520" cy="438912"/>
          </a:xfrm>
          <a:prstGeom prst="rect">
            <a:avLst/>
          </a:prstGeom>
          <a:solidFill>
            <a:srgbClr val="1457D9"/>
          </a:solidFill>
          <a:ln w="635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UML 图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83880" y="1188720"/>
            <a:ext cx="3383280" cy="438912"/>
          </a:xfrm>
          <a:prstGeom prst="rect">
            <a:avLst/>
          </a:prstGeom>
          <a:solidFill>
            <a:srgbClr val="1457D9"/>
          </a:solidFill>
          <a:ln w="635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验证方式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645920"/>
            <a:ext cx="1828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USER06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23160" y="1645920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资源申请表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66360" y="1645920"/>
            <a:ext cx="3017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用例图 / 状态图 / 顺序图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183880" y="1645920"/>
            <a:ext cx="3383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必填、边界、提交成功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2212848"/>
            <a:ext cx="1828800" cy="566928"/>
          </a:xfrm>
          <a:prstGeom prst="rect">
            <a:avLst/>
          </a:prstGeom>
          <a:solidFill>
            <a:srgbClr val="F8FBFF"/>
          </a:solidFill>
          <a:ln w="6350">
            <a:solidFill>
              <a:srgbClr val="D9E2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ADMIN03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23160" y="2212848"/>
            <a:ext cx="2743200" cy="566928"/>
          </a:xfrm>
          <a:prstGeom prst="rect">
            <a:avLst/>
          </a:prstGeom>
          <a:solidFill>
            <a:srgbClr val="F8FBFF"/>
          </a:solidFill>
          <a:ln w="6350">
            <a:solidFill>
              <a:srgbClr val="D9E2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审批中心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66360" y="2212848"/>
            <a:ext cx="3017520" cy="566928"/>
          </a:xfrm>
          <a:prstGeom prst="rect">
            <a:avLst/>
          </a:prstGeom>
          <a:solidFill>
            <a:srgbClr val="F8FBFF"/>
          </a:solidFill>
          <a:ln w="6350">
            <a:solidFill>
              <a:srgbClr val="D9E2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用例图 / 协作图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83880" y="2212848"/>
            <a:ext cx="3383280" cy="566928"/>
          </a:xfrm>
          <a:prstGeom prst="rect">
            <a:avLst/>
          </a:prstGeom>
          <a:solidFill>
            <a:srgbClr val="F8FBFF"/>
          </a:solidFill>
          <a:ln w="6350">
            <a:solidFill>
              <a:srgbClr val="D9E2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通过/驳回/补充材料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2779776"/>
            <a:ext cx="1828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OPS03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23160" y="2779776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作业异常排查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66360" y="2779776"/>
            <a:ext cx="3017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状态图 / 构件图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183880" y="2779776"/>
            <a:ext cx="3383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异常状态与日志查看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3346704"/>
            <a:ext cx="1828800" cy="566928"/>
          </a:xfrm>
          <a:prstGeom prst="rect">
            <a:avLst/>
          </a:prstGeom>
          <a:solidFill>
            <a:srgbClr val="F8FBFF"/>
          </a:solidFill>
          <a:ln w="6350">
            <a:solidFill>
              <a:srgbClr val="D9E2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SUP02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23160" y="3346704"/>
            <a:ext cx="2743200" cy="566928"/>
          </a:xfrm>
          <a:prstGeom prst="rect">
            <a:avLst/>
          </a:prstGeom>
          <a:solidFill>
            <a:srgbClr val="F8FBFF"/>
          </a:solidFill>
          <a:ln w="6350">
            <a:solidFill>
              <a:srgbClr val="D9E2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工单处理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66360" y="3346704"/>
            <a:ext cx="3017520" cy="566928"/>
          </a:xfrm>
          <a:prstGeom prst="rect">
            <a:avLst/>
          </a:prstGeom>
          <a:solidFill>
            <a:srgbClr val="F8FBFF"/>
          </a:solidFill>
          <a:ln w="6350">
            <a:solidFill>
              <a:srgbClr val="D9E2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顺序图 / 包图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183880" y="3346704"/>
            <a:ext cx="3383280" cy="566928"/>
          </a:xfrm>
          <a:prstGeom prst="rect">
            <a:avLst/>
          </a:prstGeom>
          <a:solidFill>
            <a:srgbClr val="F8FBFF"/>
          </a:solidFill>
          <a:ln w="6350">
            <a:solidFill>
              <a:srgbClr val="D9E2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分派、处理、闭环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509760" y="1645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2563EB"/>
                </a:solidFill>
                <a:latin typeface="Microsoft YaHei"/>
              </a:rPr>
              <a:t>软件需求分析原理与实践｜第6组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088"/>
                </a:solidFill>
                <a:latin typeface="Microsoft YaHei"/>
              </a:rPr>
              <a:t>G06 · UML基础 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50040" y="6446520"/>
            <a:ext cx="256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07088"/>
                </a:solidFill>
                <a:latin typeface="Microsoft YaHei"/>
              </a:rPr>
              <a:t>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F8F"/>
                </a:solidFill>
                <a:latin typeface="Microsoft YaHei"/>
              </a:rPr>
              <a:t>互动Q2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89888"/>
            <a:ext cx="10881360" cy="100584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3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91056"/>
            <a:ext cx="10332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50" b="1">
                <a:solidFill>
                  <a:srgbClr val="1F2D3D"/>
                </a:solidFill>
                <a:latin typeface="Microsoft YaHei"/>
              </a:rPr>
              <a:t>如果跟踪矩阵中 ADMIN03“资源申请审批”已经关联了审批中心原型和用例图，但没有关联审批记录字段或测试用例，这说明什么？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71800"/>
            <a:ext cx="1065276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41832" y="3127248"/>
            <a:ext cx="457200" cy="40233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3090672"/>
            <a:ext cx="969264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50">
                <a:solidFill>
                  <a:srgbClr val="1F2D3D"/>
                </a:solidFill>
                <a:latin typeface="Microsoft YaHei"/>
              </a:rPr>
              <a:t>说明该需求的证据链还不完整，需要补齐“审批记录数据项”和“通过/驳回/补充材料”的验证用例。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904487"/>
            <a:ext cx="1065276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41832" y="4059935"/>
            <a:ext cx="457200" cy="402336"/>
          </a:xfrm>
          <a:prstGeom prst="round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4023359"/>
            <a:ext cx="969264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50">
                <a:solidFill>
                  <a:srgbClr val="1F2D3D"/>
                </a:solidFill>
                <a:latin typeface="Microsoft YaHei"/>
              </a:rPr>
              <a:t>说明审批功能已经由界面原型充分表达，数据字典和测试用例可以不用再关联。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37176"/>
            <a:ext cx="1065276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41832" y="4992624"/>
            <a:ext cx="457200" cy="402336"/>
          </a:xfrm>
          <a:prstGeom prst="roundRect">
            <a:avLst/>
          </a:prstGeom>
          <a:solidFill>
            <a:srgbClr val="009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4956048"/>
            <a:ext cx="969264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50">
                <a:solidFill>
                  <a:srgbClr val="1F2D3D"/>
                </a:solidFill>
                <a:latin typeface="Microsoft YaHei"/>
              </a:rPr>
              <a:t>说明 ADMIN03 不属于核心需求，可以从 SRS 中删除以降低维护成本。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综合应用三：用图解释需求冲突与取舍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47472" y="78638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超算门户的典型冲突：使用便捷 vs. 管理审计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0" y="228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457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5653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 IV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56716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7644" y="1188720"/>
            <a:ext cx="3211436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冲突 1：申请简单 vs. 审批严格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普通用户希望表单短、提交快；管理员需要材料充分、审批留痕。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188720"/>
            <a:ext cx="73152" cy="1143000"/>
          </a:xfrm>
          <a:prstGeom prst="rect">
            <a:avLst/>
          </a:prstGeom>
          <a:solidFill>
            <a:srgbClr val="1457D9"/>
          </a:solidFill>
          <a:ln w="12700">
            <a:solidFill>
              <a:srgbClr val="1457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7224" y="1188720"/>
            <a:ext cx="317517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冲突 2：实时监控 vs. 页面简洁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用户想看作业状态，运维想看节点、日志和告警；同一页面不能无限堆信息。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188720"/>
            <a:ext cx="73152" cy="1143000"/>
          </a:xfrm>
          <a:prstGeom prst="rect">
            <a:avLst/>
          </a:prstGeom>
          <a:solidFill>
            <a:srgbClr val="18A957"/>
          </a:solidFill>
          <a:ln w="12700">
            <a:solidFill>
              <a:srgbClr val="18A9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74642" y="1188720"/>
            <a:ext cx="3101077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冲突 3：统一入口 vs. 角色差异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门户需要统一入口，但普通用户、PI、运维看到的首页和权限不应完全一样。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92440" y="1188720"/>
            <a:ext cx="73152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291840"/>
            <a:ext cx="1916582" cy="640080"/>
          </a:xfrm>
          <a:prstGeom prst="rect">
            <a:avLst/>
          </a:prstGeom>
          <a:solidFill>
            <a:srgbClr val="FEECEC"/>
          </a:solidFill>
          <a:ln w="15240">
            <a:solidFill>
              <a:srgbClr val="EF44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问题识别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995574" y="3291840"/>
            <a:ext cx="1916582" cy="640080"/>
          </a:xfrm>
          <a:prstGeom prst="rect">
            <a:avLst/>
          </a:prstGeom>
          <a:solidFill>
            <a:srgbClr val="EAF1FF"/>
          </a:solidFill>
          <a:ln w="15240">
            <a:solidFill>
              <a:srgbClr val="1457D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用例/原型定位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76749" y="3291840"/>
            <a:ext cx="1916582" cy="640080"/>
          </a:xfrm>
          <a:prstGeom prst="rect">
            <a:avLst/>
          </a:prstGeom>
          <a:solidFill>
            <a:srgbClr val="F0EAFE"/>
          </a:solidFill>
          <a:ln w="15240">
            <a:solidFill>
              <a:srgbClr val="7C3A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状态/顺序图验证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157923" y="3291840"/>
            <a:ext cx="1916582" cy="640080"/>
          </a:xfrm>
          <a:prstGeom prst="rect">
            <a:avLst/>
          </a:prstGeom>
          <a:solidFill>
            <a:srgbClr val="E9F8EF"/>
          </a:solidFill>
          <a:ln w="15240">
            <a:solidFill>
              <a:srgbClr val="18A95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优先级分级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239098" y="3291840"/>
            <a:ext cx="1916582" cy="640080"/>
          </a:xfrm>
          <a:prstGeom prst="rect">
            <a:avLst/>
          </a:prstGeom>
          <a:solidFill>
            <a:srgbClr val="FFF4DF"/>
          </a:solidFill>
          <a:ln w="1524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SRS记录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620694" y="4800600"/>
            <a:ext cx="921494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小结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冲突不是简单“谁对谁错”，而是根据用户群、业务价值、风险与实现可行性做取舍，并在 SRS 中留下记录。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325880" y="4800600"/>
            <a:ext cx="73152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综合应用四：对象、数据字典与测试数据一致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47472" y="78638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从类图到对象图，再到数据表和测试用例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0" y="228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457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5653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 IV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56716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2062886" cy="868680"/>
          </a:xfrm>
          <a:prstGeom prst="rect">
            <a:avLst/>
          </a:prstGeom>
          <a:solidFill>
            <a:srgbClr val="EAF1FF"/>
          </a:solidFill>
          <a:ln w="15240">
            <a:solidFill>
              <a:srgbClr val="1457D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类图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ResourceApplication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821838" y="1234440"/>
            <a:ext cx="2062886" cy="868680"/>
          </a:xfrm>
          <a:prstGeom prst="rect">
            <a:avLst/>
          </a:prstGeom>
          <a:solidFill>
            <a:srgbClr val="E9F8EF"/>
          </a:solidFill>
          <a:ln w="15240">
            <a:solidFill>
              <a:srgbClr val="18A95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对象图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a24:申请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status=审批通过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49317" y="1234440"/>
            <a:ext cx="2062886" cy="868680"/>
          </a:xfrm>
          <a:prstGeom prst="rect">
            <a:avLst/>
          </a:prstGeom>
          <a:solidFill>
            <a:srgbClr val="FFF4DF"/>
          </a:solidFill>
          <a:ln w="1524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数据字典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申请状态字段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276795" y="1234440"/>
            <a:ext cx="2062886" cy="868680"/>
          </a:xfrm>
          <a:prstGeom prst="rect">
            <a:avLst/>
          </a:prstGeom>
          <a:solidFill>
            <a:srgbClr val="F0EAFE"/>
          </a:solidFill>
          <a:ln w="15240">
            <a:solidFill>
              <a:srgbClr val="7C3A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数据表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resource_application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504274" y="1234440"/>
            <a:ext cx="2062886" cy="868680"/>
          </a:xfrm>
          <a:prstGeom prst="rect">
            <a:avLst/>
          </a:prstGeom>
          <a:solidFill>
            <a:srgbClr val="FEECEC"/>
          </a:solidFill>
          <a:ln w="15240">
            <a:solidFill>
              <a:srgbClr val="EF44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测试用例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状态流转验证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35116" y="2743200"/>
            <a:ext cx="2888243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检查点 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类图中的实体是否都能在对象图中产生具体实例？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2743200"/>
            <a:ext cx="73152" cy="731520"/>
          </a:xfrm>
          <a:prstGeom prst="rect">
            <a:avLst/>
          </a:prstGeom>
          <a:solidFill>
            <a:srgbClr val="1457D9"/>
          </a:solidFill>
          <a:ln w="12700">
            <a:solidFill>
              <a:srgbClr val="1457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84724" y="2743200"/>
            <a:ext cx="2704796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检查点 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对象实例中的属性值是否能在数据字典或数据表中找到字段？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80560" y="2743200"/>
            <a:ext cx="73152" cy="731520"/>
          </a:xfrm>
          <a:prstGeom prst="rect">
            <a:avLst/>
          </a:prstGeom>
          <a:solidFill>
            <a:srgbClr val="18A957"/>
          </a:solidFill>
          <a:ln w="12700">
            <a:solidFill>
              <a:srgbClr val="18A9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9328" y="2743200"/>
            <a:ext cx="281635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检查点 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测试用例是否覆盖关键状态值和异常分支？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2743200"/>
            <a:ext cx="73152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343400"/>
            <a:ext cx="103327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示例：申请状态必须能表达“草稿、已提交、待审核、审批通过、审批驳回、已开通”等状态，否则状态图和数据字典会断开。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509760" y="1645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2563EB"/>
                </a:solidFill>
                <a:latin typeface="Microsoft YaHei"/>
              </a:rPr>
              <a:t>软件需求分析原理与实践｜第6组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088"/>
                </a:solidFill>
                <a:latin typeface="Microsoft YaHei"/>
              </a:rPr>
              <a:t>G06 · UML基础 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50040" y="6446520"/>
            <a:ext cx="256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07088"/>
                </a:solidFill>
                <a:latin typeface="Microsoft YaHei"/>
              </a:rPr>
              <a:t>Q3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F8F"/>
                </a:solidFill>
                <a:latin typeface="Microsoft YaHei"/>
              </a:rPr>
              <a:t>互动Q3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89888"/>
            <a:ext cx="10881360" cy="100584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3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91056"/>
            <a:ext cx="10332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50" b="1">
                <a:solidFill>
                  <a:srgbClr val="1F2D3D"/>
                </a:solidFill>
                <a:latin typeface="Microsoft YaHei"/>
              </a:rPr>
              <a:t>如果状态图中出现“待资源确认”状态，但数据字典的申请状态字段只定义了“草稿、待审核、通过、驳回”，最合理的处理方式是什么？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71800"/>
            <a:ext cx="1065276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41832" y="3127248"/>
            <a:ext cx="457200" cy="40233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3090672"/>
            <a:ext cx="9692640" cy="3308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zh-CN" altLang="en-US" sz="1550" dirty="0">
                <a:solidFill>
                  <a:srgbClr val="1F2D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删除状态图里的“待资源确认”，只保留数据字典已有字段，避免出现新的异常流程。</a:t>
            </a:r>
            <a:endParaRPr sz="1550" dirty="0">
              <a:solidFill>
                <a:srgbClr val="1F2D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77240" y="3904487"/>
            <a:ext cx="1065276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41832" y="4059935"/>
            <a:ext cx="457200" cy="402336"/>
          </a:xfrm>
          <a:prstGeom prst="round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4023359"/>
            <a:ext cx="969264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50" dirty="0" err="1">
                <a:solidFill>
                  <a:srgbClr val="1F2D3D"/>
                </a:solidFill>
                <a:latin typeface="Microsoft YaHei"/>
              </a:rPr>
              <a:t>保留状态图，不修改数据字典，因为状态图主要用于讲解，不影响后续设计</a:t>
            </a:r>
            <a:r>
              <a:rPr sz="1550" dirty="0">
                <a:solidFill>
                  <a:srgbClr val="1F2D3D"/>
                </a:solidFill>
                <a:latin typeface="Microsoft YaHei"/>
              </a:rPr>
              <a:t>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37176"/>
            <a:ext cx="1065276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41832" y="4992624"/>
            <a:ext cx="457200" cy="402336"/>
          </a:xfrm>
          <a:prstGeom prst="roundRect">
            <a:avLst/>
          </a:prstGeom>
          <a:solidFill>
            <a:srgbClr val="009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4956048"/>
            <a:ext cx="9692640" cy="3308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zh-CN" altLang="en-US" sz="1550" dirty="0">
                <a:solidFill>
                  <a:srgbClr val="1F2D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同步修订数据字典</a:t>
            </a:r>
            <a:r>
              <a:rPr lang="en-US" altLang="zh-CN" sz="1550" dirty="0">
                <a:solidFill>
                  <a:srgbClr val="1F2D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550" dirty="0">
                <a:solidFill>
                  <a:srgbClr val="1F2D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状态枚举，并补充对应对象快照和测试用例，保证图、数据和验证口径一致</a:t>
            </a:r>
            <a:endParaRPr sz="1550" dirty="0">
              <a:solidFill>
                <a:srgbClr val="1F2D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项目实践复盘：UML真正难在“对齐”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01200" y="228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457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5653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 IV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56716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58542" y="1188720"/>
            <a:ext cx="3156257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困难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多角色、多流程、多状态同时出现，一张图很容易讲不清边界。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188720"/>
            <a:ext cx="73152" cy="1005840"/>
          </a:xfrm>
          <a:prstGeom prst="rect">
            <a:avLst/>
          </a:prstGeom>
          <a:solidFill>
            <a:srgbClr val="1457D9"/>
          </a:solidFill>
          <a:ln w="12700">
            <a:solidFill>
              <a:srgbClr val="1457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20826" y="1188720"/>
            <a:ext cx="3097294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疑惑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到底该画到什么粒度？哪些问题用图解决，哪些回到SRS说明？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1188720"/>
            <a:ext cx="73152" cy="1005840"/>
          </a:xfrm>
          <a:prstGeom prst="rect">
            <a:avLst/>
          </a:prstGeom>
          <a:solidFill>
            <a:srgbClr val="18A957"/>
          </a:solidFill>
          <a:ln w="12700">
            <a:solidFill>
              <a:srgbClr val="18A9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06174" y="1188720"/>
            <a:ext cx="3115266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经验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用同一需求编号贯穿原型、UML图、数据字典和测试用例。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188720"/>
            <a:ext cx="7315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246120"/>
            <a:ext cx="1463040" cy="594360"/>
          </a:xfrm>
          <a:prstGeom prst="rect">
            <a:avLst/>
          </a:prstGeom>
          <a:solidFill>
            <a:srgbClr val="EAF1FF"/>
          </a:solidFill>
          <a:ln w="15240">
            <a:solidFill>
              <a:srgbClr val="1457D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需求编号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3246120"/>
            <a:ext cx="1463040" cy="594360"/>
          </a:xfrm>
          <a:prstGeom prst="rect">
            <a:avLst/>
          </a:prstGeom>
          <a:solidFill>
            <a:srgbClr val="E9F8EF"/>
          </a:solidFill>
          <a:ln w="15240">
            <a:solidFill>
              <a:srgbClr val="18A95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原型页面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0" y="3246120"/>
            <a:ext cx="1463040" cy="594360"/>
          </a:xfrm>
          <a:prstGeom prst="rect">
            <a:avLst/>
          </a:prstGeom>
          <a:solidFill>
            <a:srgbClr val="FFF4DF"/>
          </a:solidFill>
          <a:ln w="1524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UML图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680960" y="3246120"/>
            <a:ext cx="1463040" cy="594360"/>
          </a:xfrm>
          <a:prstGeom prst="rect">
            <a:avLst/>
          </a:prstGeom>
          <a:solidFill>
            <a:srgbClr val="F0EAFE"/>
          </a:solidFill>
          <a:ln w="15240">
            <a:solidFill>
              <a:srgbClr val="7C3A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数据/接口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875520" y="3246120"/>
            <a:ext cx="1463040" cy="594360"/>
          </a:xfrm>
          <a:prstGeom prst="rect">
            <a:avLst/>
          </a:prstGeom>
          <a:solidFill>
            <a:srgbClr val="FEECEC"/>
          </a:solidFill>
          <a:ln w="15240">
            <a:solidFill>
              <a:srgbClr val="EF44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测试用例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困难一：多角色流程边界很容易画散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47472" y="78638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超算门户不是单一用户流程，而是普通用户、PI、管理员、运维共同参与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0" y="228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457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5653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 IV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56716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7644" y="1188720"/>
            <a:ext cx="3211436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现象 1：同一功能被不同角色理解成不同入口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普通用户关注“能不能申请”，PI关注“能不能审批”，管理员关注“能不能开通和留痕”。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188720"/>
            <a:ext cx="73152" cy="1143000"/>
          </a:xfrm>
          <a:prstGeom prst="rect">
            <a:avLst/>
          </a:prstGeom>
          <a:solidFill>
            <a:srgbClr val="1457D9"/>
          </a:solidFill>
          <a:ln w="12700">
            <a:solidFill>
              <a:srgbClr val="1457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7224" y="1188720"/>
            <a:ext cx="317517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现象 2：审批链太长，容易把业务流程画成流水账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资源申请涉及提交、PI审核、中心复核、配额开通、通知反馈，状态图和顺序图经常混在一起。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188720"/>
            <a:ext cx="73152" cy="1143000"/>
          </a:xfrm>
          <a:prstGeom prst="rect">
            <a:avLst/>
          </a:prstGeom>
          <a:solidFill>
            <a:srgbClr val="18A957"/>
          </a:solidFill>
          <a:ln w="12700">
            <a:solidFill>
              <a:srgbClr val="18A9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74642" y="1188720"/>
            <a:ext cx="3101077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现象 3：运维视角容易被遗漏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如果只画用户和管理员，就解释不了队列、资源池、告警和作业监控这些关键场景。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92440" y="1188720"/>
            <a:ext cx="73152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291840"/>
            <a:ext cx="1916582" cy="640080"/>
          </a:xfrm>
          <a:prstGeom prst="rect">
            <a:avLst/>
          </a:prstGeom>
          <a:solidFill>
            <a:srgbClr val="FEECEC"/>
          </a:solidFill>
          <a:ln w="15240">
            <a:solidFill>
              <a:srgbClr val="EF44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先定角色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995574" y="3291840"/>
            <a:ext cx="1916582" cy="640080"/>
          </a:xfrm>
          <a:prstGeom prst="rect">
            <a:avLst/>
          </a:prstGeom>
          <a:solidFill>
            <a:srgbClr val="EAF1FF"/>
          </a:solidFill>
          <a:ln w="15240">
            <a:solidFill>
              <a:srgbClr val="1457D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再定边界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76749" y="3291840"/>
            <a:ext cx="1916582" cy="640080"/>
          </a:xfrm>
          <a:prstGeom prst="rect">
            <a:avLst/>
          </a:prstGeom>
          <a:solidFill>
            <a:srgbClr val="F0EAFE"/>
          </a:solidFill>
          <a:ln w="15240">
            <a:solidFill>
              <a:srgbClr val="7C3A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拆主/异常流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157923" y="3291840"/>
            <a:ext cx="1916582" cy="640080"/>
          </a:xfrm>
          <a:prstGeom prst="rect">
            <a:avLst/>
          </a:prstGeom>
          <a:solidFill>
            <a:srgbClr val="E9F8EF"/>
          </a:solidFill>
          <a:ln w="15240">
            <a:solidFill>
              <a:srgbClr val="18A95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回填SRS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239098" y="3291840"/>
            <a:ext cx="1916582" cy="640080"/>
          </a:xfrm>
          <a:prstGeom prst="rect">
            <a:avLst/>
          </a:prstGeom>
          <a:solidFill>
            <a:srgbClr val="FFF4DF"/>
          </a:solidFill>
          <a:ln w="1524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用图复核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620694" y="4800600"/>
            <a:ext cx="921494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我们的处理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先用用例图划清“谁能做什么”，再用状态图讲申请单生命周期，用顺序图讲服务调用顺序，避免一张图承担所有解释任务。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325880" y="4800600"/>
            <a:ext cx="73152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困难二：图、数据和测试口径容易不同步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47472" y="78638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最大的问题不是图画不出来，而是画完后和SRS、原型、测试不一致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0" y="228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457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5653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 IV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56716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2062886" cy="868680"/>
          </a:xfrm>
          <a:prstGeom prst="rect">
            <a:avLst/>
          </a:prstGeom>
          <a:solidFill>
            <a:srgbClr val="EAF1FF"/>
          </a:solidFill>
          <a:ln w="15240">
            <a:solidFill>
              <a:srgbClr val="1457D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用例图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USER06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821838" y="1234440"/>
            <a:ext cx="2062886" cy="868680"/>
          </a:xfrm>
          <a:prstGeom prst="rect">
            <a:avLst/>
          </a:prstGeom>
          <a:solidFill>
            <a:srgbClr val="E9F8EF"/>
          </a:solidFill>
          <a:ln w="15240">
            <a:solidFill>
              <a:srgbClr val="18A95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原型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资源申请页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提交/驳回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49317" y="1234440"/>
            <a:ext cx="2062886" cy="868680"/>
          </a:xfrm>
          <a:prstGeom prst="rect">
            <a:avLst/>
          </a:prstGeom>
          <a:solidFill>
            <a:srgbClr val="FFF4DF"/>
          </a:solidFill>
          <a:ln w="1524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状态图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待审核/驳回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276795" y="1234440"/>
            <a:ext cx="2062886" cy="868680"/>
          </a:xfrm>
          <a:prstGeom prst="rect">
            <a:avLst/>
          </a:prstGeom>
          <a:solidFill>
            <a:srgbClr val="F0EAFE"/>
          </a:solidFill>
          <a:ln w="15240">
            <a:solidFill>
              <a:srgbClr val="7C3A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数据字典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application_status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504274" y="1234440"/>
            <a:ext cx="2062886" cy="868680"/>
          </a:xfrm>
          <a:prstGeom prst="rect">
            <a:avLst/>
          </a:prstGeom>
          <a:solidFill>
            <a:srgbClr val="FEECEC"/>
          </a:solidFill>
          <a:ln w="15240">
            <a:solidFill>
              <a:srgbClr val="EF44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测试用例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重提/补材料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35116" y="2743200"/>
            <a:ext cx="2888243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检查点 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图中出现的角色和状态，SRS里有没有对应编号和术语？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2743200"/>
            <a:ext cx="73152" cy="731520"/>
          </a:xfrm>
          <a:prstGeom prst="rect">
            <a:avLst/>
          </a:prstGeom>
          <a:solidFill>
            <a:srgbClr val="1457D9"/>
          </a:solidFill>
          <a:ln w="12700">
            <a:solidFill>
              <a:srgbClr val="1457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84724" y="2743200"/>
            <a:ext cx="2704796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检查点 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原型页面能不能走通图里的主流程和异常流程？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80560" y="2743200"/>
            <a:ext cx="73152" cy="731520"/>
          </a:xfrm>
          <a:prstGeom prst="rect">
            <a:avLst/>
          </a:prstGeom>
          <a:solidFill>
            <a:srgbClr val="18A957"/>
          </a:solidFill>
          <a:ln w="12700">
            <a:solidFill>
              <a:srgbClr val="18A9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9328" y="2743200"/>
            <a:ext cx="281635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检查点 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测试用例是否覆盖图里最容易出错的状态和分支？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2743200"/>
            <a:ext cx="73152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343400"/>
            <a:ext cx="103327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经验：每改一张图，都要回查“需求编号—原型页面—数据字段—测试用例”这条链，否则评审时很容易被问出断点。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我们的疑惑：哪些图该画到什么程度？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01200" y="228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457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5653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 IV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56716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11878" y="1234440"/>
            <a:ext cx="315720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图太少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老师和同学看不出流程、对象、数据和测试之间的关系，SRS移交性会变弱。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234440"/>
            <a:ext cx="73152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234440"/>
            <a:ext cx="3215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图太多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每个小功能都画全套图，会导致维护成本很高，而且图之间更容易互相矛盾。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234440"/>
            <a:ext cx="73152" cy="1143000"/>
          </a:xfrm>
          <a:prstGeom prst="rect">
            <a:avLst/>
          </a:prstGeom>
          <a:solidFill>
            <a:srgbClr val="1457D9"/>
          </a:solidFill>
          <a:ln w="12700">
            <a:solidFill>
              <a:srgbClr val="1457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17886" y="1234440"/>
            <a:ext cx="3157833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图太细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过早进入设计实现细节，反而偏离需求分析阶段该回答的问题。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92440" y="1234440"/>
            <a:ext cx="73152" cy="1143000"/>
          </a:xfrm>
          <a:prstGeom prst="rect">
            <a:avLst/>
          </a:prstGeom>
          <a:solidFill>
            <a:srgbClr val="18A957"/>
          </a:solidFill>
          <a:ln w="12700">
            <a:solidFill>
              <a:srgbClr val="18A9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429000"/>
            <a:ext cx="103327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我们的判断原则：核心链路必须画清楚，争议点必须画清楚，高风险状态必须画清楚；低频、低风险、纯展示类功能可以用SRS文字和原型说明补充。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36916" y="4663440"/>
            <a:ext cx="963588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小结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UML不是越多越好，而是要服务评审问题：角色是否清楚、流程是否闭环、数据是否可追踪、需求是否可验证。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97280" y="4663440"/>
            <a:ext cx="73152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经验沉淀：用一条业务链带动整套图谱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47472" y="78638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我们最终采用“资源申请—审批—开通—作业监控”作为主线，而不是平均展开所有功能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0" y="228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457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5653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 IV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56716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411480" cy="640080"/>
          </a:xfrm>
          <a:prstGeom prst="rect">
            <a:avLst/>
          </a:prstGeom>
          <a:solidFill>
            <a:srgbClr val="1457D9"/>
          </a:solidFill>
          <a:ln>
            <a:solidFill>
              <a:srgbClr val="1457D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25880" y="1097280"/>
            <a:ext cx="9921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</a:rPr>
              <a:t>选主线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</a:rPr>
              <a:t>选择最能代表项目价值、角色最多、状态最复杂的一条业务链。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938528"/>
            <a:ext cx="411480" cy="640080"/>
          </a:xfrm>
          <a:prstGeom prst="rect">
            <a:avLst/>
          </a:prstGeom>
          <a:solidFill>
            <a:srgbClr val="18A957"/>
          </a:solidFill>
          <a:ln>
            <a:solidFill>
              <a:srgbClr val="18A957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25880" y="1938528"/>
            <a:ext cx="9921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</a:rPr>
              <a:t>定编号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</a:rPr>
              <a:t>给核心需求编号，后续原型、UML、数据、测试都围绕编号追踪。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779776"/>
            <a:ext cx="411480" cy="64008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25880" y="2779776"/>
            <a:ext cx="9921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</a:rPr>
              <a:t>拆视角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</a:rPr>
              <a:t>用例图讲角色，状态图讲生命周期，顺序图讲交互，类/对象图讲数据结构。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621024"/>
            <a:ext cx="411480" cy="64008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25880" y="3621024"/>
            <a:ext cx="9921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</a:rPr>
              <a:t>做核对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</a:rPr>
              <a:t>检查图、SRS、原型、测试是否出现名称、状态、入口不一致。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462272"/>
            <a:ext cx="411480" cy="64008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325880" y="4462272"/>
            <a:ext cx="9921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</a:rPr>
              <a:t>留记录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</a:rPr>
              <a:t>把冲突、取舍、变更和未解决问题写进评审记录，方便后续迭代。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5623560"/>
            <a:ext cx="9875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 err="1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这套</a:t>
            </a:r>
            <a:r>
              <a:rPr lang="zh-CN" altLang="en-US" sz="145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方法</a:t>
            </a:r>
            <a:r>
              <a:rPr lang="en-US" sz="145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让UML从“作业图”变成了项目沟通工具：</a:t>
            </a:r>
            <a:r>
              <a:rPr lang="en-US" sz="1450" dirty="0" err="1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先讲清问题，再选择图</a:t>
            </a:r>
            <a:r>
              <a:rPr lang="en-US" sz="145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问题解答总览：追问时先判断“问题类型”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01200" y="228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457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5653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 IV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56716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" y="1051560"/>
            <a:ext cx="1920240" cy="457200"/>
          </a:xfrm>
          <a:prstGeom prst="rect">
            <a:avLst/>
          </a:prstGeom>
          <a:solidFill>
            <a:srgbClr val="EAF1FF"/>
          </a:solidFill>
          <a:ln>
            <a:solidFill>
              <a:srgbClr val="D9E2F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谁在用？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63240" y="1051560"/>
            <a:ext cx="27432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9E2F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用例图 / 原型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63640" y="1051560"/>
            <a:ext cx="44805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9E2F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角色、权限、入口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892808"/>
            <a:ext cx="1920240" cy="457200"/>
          </a:xfrm>
          <a:prstGeom prst="rect">
            <a:avLst/>
          </a:prstGeom>
          <a:solidFill>
            <a:srgbClr val="E9F8EF"/>
          </a:solidFill>
          <a:ln>
            <a:solidFill>
              <a:srgbClr val="D9E2F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这条流程怎么走？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63240" y="1892808"/>
            <a:ext cx="27432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9E2F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状态图 / 顺序图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63640" y="1892808"/>
            <a:ext cx="44805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9E2F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状态变化、服务调用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734056"/>
            <a:ext cx="1920240" cy="457200"/>
          </a:xfrm>
          <a:prstGeom prst="rect">
            <a:avLst/>
          </a:prstGeom>
          <a:solidFill>
            <a:srgbClr val="FFF4DF"/>
          </a:solidFill>
          <a:ln>
            <a:solidFill>
              <a:srgbClr val="D9E2F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对象和数据怎么对应？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63240" y="2734056"/>
            <a:ext cx="27432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9E2F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类图 / 对象图 / 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2734056"/>
            <a:ext cx="44805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9E2F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类型、实例、数据表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3575304"/>
            <a:ext cx="1920240" cy="457200"/>
          </a:xfrm>
          <a:prstGeom prst="rect">
            <a:avLst/>
          </a:prstGeom>
          <a:solidFill>
            <a:srgbClr val="F0EAFE"/>
          </a:solidFill>
          <a:ln>
            <a:solidFill>
              <a:srgbClr val="D9E2F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服务怎么拆？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63240" y="3575304"/>
            <a:ext cx="27432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9E2F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构件图 / 包图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3575304"/>
            <a:ext cx="44805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9E2F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服务边界、代码组织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4416552"/>
            <a:ext cx="1920240" cy="457200"/>
          </a:xfrm>
          <a:prstGeom prst="rect">
            <a:avLst/>
          </a:prstGeom>
          <a:solidFill>
            <a:srgbClr val="FEECEC"/>
          </a:solidFill>
          <a:ln>
            <a:solidFill>
              <a:srgbClr val="D9E2F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系统跑在哪里？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063240" y="4416552"/>
            <a:ext cx="27432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9E2F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部署图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4416552"/>
            <a:ext cx="44805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9E2F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节点、环境、外部系统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问题解答 1：用例图和界面原型会不会重复？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01200" y="228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457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5653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 IV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56716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56020" y="1188720"/>
            <a:ext cx="34331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问题本质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用例图和界面原型都从用户角度出发，但关注层级不同。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188720"/>
            <a:ext cx="73152" cy="822960"/>
          </a:xfrm>
          <a:prstGeom prst="rect">
            <a:avLst/>
          </a:prstGeom>
          <a:solidFill>
            <a:srgbClr val="1457D9"/>
          </a:solidFill>
          <a:ln w="12700">
            <a:solidFill>
              <a:srgbClr val="1457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7400" y="1188720"/>
            <a:ext cx="6304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总结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用例图讲“谁能做什么”，界面原型讲“用户从哪里进入、怎么点击、页面如何反馈”。两者是互补关系。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17720" y="1188720"/>
            <a:ext cx="73152" cy="822960"/>
          </a:xfrm>
          <a:prstGeom prst="rect">
            <a:avLst/>
          </a:prstGeom>
          <a:solidFill>
            <a:srgbClr val="18A957"/>
          </a:solidFill>
          <a:ln w="12700">
            <a:solidFill>
              <a:srgbClr val="18A9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2743200"/>
            <a:ext cx="2743200" cy="685800"/>
          </a:xfrm>
          <a:prstGeom prst="rect">
            <a:avLst/>
          </a:prstGeom>
          <a:solidFill>
            <a:srgbClr val="EAF1FF"/>
          </a:solidFill>
          <a:ln w="15240">
            <a:solidFill>
              <a:srgbClr val="1457D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用例图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普通用户 → 提交资源申请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2743200"/>
            <a:ext cx="3108960" cy="685800"/>
          </a:xfrm>
          <a:prstGeom prst="rect">
            <a:avLst/>
          </a:prstGeom>
          <a:solidFill>
            <a:srgbClr val="E9F8EF"/>
          </a:solidFill>
          <a:ln w="15240">
            <a:solidFill>
              <a:srgbClr val="18A95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原型图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登录入口 → 资源申请表 → 提交确认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0" y="2743200"/>
            <a:ext cx="2743200" cy="685800"/>
          </a:xfrm>
          <a:prstGeom prst="rect">
            <a:avLst/>
          </a:prstGeom>
          <a:solidFill>
            <a:srgbClr val="FFF4DF"/>
          </a:solidFill>
          <a:ln w="1524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SRS证据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用例编号 + 页面说明 + 交互说明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16736" y="4434840"/>
            <a:ext cx="9656064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结合项目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在超算门户中，USER06 说明“正式资源申请”的目标和规则，资源申请原型说明字段、上传材料、保存草稿和提交路径。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97280" y="4434840"/>
            <a:ext cx="73152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问题解答 2：类图、对象图、ER 图怎么区分？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01200" y="228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457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5653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 IV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56716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33318" y="1188720"/>
            <a:ext cx="2998601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类图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抽象层：User、Project、ResourceApplication、Job 等类型及关系。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188720"/>
            <a:ext cx="73152" cy="1051560"/>
          </a:xfrm>
          <a:prstGeom prst="rect">
            <a:avLst/>
          </a:prstGeom>
          <a:solidFill>
            <a:srgbClr val="1457D9"/>
          </a:solidFill>
          <a:ln w="12700">
            <a:solidFill>
              <a:srgbClr val="1457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35960" y="1188720"/>
            <a:ext cx="2944999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对象图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实例层：u01:User、a24:ResourceApplication，包含具体属性值和链接。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1188720"/>
            <a:ext cx="73152" cy="1051560"/>
          </a:xfrm>
          <a:prstGeom prst="rect">
            <a:avLst/>
          </a:prstGeom>
          <a:solidFill>
            <a:srgbClr val="18A957"/>
          </a:solidFill>
          <a:ln w="12700">
            <a:solidFill>
              <a:srgbClr val="18A9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0316" y="1188720"/>
            <a:ext cx="2979683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ER 图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数据层：实体、主键、外键、表关系，服务数据库逻辑设计。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1188720"/>
            <a:ext cx="73152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200400"/>
            <a:ext cx="2368296" cy="777240"/>
          </a:xfrm>
          <a:prstGeom prst="rect">
            <a:avLst/>
          </a:prstGeom>
          <a:solidFill>
            <a:srgbClr val="EAF1FF"/>
          </a:solidFill>
          <a:ln w="15240">
            <a:solidFill>
              <a:srgbClr val="1457D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类图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类型结构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30168" y="3200400"/>
            <a:ext cx="2368296" cy="777240"/>
          </a:xfrm>
          <a:prstGeom prst="rect">
            <a:avLst/>
          </a:prstGeom>
          <a:solidFill>
            <a:srgbClr val="E9F8EF"/>
          </a:solidFill>
          <a:ln w="15240">
            <a:solidFill>
              <a:srgbClr val="18A95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对象图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运行快照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63056" y="3200400"/>
            <a:ext cx="2368296" cy="777240"/>
          </a:xfrm>
          <a:prstGeom prst="rect">
            <a:avLst/>
          </a:prstGeom>
          <a:solidFill>
            <a:srgbClr val="FFF4DF"/>
          </a:solidFill>
          <a:ln w="1524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数据字典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字段定义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95944" y="3200400"/>
            <a:ext cx="2368296" cy="777240"/>
          </a:xfrm>
          <a:prstGeom prst="rect">
            <a:avLst/>
          </a:prstGeom>
          <a:solidFill>
            <a:srgbClr val="F0EAFE"/>
          </a:solidFill>
          <a:ln w="15240">
            <a:solidFill>
              <a:srgbClr val="7C3A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ER/数据表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存储结构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500876" y="4892040"/>
            <a:ext cx="9289043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小结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类图回答“系统有哪些对象类型”，对象图回答“某一时刻有哪些具体对象”，ER 图回答“数据库如何存储这些对象”。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280160" y="4892040"/>
            <a:ext cx="73152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问题解答 3：顺序图、协作图、状态图如何选择？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01200" y="228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457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5653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 IV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56716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11878" y="1234440"/>
            <a:ext cx="315720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状态图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看一个对象的生命周期：申请单从草稿、已提交、待审核，到通过或驳回。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234440"/>
            <a:ext cx="73152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234440"/>
            <a:ext cx="3215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顺序图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看消息先后：申请人、门户前端、申请服务、审批服务、通知服务如何依次调用。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234440"/>
            <a:ext cx="73152" cy="1143000"/>
          </a:xfrm>
          <a:prstGeom prst="rect">
            <a:avLst/>
          </a:prstGeom>
          <a:solidFill>
            <a:srgbClr val="1457D9"/>
          </a:solidFill>
          <a:ln w="12700">
            <a:solidFill>
              <a:srgbClr val="1457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17886" y="1234440"/>
            <a:ext cx="3157833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协作图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看对象网络：同一场景下对象之间如何连接，消息编号如何对应。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92440" y="1234440"/>
            <a:ext cx="73152" cy="1143000"/>
          </a:xfrm>
          <a:prstGeom prst="rect">
            <a:avLst/>
          </a:prstGeom>
          <a:solidFill>
            <a:srgbClr val="18A957"/>
          </a:solidFill>
          <a:ln w="12700">
            <a:solidFill>
              <a:srgbClr val="18A9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429000"/>
            <a:ext cx="103327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如果问题问“申请单当前处于什么阶段”，优先用状态图；如果问“谁先调用谁”，优先用顺序图；如果问“哪些对象共同协作”，优先用协作图。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36916" y="4663440"/>
            <a:ext cx="963588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小结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资源申请既有状态变化，也有服务调用，还有多对象协作。因此三张图是从不同角度讲同一件事，不是重复。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97280" y="4663440"/>
            <a:ext cx="73152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509760" y="1645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2563EB"/>
                </a:solidFill>
                <a:latin typeface="Microsoft YaHei"/>
              </a:rPr>
              <a:t>软件需求分析原理与实践｜第6组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088"/>
                </a:solidFill>
                <a:latin typeface="Microsoft YaHei"/>
              </a:rPr>
              <a:t>G06 · UML基础 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50040" y="6446520"/>
            <a:ext cx="256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07088"/>
                </a:solidFill>
                <a:latin typeface="Microsoft YaHei"/>
              </a:rPr>
              <a:t>Q4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F8F"/>
                </a:solidFill>
                <a:latin typeface="Microsoft YaHei"/>
              </a:rPr>
              <a:t>互动Q4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89888"/>
            <a:ext cx="10881360" cy="100584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3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91056"/>
            <a:ext cx="1033272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50" b="1" dirty="0" err="1">
                <a:solidFill>
                  <a:srgbClr val="1F2D3D"/>
                </a:solidFill>
                <a:latin typeface="Microsoft YaHei"/>
              </a:rPr>
              <a:t>在“资源扩容异常处理”场景中，若</a:t>
            </a:r>
            <a:r>
              <a:rPr lang="zh-CN" altLang="en-US" sz="1750" b="1" dirty="0">
                <a:solidFill>
                  <a:srgbClr val="1F2D3D"/>
                </a:solidFill>
                <a:latin typeface="Microsoft YaHei"/>
              </a:rPr>
              <a:t>用户</a:t>
            </a:r>
            <a:r>
              <a:rPr sz="1750" b="1" dirty="0">
                <a:solidFill>
                  <a:srgbClr val="1F2D3D"/>
                </a:solidFill>
                <a:latin typeface="Microsoft YaHei"/>
              </a:rPr>
              <a:t>追问“</a:t>
            </a:r>
            <a:r>
              <a:rPr sz="1750" b="1" dirty="0" err="1">
                <a:solidFill>
                  <a:srgbClr val="1F2D3D"/>
                </a:solidFill>
                <a:latin typeface="Microsoft YaHei"/>
              </a:rPr>
              <a:t>资源池不足时谁先通知谁、申请单状态如何变化</a:t>
            </a:r>
            <a:r>
              <a:rPr sz="1750" b="1" dirty="0">
                <a:solidFill>
                  <a:srgbClr val="1F2D3D"/>
                </a:solidFill>
                <a:latin typeface="Microsoft YaHei"/>
              </a:rPr>
              <a:t>”，</a:t>
            </a:r>
            <a:r>
              <a:rPr sz="1750" b="1" dirty="0" err="1">
                <a:solidFill>
                  <a:srgbClr val="1F2D3D"/>
                </a:solidFill>
                <a:latin typeface="Microsoft YaHei"/>
              </a:rPr>
              <a:t>更合适的回答方式是</a:t>
            </a:r>
            <a:r>
              <a:rPr sz="1750" b="1" dirty="0">
                <a:solidFill>
                  <a:srgbClr val="1F2D3D"/>
                </a:solidFill>
                <a:latin typeface="Microsoft YaHei"/>
              </a:rPr>
              <a:t>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71800"/>
            <a:ext cx="1065276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41832" y="3127248"/>
            <a:ext cx="457200" cy="40233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3090672"/>
            <a:ext cx="9692640" cy="56938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zh-CN" altLang="en-US" sz="1550" dirty="0">
                <a:solidFill>
                  <a:srgbClr val="1F2D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展示包图，因为包图能说明包依赖，所以足以回答状态变化和消息顺序。</a:t>
            </a:r>
          </a:p>
          <a:p>
            <a:pPr algn="l"/>
            <a:endParaRPr sz="1550" dirty="0">
              <a:solidFill>
                <a:srgbClr val="1F2D3D"/>
              </a:solidFill>
              <a:latin typeface="Microsoft YaHe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77240" y="3904487"/>
            <a:ext cx="1065276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41832" y="4059935"/>
            <a:ext cx="457200" cy="402336"/>
          </a:xfrm>
          <a:prstGeom prst="round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4023359"/>
            <a:ext cx="9692640" cy="3308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zh-CN" altLang="en-US" sz="1550" dirty="0">
                <a:solidFill>
                  <a:srgbClr val="1F2D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联合使用状态图说明申请单状态变化，再用顺序图说明前端、申请服务、资源池服务、通知服务的调用顺序</a:t>
            </a:r>
            <a:endParaRPr sz="1550" dirty="0">
              <a:solidFill>
                <a:srgbClr val="1F2D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837176"/>
            <a:ext cx="1065276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41832" y="4992624"/>
            <a:ext cx="457200" cy="402336"/>
          </a:xfrm>
          <a:prstGeom prst="roundRect">
            <a:avLst/>
          </a:prstGeom>
          <a:solidFill>
            <a:srgbClr val="009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4956048"/>
            <a:ext cx="9692640" cy="3308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50" dirty="0" err="1">
                <a:solidFill>
                  <a:srgbClr val="1F2D3D"/>
                </a:solidFill>
                <a:latin typeface="Microsoft YaHei"/>
              </a:rPr>
              <a:t>展示首页原型，因为用户最终能看到提示，所以内部交互和状态变化可以不展开</a:t>
            </a:r>
            <a:r>
              <a:rPr sz="1550" dirty="0">
                <a:solidFill>
                  <a:srgbClr val="1F2D3D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问题解答 4：构件图、包图、部署图如何分工？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01200" y="228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457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5653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 IV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56716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1143000"/>
            <a:ext cx="1554480" cy="594360"/>
          </a:xfrm>
          <a:prstGeom prst="rect">
            <a:avLst/>
          </a:prstGeom>
          <a:solidFill>
            <a:srgbClr val="18A957"/>
          </a:solidFill>
          <a:ln>
            <a:solidFill>
              <a:srgbClr val="18A957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构件图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606040" y="1143000"/>
            <a:ext cx="39319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9E2F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系统由哪些服务/模块组成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12280" y="1143000"/>
            <a:ext cx="42062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9E2F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申请服务依赖审批服务、通知服务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286000"/>
            <a:ext cx="1554480" cy="5943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包图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06040" y="2286000"/>
            <a:ext cx="39319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9E2F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代码与模型如何分层组织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12280" y="2286000"/>
            <a:ext cx="42062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9E2F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ui.web → application → domain → infra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429000"/>
            <a:ext cx="1554480" cy="594360"/>
          </a:xfrm>
          <a:prstGeom prst="rect">
            <a:avLst/>
          </a:prstGeom>
          <a:solidFill>
            <a:srgbClr val="1457D9"/>
          </a:solidFill>
          <a:ln>
            <a:solidFill>
              <a:srgbClr val="1457D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部署图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06040" y="3429000"/>
            <a:ext cx="39319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9E2F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服务运行在哪些节点上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12280" y="3429000"/>
            <a:ext cx="42062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9E2F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Web层、业务服务层、数据库、调度器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05560" y="4892040"/>
            <a:ext cx="9275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小结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构件图讲“模块依赖”，包图讲“逻辑组织”，部署图讲“运行环境”。三者可以衔接，但不能互相替代。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280160" y="4892040"/>
            <a:ext cx="73152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问题解答 5：优先级和需求冲突怎么</a:t>
            </a:r>
            <a:r>
              <a:rPr lang="zh-CN" altLang="en-US" sz="28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处理</a:t>
            </a:r>
            <a:r>
              <a:rPr lang="en-US" sz="28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01200" y="228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457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5653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 IV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56716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64850" y="1188720"/>
            <a:ext cx="310423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排序依据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用户群影响范围、业务价值、风险程度、实现成本、课程阶段可交付性。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1188720"/>
            <a:ext cx="73152" cy="1005840"/>
          </a:xfrm>
          <a:prstGeom prst="rect">
            <a:avLst/>
          </a:prstGeom>
          <a:solidFill>
            <a:srgbClr val="1457D9"/>
          </a:solidFill>
          <a:ln w="12700">
            <a:solidFill>
              <a:srgbClr val="1457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6142" y="1188720"/>
            <a:ext cx="3110537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冲突处理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先保证核心闭环，再处理扩展功能；先做高频任务，再做复杂报表和深度配置。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1188720"/>
            <a:ext cx="73152" cy="1005840"/>
          </a:xfrm>
          <a:prstGeom prst="rect">
            <a:avLst/>
          </a:prstGeom>
          <a:solidFill>
            <a:srgbClr val="18A957"/>
          </a:solidFill>
          <a:ln w="12700">
            <a:solidFill>
              <a:srgbClr val="18A9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38744" y="1188720"/>
            <a:ext cx="3145536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SRS记录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冲突和取舍要进入需求优先级、可行性分析和评审记录，而不是口头决定。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92440" y="1188720"/>
            <a:ext cx="7315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291840"/>
            <a:ext cx="1843430" cy="658368"/>
          </a:xfrm>
          <a:prstGeom prst="rect">
            <a:avLst/>
          </a:prstGeom>
          <a:solidFill>
            <a:srgbClr val="EAF1FF"/>
          </a:solidFill>
          <a:ln w="15240">
            <a:solidFill>
              <a:srgbClr val="1457D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核心闭环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105302" y="3291840"/>
            <a:ext cx="1843430" cy="658368"/>
          </a:xfrm>
          <a:prstGeom prst="rect">
            <a:avLst/>
          </a:prstGeom>
          <a:solidFill>
            <a:srgbClr val="E9F8EF"/>
          </a:solidFill>
          <a:ln w="15240">
            <a:solidFill>
              <a:srgbClr val="18A95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用户影响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113325" y="3291840"/>
            <a:ext cx="1843430" cy="658368"/>
          </a:xfrm>
          <a:prstGeom prst="rect">
            <a:avLst/>
          </a:prstGeom>
          <a:solidFill>
            <a:srgbClr val="FFF4DF"/>
          </a:solidFill>
          <a:ln w="1524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风险与依赖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121347" y="3291840"/>
            <a:ext cx="1843430" cy="658368"/>
          </a:xfrm>
          <a:prstGeom prst="rect">
            <a:avLst/>
          </a:prstGeom>
          <a:solidFill>
            <a:srgbClr val="F0EAFE"/>
          </a:solidFill>
          <a:ln w="15240">
            <a:solidFill>
              <a:srgbClr val="7C3A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实现成本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129370" y="3291840"/>
            <a:ext cx="1843430" cy="658368"/>
          </a:xfrm>
          <a:prstGeom prst="rect">
            <a:avLst/>
          </a:prstGeom>
          <a:solidFill>
            <a:srgbClr val="FEECEC"/>
          </a:solidFill>
          <a:ln w="15240">
            <a:solidFill>
              <a:srgbClr val="EF44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评审记录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456734" y="4800600"/>
            <a:ext cx="9424626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结合项目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例如“资源申请—审批—开通—作业监控”属于核心链路，应优先保证；高级运营统计和复杂计费规则可在后续迭代中细化。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188720" y="4800600"/>
            <a:ext cx="73152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问题解答 6：怎样证明 SRS 可以移交和验证？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01200" y="228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457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5653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 IV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56716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58542" y="1188720"/>
            <a:ext cx="3156257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可移交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有目录、编号、术语表、用户代表、用例表、原型、数据字典和图示说明。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188720"/>
            <a:ext cx="73152" cy="1005840"/>
          </a:xfrm>
          <a:prstGeom prst="rect">
            <a:avLst/>
          </a:prstGeom>
          <a:solidFill>
            <a:srgbClr val="1457D9"/>
          </a:solidFill>
          <a:ln w="12700">
            <a:solidFill>
              <a:srgbClr val="1457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20826" y="1188720"/>
            <a:ext cx="3097294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可追踪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有需求跟踪矩阵，能从需求编号追到原型、UML图、测试用例和章节位置。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1188720"/>
            <a:ext cx="73152" cy="1005840"/>
          </a:xfrm>
          <a:prstGeom prst="rect">
            <a:avLst/>
          </a:prstGeom>
          <a:solidFill>
            <a:srgbClr val="18A957"/>
          </a:solidFill>
          <a:ln w="12700">
            <a:solidFill>
              <a:srgbClr val="18A9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06174" y="1188720"/>
            <a:ext cx="3115266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可验证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每条核心需求能设计测试用例，覆盖正常流程、边界条件和异常场景。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188720"/>
            <a:ext cx="7315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246120"/>
            <a:ext cx="1463040" cy="594360"/>
          </a:xfrm>
          <a:prstGeom prst="rect">
            <a:avLst/>
          </a:prstGeom>
          <a:solidFill>
            <a:srgbClr val="EAF1FF"/>
          </a:solidFill>
          <a:ln w="15240">
            <a:solidFill>
              <a:srgbClr val="1457D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需求编号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3246120"/>
            <a:ext cx="1463040" cy="594360"/>
          </a:xfrm>
          <a:prstGeom prst="rect">
            <a:avLst/>
          </a:prstGeom>
          <a:solidFill>
            <a:srgbClr val="E9F8EF"/>
          </a:solidFill>
          <a:ln w="15240">
            <a:solidFill>
              <a:srgbClr val="18A95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原型页面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0" y="3246120"/>
            <a:ext cx="1463040" cy="594360"/>
          </a:xfrm>
          <a:prstGeom prst="rect">
            <a:avLst/>
          </a:prstGeom>
          <a:solidFill>
            <a:srgbClr val="FFF4DF"/>
          </a:solidFill>
          <a:ln w="1524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UML图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680960" y="3246120"/>
            <a:ext cx="1463040" cy="594360"/>
          </a:xfrm>
          <a:prstGeom prst="rect">
            <a:avLst/>
          </a:prstGeom>
          <a:solidFill>
            <a:srgbClr val="F0EAFE"/>
          </a:solidFill>
          <a:ln w="15240">
            <a:solidFill>
              <a:srgbClr val="7C3A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数据/接口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875520" y="3246120"/>
            <a:ext cx="1463040" cy="594360"/>
          </a:xfrm>
          <a:prstGeom prst="rect">
            <a:avLst/>
          </a:prstGeom>
          <a:solidFill>
            <a:srgbClr val="FEECEC"/>
          </a:solidFill>
          <a:ln w="15240">
            <a:solidFill>
              <a:srgbClr val="EF44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测试用例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综合应用示例：资源扩容异常处理怎么建模？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47472" y="78638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把问题拆到不同图中，而不是只画一个流程框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0" y="228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457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5653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 IV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56716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411480" cy="640080"/>
          </a:xfrm>
          <a:prstGeom prst="rect">
            <a:avLst/>
          </a:prstGeom>
          <a:solidFill>
            <a:srgbClr val="1457D9"/>
          </a:solidFill>
          <a:ln>
            <a:solidFill>
              <a:srgbClr val="1457D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25880" y="1097280"/>
            <a:ext cx="9921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</a:rPr>
              <a:t>场景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</a:rPr>
              <a:t>用户申请 GPU 扩容，但当前资源池不足，需要进入待补充/排队开通状态。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938528"/>
            <a:ext cx="411480" cy="640080"/>
          </a:xfrm>
          <a:prstGeom prst="rect">
            <a:avLst/>
          </a:prstGeom>
          <a:solidFill>
            <a:srgbClr val="18A957"/>
          </a:solidFill>
          <a:ln>
            <a:solidFill>
              <a:srgbClr val="18A957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25880" y="1938528"/>
            <a:ext cx="9921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</a:rPr>
              <a:t>用例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</a:rPr>
              <a:t>参与者：普通用户、PI、管理员；主场景与异常场景都要写。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779776"/>
            <a:ext cx="411480" cy="64008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25880" y="2779776"/>
            <a:ext cx="9921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</a:rPr>
              <a:t>状态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</a:rPr>
              <a:t>申请单：已提交 → 待审核 → 待资源确认 → 已开通 / 驳回。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621024"/>
            <a:ext cx="411480" cy="64008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25880" y="3621024"/>
            <a:ext cx="9921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</a:rPr>
              <a:t>顺序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</a:rPr>
              <a:t>前端 → 申请服务 → 审批服务 → 资源池服务 → 通知服务。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462272"/>
            <a:ext cx="411480" cy="64008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325880" y="4462272"/>
            <a:ext cx="9921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</a:rPr>
              <a:t>数据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</a:rPr>
              <a:t>扩容申请、审批记录、资源池、通知记录都需要在字典中有字段。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5623560"/>
            <a:ext cx="9875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 err="1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这类</a:t>
            </a:r>
            <a:r>
              <a:rPr lang="zh-CN" altLang="en-US" sz="145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</a:t>
            </a:r>
            <a:r>
              <a:rPr lang="en-US" sz="145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的关键：先分解为“角色、状态、交互、数据、测试”，</a:t>
            </a:r>
            <a:r>
              <a:rPr lang="en-US" sz="1450" dirty="0" err="1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再选择图</a:t>
            </a:r>
            <a:r>
              <a:rPr lang="en-US" sz="145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14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509760" y="1645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2563EB"/>
                </a:solidFill>
                <a:latin typeface="Microsoft YaHei"/>
              </a:rPr>
              <a:t>软件需求分析原理与实践｜第6组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7088"/>
                </a:solidFill>
                <a:latin typeface="Microsoft YaHei"/>
              </a:rPr>
              <a:t>G06 · UML基础 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50040" y="6446520"/>
            <a:ext cx="256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07088"/>
                </a:solidFill>
                <a:latin typeface="Microsoft YaHei"/>
              </a:rPr>
              <a:t>Q5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F8F"/>
                </a:solidFill>
                <a:latin typeface="Microsoft YaHei"/>
              </a:rPr>
              <a:t>互动Q5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89888"/>
            <a:ext cx="10881360" cy="804672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3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91056"/>
            <a:ext cx="10332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50" b="1">
                <a:solidFill>
                  <a:srgbClr val="1F2D3D"/>
                </a:solidFill>
                <a:latin typeface="Microsoft YaHei"/>
              </a:rPr>
              <a:t>如果另一小组接手实现超算门户，下面哪条证据链最能证明我们的 SRS 可以被理解、设计和测试？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71800"/>
            <a:ext cx="1065276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41832" y="3127248"/>
            <a:ext cx="457200" cy="40233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3090672"/>
            <a:ext cx="969264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50">
                <a:solidFill>
                  <a:srgbClr val="1F2D3D"/>
                </a:solidFill>
                <a:latin typeface="Microsoft YaHei"/>
              </a:rPr>
              <a:t>需求编号 → 用户/场景 → 界面原型 → UML 图 → 数据/接口 → 测试用例 → Baseline。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904487"/>
            <a:ext cx="1065276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41832" y="4059935"/>
            <a:ext cx="457200" cy="402336"/>
          </a:xfrm>
          <a:prstGeom prst="round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4023359"/>
            <a:ext cx="969264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50">
                <a:solidFill>
                  <a:srgbClr val="1F2D3D"/>
                </a:solidFill>
                <a:latin typeface="Microsoft YaHei"/>
              </a:rPr>
              <a:t>项目名称 → PPT封面 → 成员分工 → 参考文献，因为这些内容能证明小组完成了汇报材料。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37176"/>
            <a:ext cx="1065276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41832" y="4992624"/>
            <a:ext cx="457200" cy="402336"/>
          </a:xfrm>
          <a:prstGeom prst="roundRect">
            <a:avLst/>
          </a:prstGeom>
          <a:solidFill>
            <a:srgbClr val="009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4956048"/>
            <a:ext cx="969264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50">
                <a:solidFill>
                  <a:srgbClr val="1F2D3D"/>
                </a:solidFill>
                <a:latin typeface="Microsoft YaHei"/>
              </a:rPr>
              <a:t>所有功能统一归到“门户系统”一个总需求下，减少编号和跟踪表，方便实现组快速阅读。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本项目综合应用与复盘成果总览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47472" y="78638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从课程成果到SRS评审，再到UML经验沉淀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0" y="228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457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5653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 IV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56716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15298" y="1234440"/>
            <a:ext cx="1819341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项目计划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明确目标、范围、分工、风险和进度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8680" y="1234440"/>
            <a:ext cx="73152" cy="1143000"/>
          </a:xfrm>
          <a:prstGeom prst="rect">
            <a:avLst/>
          </a:prstGeom>
          <a:solidFill>
            <a:srgbClr val="1457D9"/>
          </a:solidFill>
          <a:ln w="12700">
            <a:solidFill>
              <a:srgbClr val="1457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28416" y="1234440"/>
            <a:ext cx="1746504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UML基础 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完成用例、类、状态、顺序、协作、部署图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08960" y="1234440"/>
            <a:ext cx="73152" cy="1143000"/>
          </a:xfrm>
          <a:prstGeom prst="rect">
            <a:avLst/>
          </a:prstGeom>
          <a:solidFill>
            <a:srgbClr val="18A957"/>
          </a:solidFill>
          <a:ln w="12700">
            <a:solidFill>
              <a:srgbClr val="18A9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68696" y="1234440"/>
            <a:ext cx="1746504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UML基础 II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完成界面原型与页面流说明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49240" y="1234440"/>
            <a:ext cx="73152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32308" y="1234440"/>
            <a:ext cx="1723171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UML基础 III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完成对象、构件、包图补充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589520" y="1234440"/>
            <a:ext cx="73152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33174" y="1234440"/>
            <a:ext cx="176258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SRS评审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形成规格说明、优先级、跟踪矩阵和测试摘要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829800" y="1234440"/>
            <a:ext cx="73152" cy="1143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19796" y="3749040"/>
            <a:ext cx="9361564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总评价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超算中心运营管理门户网站的需求工程材料已经从“项目计划”扩展到“建模、原型、SRS、测试、评审与复盘”。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280160" y="3749040"/>
            <a:ext cx="73152" cy="914400"/>
          </a:xfrm>
          <a:prstGeom prst="rect">
            <a:avLst/>
          </a:prstGeom>
          <a:solidFill>
            <a:srgbClr val="1457D9"/>
          </a:solidFill>
          <a:ln w="12700">
            <a:solidFill>
              <a:srgbClr val="1457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49834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本次汇报的重点不只是展示图谱，也分享我们在UML建模中遇到的困难、疑惑和解决经验。</a:t>
            </a:r>
            <a:endParaRPr lang="en-US" sz="1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组内成员分工与演示安排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47472" y="78638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围绕综合应用、项目复盘、问题解答和项目证据进行分工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0" y="228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457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5653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 IV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56716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9892" y="1097280"/>
            <a:ext cx="1032010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吴易骏｜总体结构与统稿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负责汇报主线、页序组织、答辩收束。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097280"/>
            <a:ext cx="73152" cy="713232"/>
          </a:xfrm>
          <a:prstGeom prst="rect">
            <a:avLst/>
          </a:prstGeom>
          <a:solidFill>
            <a:srgbClr val="1457D9"/>
          </a:solidFill>
          <a:ln w="12700">
            <a:solidFill>
              <a:srgbClr val="1457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09892" y="2057400"/>
            <a:ext cx="1032010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肖泓宇｜资料与证据校核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负责 SRS、原型、UML 图与引用材料一致性检查。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057400"/>
            <a:ext cx="73152" cy="713232"/>
          </a:xfrm>
          <a:prstGeom prst="rect">
            <a:avLst/>
          </a:prstGeom>
          <a:solidFill>
            <a:srgbClr val="18A957"/>
          </a:solidFill>
          <a:ln w="12700">
            <a:solidFill>
              <a:srgbClr val="18A9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9892" y="3017520"/>
            <a:ext cx="1032010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蒋长麟｜综合图谱整理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负责需求追踪、对象/数据一致性和图谱链路。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017520"/>
            <a:ext cx="73152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9892" y="3977640"/>
            <a:ext cx="1032010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陈许恺｜项目复盘设计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负责困难、疑惑、经验沉淀与答辩口径整理。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977640"/>
            <a:ext cx="73152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09892" y="4937760"/>
            <a:ext cx="1032010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王涛｜页面整合与演示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负责排版美化、成员评分和现场互动补充。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937760"/>
            <a:ext cx="73152" cy="7132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组内成员评分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47472" y="78638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评分说明：5=完成突出，4=按时完成，3=基本完成，2=参与较少，1=未完成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0" y="228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457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5653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 IV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56716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1097280" cy="457200"/>
          </a:xfrm>
          <a:prstGeom prst="rect">
            <a:avLst/>
          </a:prstGeom>
          <a:solidFill>
            <a:srgbClr val="1457D9"/>
          </a:solidFill>
          <a:ln w="635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姓名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37360" y="1143000"/>
            <a:ext cx="2103120" cy="457200"/>
          </a:xfrm>
          <a:prstGeom prst="rect">
            <a:avLst/>
          </a:prstGeom>
          <a:solidFill>
            <a:srgbClr val="1457D9"/>
          </a:solidFill>
          <a:ln w="635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主要任务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0" y="1143000"/>
            <a:ext cx="4846320" cy="457200"/>
          </a:xfrm>
          <a:prstGeom prst="rect">
            <a:avLst/>
          </a:prstGeom>
          <a:solidFill>
            <a:srgbClr val="1457D9"/>
          </a:solidFill>
          <a:ln w="635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完成情况说明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0" y="1143000"/>
            <a:ext cx="914400" cy="457200"/>
          </a:xfrm>
          <a:prstGeom prst="rect">
            <a:avLst/>
          </a:prstGeom>
          <a:solidFill>
            <a:srgbClr val="1457D9"/>
          </a:solidFill>
          <a:ln w="635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自评分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0" y="1143000"/>
            <a:ext cx="914400" cy="457200"/>
          </a:xfrm>
          <a:prstGeom prst="rect">
            <a:avLst/>
          </a:prstGeom>
          <a:solidFill>
            <a:srgbClr val="1457D9"/>
          </a:solidFill>
          <a:ln w="635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组评分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1600200"/>
            <a:ext cx="10972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2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吴易骏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737360" y="1600200"/>
            <a:ext cx="21031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2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总体结构与统稿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840480" y="1600200"/>
            <a:ext cx="48463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2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完成综合应用主题结构整合与收束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686800" y="1600200"/>
            <a:ext cx="9144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2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601200" y="1600200"/>
            <a:ext cx="9144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2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4.9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2221992"/>
            <a:ext cx="1097280" cy="621792"/>
          </a:xfrm>
          <a:prstGeom prst="rect">
            <a:avLst/>
          </a:prstGeom>
          <a:solidFill>
            <a:srgbClr val="F8FBFF"/>
          </a:solidFill>
          <a:ln w="6350">
            <a:solidFill>
              <a:srgbClr val="D9E2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肖泓宇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737360" y="2221992"/>
            <a:ext cx="2103120" cy="621792"/>
          </a:xfrm>
          <a:prstGeom prst="rect">
            <a:avLst/>
          </a:prstGeom>
          <a:solidFill>
            <a:srgbClr val="F8FBFF"/>
          </a:solidFill>
          <a:ln w="6350">
            <a:solidFill>
              <a:srgbClr val="D9E2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资料与证据校核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840480" y="2221992"/>
            <a:ext cx="4846320" cy="621792"/>
          </a:xfrm>
          <a:prstGeom prst="rect">
            <a:avLst/>
          </a:prstGeom>
          <a:solidFill>
            <a:srgbClr val="F8FBFF"/>
          </a:solidFill>
          <a:ln w="6350">
            <a:solidFill>
              <a:srgbClr val="D9E2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完成SRS、UML与项目证据一致性检查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686800" y="2221992"/>
            <a:ext cx="914400" cy="621792"/>
          </a:xfrm>
          <a:prstGeom prst="rect">
            <a:avLst/>
          </a:prstGeom>
          <a:solidFill>
            <a:srgbClr val="F8FBFF"/>
          </a:solidFill>
          <a:ln w="6350">
            <a:solidFill>
              <a:srgbClr val="D9E2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601200" y="2221992"/>
            <a:ext cx="914400" cy="621792"/>
          </a:xfrm>
          <a:prstGeom prst="rect">
            <a:avLst/>
          </a:prstGeom>
          <a:solidFill>
            <a:srgbClr val="F8FBFF"/>
          </a:solidFill>
          <a:ln w="6350">
            <a:solidFill>
              <a:srgbClr val="D9E2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4.9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" y="2843784"/>
            <a:ext cx="10972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2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蒋长麟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737360" y="2843784"/>
            <a:ext cx="21031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2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综合图谱整理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840480" y="2843784"/>
            <a:ext cx="48463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2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完成需求追踪与对象/数据一致性说明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686800" y="2843784"/>
            <a:ext cx="9144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2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601200" y="2843784"/>
            <a:ext cx="9144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2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4.8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3465576"/>
            <a:ext cx="1097280" cy="621792"/>
          </a:xfrm>
          <a:prstGeom prst="rect">
            <a:avLst/>
          </a:prstGeom>
          <a:solidFill>
            <a:srgbClr val="F8FBFF"/>
          </a:solidFill>
          <a:ln w="6350">
            <a:solidFill>
              <a:srgbClr val="D9E2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陈许恺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737360" y="3465576"/>
            <a:ext cx="2103120" cy="621792"/>
          </a:xfrm>
          <a:prstGeom prst="rect">
            <a:avLst/>
          </a:prstGeom>
          <a:solidFill>
            <a:srgbClr val="F8FBFF"/>
          </a:solidFill>
          <a:ln w="6350">
            <a:solidFill>
              <a:srgbClr val="D9E2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项目复盘设计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840480" y="3465576"/>
            <a:ext cx="4846320" cy="621792"/>
          </a:xfrm>
          <a:prstGeom prst="rect">
            <a:avLst/>
          </a:prstGeom>
          <a:solidFill>
            <a:srgbClr val="F8FBFF"/>
          </a:solidFill>
          <a:ln w="6350">
            <a:solidFill>
              <a:srgbClr val="D9E2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完成UML困难、疑惑和经验分享内容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686800" y="3465576"/>
            <a:ext cx="914400" cy="621792"/>
          </a:xfrm>
          <a:prstGeom prst="rect">
            <a:avLst/>
          </a:prstGeom>
          <a:solidFill>
            <a:srgbClr val="F8FBFF"/>
          </a:solidFill>
          <a:ln w="6350">
            <a:solidFill>
              <a:srgbClr val="D9E2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601200" y="3465576"/>
            <a:ext cx="914400" cy="621792"/>
          </a:xfrm>
          <a:prstGeom prst="rect">
            <a:avLst/>
          </a:prstGeom>
          <a:solidFill>
            <a:srgbClr val="F8FBFF"/>
          </a:solidFill>
          <a:ln w="6350">
            <a:solidFill>
              <a:srgbClr val="D9E2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4.8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0080" y="4087368"/>
            <a:ext cx="10972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2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王涛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737360" y="4087368"/>
            <a:ext cx="21031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2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页面整合与演示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840480" y="4087368"/>
            <a:ext cx="48463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2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完成排版整合、评分页和现场补充准备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686800" y="4087368"/>
            <a:ext cx="9144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2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601200" y="4087368"/>
            <a:ext cx="9144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2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4.8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参考文献与资料来源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47472" y="78638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本页即参考文献页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0" y="228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457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5653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 IV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56716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" y="1143000"/>
            <a:ext cx="10424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[1] OMG. UML 2.5.1 About-UML.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929384"/>
            <a:ext cx="10424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[2] Visual Paradigm. UML diagram guides: Use Case / Class / Sequence / Component / Package / Deployment.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715768"/>
            <a:ext cx="10424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[3] Nielsen Norman Group / IxDF / Figma resource library: interface prototype, wireframe, prototype specification.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502152"/>
            <a:ext cx="10424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[4] 用户项目资料：超算中心运营管理门户网站项目计划书、SRS、界面原型与前序 UML 基础 I/II/III PPT。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4288536"/>
            <a:ext cx="10424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[5] G06 小组前期材料：需求获取记录、用户代表、原型页面、UML图谱、需求跟踪矩阵、测试用例摘要与项目复盘记录。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谢谢大家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601200" y="228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457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65653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 · UML基础 IV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56716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UML基础 IV：综合应用和问题解答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2057400"/>
            <a:ext cx="67665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综合应用的价值，不是把图画得更多，而是让每张图都能回答需求、原型、SRS、测试和项目复盘中的具体问题。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4160520"/>
            <a:ext cx="883920" cy="594360"/>
          </a:xfrm>
          <a:prstGeom prst="rect">
            <a:avLst/>
          </a:prstGeom>
          <a:solidFill>
            <a:srgbClr val="EAF1FF"/>
          </a:solidFill>
          <a:ln w="15240">
            <a:solidFill>
              <a:srgbClr val="1457D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角色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917192" y="4160520"/>
            <a:ext cx="883920" cy="594360"/>
          </a:xfrm>
          <a:prstGeom prst="rect">
            <a:avLst/>
          </a:prstGeom>
          <a:solidFill>
            <a:srgbClr val="E9F8EF"/>
          </a:solidFill>
          <a:ln w="15240">
            <a:solidFill>
              <a:srgbClr val="18A95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页面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965704" y="4160520"/>
            <a:ext cx="883920" cy="594360"/>
          </a:xfrm>
          <a:prstGeom prst="rect">
            <a:avLst/>
          </a:prstGeom>
          <a:solidFill>
            <a:srgbClr val="FFF4DF"/>
          </a:solidFill>
          <a:ln w="1524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对象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014216" y="4160520"/>
            <a:ext cx="883920" cy="594360"/>
          </a:xfrm>
          <a:prstGeom prst="rect">
            <a:avLst/>
          </a:prstGeom>
          <a:solidFill>
            <a:srgbClr val="F0EAFE"/>
          </a:solidFill>
          <a:ln w="15240">
            <a:solidFill>
              <a:srgbClr val="7C3A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交互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62728" y="4160520"/>
            <a:ext cx="883920" cy="594360"/>
          </a:xfrm>
          <a:prstGeom prst="rect">
            <a:avLst/>
          </a:prstGeom>
          <a:solidFill>
            <a:srgbClr val="E6F7FA"/>
          </a:solidFill>
          <a:ln w="15240">
            <a:solidFill>
              <a:srgbClr val="20C7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服务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111240" y="4160520"/>
            <a:ext cx="883920" cy="594360"/>
          </a:xfrm>
          <a:prstGeom prst="rect">
            <a:avLst/>
          </a:prstGeom>
          <a:solidFill>
            <a:srgbClr val="FEECEC"/>
          </a:solidFill>
          <a:ln w="15240">
            <a:solidFill>
              <a:srgbClr val="EF44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68680" y="4983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第6组｜吴易骏 肖泓宇 蒋长麟 陈许恺 王涛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2435</Words>
  <Application>Microsoft Office PowerPoint</Application>
  <PresentationFormat>宽屏</PresentationFormat>
  <Paragraphs>604</Paragraphs>
  <Slides>33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38" baseType="lpstr">
      <vt:lpstr>Noto Sans CJK SC</vt:lpstr>
      <vt:lpstr>微软雅黑</vt:lpstr>
      <vt:lpstr>微软雅黑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G06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UML基础IIII：综合应用和问题解答</dc:title>
  <dc:subject>UML基础IIII：综合应用和问题解答</dc:subject>
  <dc:creator>G06</dc:creator>
  <cp:lastModifiedBy>YIJUN WU</cp:lastModifiedBy>
  <cp:revision>4</cp:revision>
  <dcterms:created xsi:type="dcterms:W3CDTF">2026-05-26T02:39:38Z</dcterms:created>
  <dcterms:modified xsi:type="dcterms:W3CDTF">2026-06-08T08:28:30Z</dcterms:modified>
</cp:coreProperties>
</file>