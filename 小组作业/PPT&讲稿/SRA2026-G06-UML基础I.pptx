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5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3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377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OMG. UML 2.5.1 About-UML. https://www.omg.org/spec/UML/2.5.1/About-UML
- 用户上传《超算中心运营管理门户网站-项目计划书评审汇报-优化版.pptx》中的项目主线与角色信息
- Barcelona Supercomputing Center photo: https://www.eosc.eu/sites/default/files/styles/900x400/public/2023-05/2018_bsc_superordenador_marenostrum_4_barcelona_supercomputing_center_posterior.jpg?itok=4YDqWPzb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目录结构为本次PPT重新组织；项目结合思路参考用户上传《uml_clean_revised.pptx》与《超算中心运营管理门户网站-项目计划书评审汇报-优化版.pptx》。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OMG. UML 2.5.1 About-UML. https://www.omg.org/spec/UML/2.5.1/About-UML
- 用户上传《超算中心运营管理门户网站-项目计划书评审汇报-优化版.pptx》中的角色、流程与分层信息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本页“项目问题映射”由本次PPT根据用户上传《超算中心运营管理门户网站-项目计划书评审汇报-优化版.pptx》中的业务主线归纳整理。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Paradigm. What is Use Case Diagram? https://www.visual-paradigm.com/guide/uml-unified-modeling-language/what-is-use-case-diagram/
- 用户上传《超算中心运营管理门户网站-项目计划书评审汇报-优化版.pptx》中的角色与模块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本页用例图为根据用户上传《超算中心运营管理门户网站-项目计划书评审汇报-优化版.pptx》中的角色、模块和主线业务自行绘制。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本页互动题与标准答案由本次PPT内容整理生成。标准答案：A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Paradigm. What is Class Diagram? https://www.visual-paradigm.com/guide/uml-unified-modeling-language/what-is-class-diagram/
- 用户上传《超算中心运营管理门户网站-项目计划书评审汇报-优化版.pptx》中的功能架构与核心业务对象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本页类图根据用户上传《超算中心运营管理门户网站-项目计划书评审汇报-优化版.pptx》中的功能模块、业务主线和对象关系自行绘制。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本页互动题与标准答案由本次PPT内容整理生成。标准答案：A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Paradigm. What is State Machine Diagram? https://www.visual-paradigm.com/guide/uml-unified-modeling-language/what-is-state-machine-diagram/
- 用户上传《超算中心运营管理门户网站-项目计划书评审汇报-优化版.pptx》中的审批流转主线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本页状态图根据用户上传《超算中心运营管理门户网站-项目计划书评审汇报-优化版.pptx》中的“资源申请—审批流转—账号开通”主线自行绘制。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本页互动题与标准答案由本次PPT内容整理生成。标准答案：A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Paradigm. What is Sequence Diagram? https://www.visual-paradigm.com/guide/uml-unified-modeling-language/what-is-sequence-diagram/
- 用户上传《超算中心运营管理门户网站-项目计划书评审汇报-优化版.pptx》中的申请、审批、通知流程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本页顺序图根据用户上传《超算中心运营管理门户网站-项目计划书评审汇报-优化版.pptx》中的申请、审批与通知流程自行绘制。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Paradigm. What is Communication Diagram? https://www.visual-paradigm.com/guide/uml-unified-modeling-language/what-is-communication-diagram/
- 用户上传《超算中心运营管理门户网站-项目计划书评审汇报-优化版.pptx》中的交互场景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本页协作图依据本次PPT中同一“资源申请—审批—通知”场景自行绘制，与顺序图对应。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本页互动题与标准答案由本次PPT内容整理生成。标准答案：A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Paradigm. What is Deployment Diagram? https://www.visual-paradigm.com/guide/uml-unified-modeling-language/what-is-deployment-diagram/
- 用户上传《超算中心运营管理门户网站-项目计划书评审汇报-优化版.pptx》中的功能架构设计与分层信息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本页部署图根据用户上传《超算中心运营管理门户网站-项目计划书评审汇报-优化版.pptx》中的功能架构与分层信息自行绘制。
- TACC Analysis Portal 文档与截图作为门户视觉参考：https://docs.tacc.utexas.edu/tutorials/TAP/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本页“建模链”是依据本次PPT对六种图在同一项目中的使用顺序进行归纳整理。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本页互动题与标准答案由本次PPT内容整理生成。标准答案：B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组员姓名来自用户上传PPT；职责为本次“UML基础I”主题重新分配。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成员评分页按用户此前PPT中的形式延续，本页分数为展示版建议值，可按实际情况修改。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本页汇总本套PPT使用的主要外部资料与用户上传资料来源。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TACC Analysis Portal screenshot as project-related portal visual: https://docs.tacc.utexas.edu/tutorials/TAP/ and https://docs.tacc.utexas.edu/tutorials/imgs/1TAP.png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466344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8448" y="2011680"/>
            <a:ext cx="3611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UML基础I：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用例图、类图、状态图、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顺序图、协作图、部署图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83080" y="3703320"/>
            <a:ext cx="1824070" cy="256032"/>
          </a:xfrm>
          <a:prstGeom prst="roundRect">
            <a:avLst>
              <a:gd name="adj" fmla="val 28571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730752"/>
            <a:ext cx="17026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翻转课堂 / 专题汇报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4709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第6组｜吴易骏 肖泓宇 蒋长麟 陈许恺 王涛</a:t>
            </a:r>
            <a:endParaRPr lang="en-US" sz="1050" dirty="0"/>
          </a:p>
        </p:txBody>
      </p:sp>
      <p:pic>
        <p:nvPicPr>
          <p:cNvPr id="8" name="Image 0" descr="/mnt/data/bsc.jpg"/>
          <p:cNvPicPr>
            <a:picLocks noChangeAspect="1"/>
          </p:cNvPicPr>
          <p:nvPr/>
        </p:nvPicPr>
        <p:blipFill>
          <a:blip r:embed="rId3"/>
          <a:srcRect t="539" b="539"/>
          <a:stretch/>
        </p:blipFill>
        <p:spPr>
          <a:xfrm>
            <a:off x="5989320" y="868680"/>
            <a:ext cx="5303520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3493008"/>
            <a:ext cx="530352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36208" y="3749040"/>
            <a:ext cx="1734838" cy="256032"/>
          </a:xfrm>
          <a:prstGeom prst="roundRect">
            <a:avLst>
              <a:gd name="adj" fmla="val 28571"/>
            </a:avLst>
          </a:prstGeom>
          <a:solidFill>
            <a:srgbClr val="142B6F"/>
          </a:solidFill>
          <a:ln w="12700">
            <a:solidFill>
              <a:srgbClr val="142B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81927" y="3776472"/>
            <a:ext cx="162605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项目语境：超算中心门户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36208" y="4160520"/>
            <a:ext cx="461772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本次汇报把 6 种基础 UML 图放进同一个项目场景中：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围绕“用户服务—资源申请—审批流转—作业监控—</a:t>
            </a:r>
            <a:r>
              <a:rPr lang="en-US" sz="1350" dirty="0" err="1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运营统计</a:t>
            </a: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画出与超算中心运营管理门户网站匹配的模型表达。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646920" y="55504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170432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325880"/>
            <a:ext cx="47548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533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19072" y="12801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UML基础I是什么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12801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为什么先学这 6 种图，它们分别回答什么问题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68680" y="2084832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F1EAFE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240280"/>
            <a:ext cx="4754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677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19072" y="21945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图示讲解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21945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用例图、类图、状态图、顺序图、协作图、部署图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68680" y="2999232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FEF3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154680"/>
            <a:ext cx="475488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1821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19072" y="31089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项目匹配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31089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全部结合“超算中心运营管理门户网站”落图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68680" y="3913632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E8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069080"/>
            <a:ext cx="475488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0965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9072" y="40233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课堂互动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94760" y="40233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穿插 5 个问题，帮助同学判断每类图的用途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68680" y="4828032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" y="4983480"/>
            <a:ext cx="47548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01091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19072" y="49377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收尾信息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94760" y="4937760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成员分工、成员评分、参考文献与致谢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为什么先学这 6 种 UML 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基础I范围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1527048"/>
            <a:ext cx="331012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 6 种图横跨结构图、行为图与交互图，是课程里最常先落地的一组。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课堂价值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8576" y="1527048"/>
            <a:ext cx="303580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先把“谁在用、对象是什么、状态怎样变、对象如何交互、系统怎么部署”讲清楚。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10972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304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项目价值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01584" y="1527048"/>
            <a:ext cx="32186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超算门户角色多、流程长、对象复杂，正好适合用这 6 种图建立统一认知。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10716768" cy="247802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347472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502152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本页结论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3858767"/>
            <a:ext cx="10058400" cy="1400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如果只靠大段文字说需求，容易出现三种问题：角色边界不清、审批流程遗漏、系统结构讲不完整。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 UML 基础 I 正好对应三类核心问题：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</a:t>
            </a:r>
            <a:r>
              <a:rPr lang="en-US" sz="1400" dirty="0" err="1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用例图回答“谁在用系统、能做什么</a:t>
            </a: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”；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类图/</a:t>
            </a:r>
            <a:r>
              <a:rPr lang="en-US" sz="1400" dirty="0" err="1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状态图回答“核心对象是什么、会怎么变化</a:t>
            </a: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”；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顺序图/协作图/部署图回答“对象如何交互、系统如何运行”。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六种图分别回答什么项目问题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132588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2161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143000"/>
            <a:ext cx="233172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121615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图的关注点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365760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216152"/>
            <a:ext cx="3602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在超算门户里最适合回答的问题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1143000"/>
            <a:ext cx="278892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216152"/>
            <a:ext cx="2734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适配模块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527048"/>
            <a:ext cx="1325880" cy="694944"/>
          </a:xfrm>
          <a:prstGeom prst="rect">
            <a:avLst/>
          </a:prstGeom>
          <a:solidFill>
            <a:srgbClr val="EEF3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1527048"/>
            <a:ext cx="2331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527048"/>
            <a:ext cx="36576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527048"/>
            <a:ext cx="2788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173736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57984" y="1645920"/>
            <a:ext cx="2221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 + 功能边界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1600200"/>
            <a:ext cx="3547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谁能提交申请、谁能审批、谁能看运营统计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03336" y="1737360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申请、审批、运维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2221992"/>
            <a:ext cx="132588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2221992"/>
            <a:ext cx="233172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221992"/>
            <a:ext cx="365760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2221992"/>
            <a:ext cx="278892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243230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57984" y="2340864"/>
            <a:ext cx="2221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 + 关系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26864" y="2295144"/>
            <a:ext cx="3547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用户、项目、申请、作业、账单之间如何关联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03336" y="2432304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2916936"/>
            <a:ext cx="1325880" cy="694944"/>
          </a:xfrm>
          <a:prstGeom prst="rect">
            <a:avLst/>
          </a:prstGeom>
          <a:solidFill>
            <a:srgbClr val="EEF3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2916936"/>
            <a:ext cx="2331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916936"/>
            <a:ext cx="36576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2916936"/>
            <a:ext cx="2788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" y="312724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57984" y="3035808"/>
            <a:ext cx="2221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单个对象状态变化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26864" y="2990088"/>
            <a:ext cx="3547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资源申请从草稿到开通会经历哪些状态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03336" y="3127248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3611880"/>
            <a:ext cx="132588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3611880"/>
            <a:ext cx="233172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3611880"/>
            <a:ext cx="365760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6760" y="3611880"/>
            <a:ext cx="278892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" y="382219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157984" y="3730752"/>
            <a:ext cx="2221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消息时间顺序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26864" y="3685032"/>
            <a:ext cx="3547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申请提交后，前端、服务、审批、通知如何交互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403336" y="3822192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服务流程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7240" y="4306824"/>
            <a:ext cx="1325880" cy="694944"/>
          </a:xfrm>
          <a:prstGeom prst="rect">
            <a:avLst/>
          </a:prstGeom>
          <a:solidFill>
            <a:srgbClr val="EEF3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03120" y="4306824"/>
            <a:ext cx="23317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4306824"/>
            <a:ext cx="36576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66760" y="4306824"/>
            <a:ext cx="2788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" y="4517136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157984" y="4425696"/>
            <a:ext cx="2221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对象协作网络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26864" y="4379976"/>
            <a:ext cx="3547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同一个场景里哪些对象彼此通信、消息编号怎样走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03336" y="4517136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职责分工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77240" y="5001768"/>
            <a:ext cx="132588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03120" y="5001768"/>
            <a:ext cx="233172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5001768"/>
            <a:ext cx="365760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66760" y="5001768"/>
            <a:ext cx="2788920" cy="694944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" y="521208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2157984" y="5120640"/>
            <a:ext cx="2221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节点与运行环境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26864" y="5074920"/>
            <a:ext cx="3547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门户、业务服务、调度器、数据库分别部署在哪里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403336" y="5212080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系统架构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用例图：先回答“谁在用系统、能做什么”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207008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2344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3544" y="1517904"/>
            <a:ext cx="2953512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用例图从用户视角描述系统提供的功能。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它更强调“目标”和“边界”，而不是内部实现细节。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24528" y="1097280"/>
            <a:ext cx="3474720" cy="2011680"/>
          </a:xfrm>
          <a:prstGeom prst="roundRect">
            <a:avLst>
              <a:gd name="adj" fmla="val 2727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4256" y="1207008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9976" y="1234440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看图重点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1517904"/>
            <a:ext cx="3182112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外部参与者：普通用户、PI、管理员、运维。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系统边界：超算中心运营管理门户网站。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核心用例：申请、审批、监控、统计。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9560" y="109728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9288" y="1207008"/>
            <a:ext cx="1307592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7" y="1234440"/>
            <a:ext cx="11231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为什么适合本项目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55864" y="1517904"/>
            <a:ext cx="3136392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超算门户是典型的多角色、多权限系统。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先画用例图，能避免功能和权限边界混乱。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456432"/>
            <a:ext cx="1056132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675888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703320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一句话理解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041648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如果老师问“你们门户系统到底给谁用、每类人能做什么”，最先拿出来的通常就是用例图。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项目用例图：超算中心门户的角色与功能边界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843784" y="1165860"/>
            <a:ext cx="6355080" cy="4434840"/>
          </a:xfrm>
          <a:prstGeom prst="rect">
            <a:avLst/>
          </a:prstGeom>
          <a:solidFill>
            <a:srgbClr val="FFFFFF"/>
          </a:solidFill>
          <a:ln w="20320">
            <a:solidFill>
              <a:srgbClr val="142B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984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超算中心运营管理门户网站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1417320" y="2002535"/>
            <a:ext cx="2313431" cy="237745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35608" y="2231136"/>
            <a:ext cx="2313431" cy="374904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240280"/>
            <a:ext cx="2331720" cy="100584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2240280"/>
            <a:ext cx="2331720" cy="164592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020824" y="3875794"/>
            <a:ext cx="1737360" cy="924804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00360" y="4462272"/>
            <a:ext cx="0" cy="0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97864" y="162763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07592" y="1847088"/>
            <a:ext cx="0" cy="310896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4712" y="1956816"/>
            <a:ext cx="36576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07592" y="2157984"/>
            <a:ext cx="0" cy="201168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07592" y="2157984"/>
            <a:ext cx="146304" cy="201168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19" y="236829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19072" y="409651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4315968"/>
            <a:ext cx="0" cy="310896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4425696"/>
            <a:ext cx="365760" cy="0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4626864"/>
            <a:ext cx="0" cy="201168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4626864"/>
            <a:ext cx="146304" cy="201168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 / 审批人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80904" y="384962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90632" y="4069080"/>
            <a:ext cx="0" cy="310896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7752" y="4178808"/>
            <a:ext cx="36576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90632" y="4379976"/>
            <a:ext cx="0" cy="201168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90632" y="4379976"/>
            <a:ext cx="146304" cy="201168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3160" y="4617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226986" y="174193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36714" y="1961388"/>
            <a:ext cx="0" cy="310896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53834" y="2071116"/>
            <a:ext cx="36576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6714" y="2272284"/>
            <a:ext cx="0" cy="201168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36714" y="2272284"/>
            <a:ext cx="146304" cy="201168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89242" y="25100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749040" y="1783080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94760" y="1883664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注册/登录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49040" y="2423160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2523744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提交资源申请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758183" y="3052835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85615" y="317296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查看作业状态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03904" y="4507991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0" y="4630963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审批处理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98207" y="2200058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3927" y="231781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公告/帮助中心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118242" y="3822193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89187" y="3928057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运营统计/账单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48495" y="1682773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38300" y="178844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工单与支持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68680" y="58064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图示要点：本图先讲清“角色—功能边界”，不讨论数据库字段和部署节点。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561320" y="58064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引注：[8]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758184" y="3700800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381304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查看审批结果</a:t>
            </a:r>
            <a:endParaRPr lang="en-US" sz="950" dirty="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AD9F0ACB-C581-CFA8-208A-376266D5E195}"/>
              </a:ext>
            </a:extLst>
          </p:cNvPr>
          <p:cNvSpPr/>
          <p:nvPr/>
        </p:nvSpPr>
        <p:spPr>
          <a:xfrm flipV="1">
            <a:off x="2011680" y="4714522"/>
            <a:ext cx="1773934" cy="92702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66" name="Shape 12">
            <a:extLst>
              <a:ext uri="{FF2B5EF4-FFF2-40B4-BE49-F238E27FC236}">
                <a16:creationId xmlns:a16="http://schemas.microsoft.com/office/drawing/2014/main" id="{95B32DD4-474E-0147-63FC-7D2F4A5C039A}"/>
              </a:ext>
            </a:extLst>
          </p:cNvPr>
          <p:cNvSpPr/>
          <p:nvPr/>
        </p:nvSpPr>
        <p:spPr>
          <a:xfrm>
            <a:off x="8284464" y="1847087"/>
            <a:ext cx="1905939" cy="219733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67" name="Shape 55">
            <a:extLst>
              <a:ext uri="{FF2B5EF4-FFF2-40B4-BE49-F238E27FC236}">
                <a16:creationId xmlns:a16="http://schemas.microsoft.com/office/drawing/2014/main" id="{2AEA1E91-EE84-AB52-442D-8D4C6ED5E3F9}"/>
              </a:ext>
            </a:extLst>
          </p:cNvPr>
          <p:cNvSpPr/>
          <p:nvPr/>
        </p:nvSpPr>
        <p:spPr>
          <a:xfrm>
            <a:off x="7080507" y="2770632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68" name="Shape 55">
            <a:extLst>
              <a:ext uri="{FF2B5EF4-FFF2-40B4-BE49-F238E27FC236}">
                <a16:creationId xmlns:a16="http://schemas.microsoft.com/office/drawing/2014/main" id="{EBA4ED65-70F1-75C9-67BA-33D2C26EFA16}"/>
              </a:ext>
            </a:extLst>
          </p:cNvPr>
          <p:cNvSpPr/>
          <p:nvPr/>
        </p:nvSpPr>
        <p:spPr>
          <a:xfrm>
            <a:off x="7116137" y="3288055"/>
            <a:ext cx="1353312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04888" y="288572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账号/配额开通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71947" y="3406161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用户/权限管理</a:t>
            </a:r>
            <a:endParaRPr lang="en-US" sz="950" dirty="0"/>
          </a:p>
        </p:txBody>
      </p:sp>
      <p:sp>
        <p:nvSpPr>
          <p:cNvPr id="69" name="Shape 12">
            <a:extLst>
              <a:ext uri="{FF2B5EF4-FFF2-40B4-BE49-F238E27FC236}">
                <a16:creationId xmlns:a16="http://schemas.microsoft.com/office/drawing/2014/main" id="{DB37412C-ADC4-B488-DDEA-A3D671908D37}"/>
              </a:ext>
            </a:extLst>
          </p:cNvPr>
          <p:cNvSpPr/>
          <p:nvPr/>
        </p:nvSpPr>
        <p:spPr>
          <a:xfrm flipV="1">
            <a:off x="8351520" y="2075413"/>
            <a:ext cx="1820607" cy="271546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AECBB089-DDCC-BC3C-FCCB-63B91DEB9A94}"/>
              </a:ext>
            </a:extLst>
          </p:cNvPr>
          <p:cNvSpPr/>
          <p:nvPr/>
        </p:nvSpPr>
        <p:spPr>
          <a:xfrm>
            <a:off x="8451060" y="2921528"/>
            <a:ext cx="1775926" cy="1257277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A3E63905-8950-EF98-51B5-1B63B9CA588A}"/>
              </a:ext>
            </a:extLst>
          </p:cNvPr>
          <p:cNvSpPr/>
          <p:nvPr/>
        </p:nvSpPr>
        <p:spPr>
          <a:xfrm>
            <a:off x="8451060" y="4084848"/>
            <a:ext cx="1756693" cy="109198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  <p:sp>
        <p:nvSpPr>
          <p:cNvPr id="72" name="Shape 12">
            <a:extLst>
              <a:ext uri="{FF2B5EF4-FFF2-40B4-BE49-F238E27FC236}">
                <a16:creationId xmlns:a16="http://schemas.microsoft.com/office/drawing/2014/main" id="{9C9798D8-7487-3CFE-1273-61EC6E43CD05}"/>
              </a:ext>
            </a:extLst>
          </p:cNvPr>
          <p:cNvSpPr/>
          <p:nvPr/>
        </p:nvSpPr>
        <p:spPr>
          <a:xfrm>
            <a:off x="8478593" y="3472668"/>
            <a:ext cx="1729160" cy="721378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D13A4500-A9C2-E000-3820-79A23AE8DFCE}"/>
              </a:ext>
            </a:extLst>
          </p:cNvPr>
          <p:cNvSpPr/>
          <p:nvPr/>
        </p:nvSpPr>
        <p:spPr>
          <a:xfrm flipV="1">
            <a:off x="5175502" y="4194045"/>
            <a:ext cx="5014901" cy="534189"/>
          </a:xfrm>
          <a:prstGeom prst="line">
            <a:avLst/>
          </a:prstGeom>
          <a:noFill/>
          <a:ln w="15240">
            <a:solidFill>
              <a:srgbClr val="9AA3B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互动Q1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课堂互动问题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8630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572768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020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看完用例图以后，我们最先能回答哪一类问题？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87121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289864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2862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谁在使用系统、每类角色能做什么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F1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675888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0332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7632" y="36667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数据库字段长度和索引设计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8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480560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5079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7632" y="44714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服务器采购数量和机房布局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类图：把核心对象与关系沉淀下来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" y="1527048"/>
            <a:ext cx="29900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类图是静态结构图，用来展示类、属性、方法以及类之间的关系。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10972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225296"/>
            <a:ext cx="1341961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252728"/>
            <a:ext cx="119534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在本项目里看什么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52544" y="1527048"/>
            <a:ext cx="31729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不是提前画死数据库，而是先澄清“用户、项目、申请、作业、账单”等核心对象。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0972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最常见关系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91856" y="1527048"/>
            <a:ext cx="32186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关联、聚合、组合、继承。课堂展示里优先讲“谁关联谁、为什么关联”。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10561320" cy="1719072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93008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易错点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9966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类图的重点不是把字段越写越多，而是先把系统中的“关键对象”和“对象关系”讲准确。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项目类图：用户、项目、申请、作业、账单的关系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71800" y="1920240"/>
            <a:ext cx="1600200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451860" y="1792224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1..*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1920240"/>
            <a:ext cx="1554480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897880" y="1792224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59" y="1920240"/>
            <a:ext cx="2047942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475220" y="1792224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1..*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1920240"/>
            <a:ext cx="0" cy="187452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1920240"/>
            <a:ext cx="0" cy="187452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2190" y="2268894"/>
            <a:ext cx="0" cy="187452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" y="1417320"/>
            <a:ext cx="1965960" cy="1408176"/>
          </a:xfrm>
          <a:prstGeom prst="rect">
            <a:avLst/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144475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" y="1764792"/>
            <a:ext cx="19659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1810512"/>
            <a:ext cx="18196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userId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role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email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2368296"/>
            <a:ext cx="19659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2404872"/>
            <a:ext cx="181965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login()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submitApplication()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1417320"/>
            <a:ext cx="1965960" cy="1312163"/>
          </a:xfrm>
          <a:prstGeom prst="rect">
            <a:avLst/>
          </a:prstGeom>
          <a:solidFill>
            <a:srgbClr val="FFFFFF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1444752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Project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57600" y="1764792"/>
            <a:ext cx="19659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1810512"/>
            <a:ext cx="18196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projectId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owner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quota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0" y="2368296"/>
            <a:ext cx="19659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2404872"/>
            <a:ext cx="181965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addMember()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91072" y="1444751"/>
            <a:ext cx="2057400" cy="1335024"/>
          </a:xfrm>
          <a:prstGeom prst="rect">
            <a:avLst/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14447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ResourceApplication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1764792"/>
            <a:ext cx="2057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1810512"/>
            <a:ext cx="191109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type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submitTime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2368296"/>
            <a:ext cx="2057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2404872"/>
            <a:ext cx="191109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approve()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reject()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78824" y="1431037"/>
            <a:ext cx="1828800" cy="1408176"/>
          </a:xfrm>
          <a:prstGeom prst="rect">
            <a:avLst/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87968" y="144475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Job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869680" y="1764792"/>
            <a:ext cx="182880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42832" y="1810512"/>
            <a:ext cx="168249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jobId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queue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runState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69680" y="2368296"/>
            <a:ext cx="1828800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42832" y="2404872"/>
            <a:ext cx="1682496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start()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finish()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64224" y="3708040"/>
            <a:ext cx="1828800" cy="1005840"/>
          </a:xfrm>
          <a:prstGeom prst="rect">
            <a:avLst/>
          </a:prstGeom>
          <a:solidFill>
            <a:srgbClr val="FFFFFF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373547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ApprovalRecord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64224" y="4055512"/>
            <a:ext cx="18288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4101232"/>
            <a:ext cx="168249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reviewer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decision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time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75888" y="3703319"/>
            <a:ext cx="1828800" cy="1014981"/>
          </a:xfrm>
          <a:prstGeom prst="rect">
            <a:avLst/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4176" y="373075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Bill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3675888" y="4050792"/>
            <a:ext cx="18288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4096512"/>
            <a:ext cx="168249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amount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period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paidState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887968" y="3703320"/>
            <a:ext cx="1810512" cy="1005840"/>
          </a:xfrm>
          <a:prstGeom prst="rect">
            <a:avLst/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06256" y="37307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Ticket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887968" y="4050792"/>
            <a:ext cx="1810512" cy="0"/>
          </a:xfrm>
          <a:prstGeom prst="line">
            <a:avLst/>
          </a:prstGeom>
          <a:noFill/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1120" y="4096512"/>
            <a:ext cx="1664208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type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state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 priority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14400" y="5779008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关系说明：User 参与 Project；Project 发起 ResourceApplication；申请通过后关联 Job / Bill / Ticket 等后续对象。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10561320" y="577900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引注：[8]</a:t>
            </a:r>
            <a:endParaRPr lang="en-US" sz="82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5BDB47C-8290-9FFF-0A60-8EC17B65F1F0}"/>
              </a:ext>
            </a:extLst>
          </p:cNvPr>
          <p:cNvSpPr txBox="1"/>
          <p:nvPr/>
        </p:nvSpPr>
        <p:spPr>
          <a:xfrm>
            <a:off x="2939796" y="1689688"/>
            <a:ext cx="16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A905210-2C6B-CC8D-2924-5AF1CB5C9739}"/>
              </a:ext>
            </a:extLst>
          </p:cNvPr>
          <p:cNvSpPr txBox="1"/>
          <p:nvPr/>
        </p:nvSpPr>
        <p:spPr>
          <a:xfrm>
            <a:off x="3340161" y="1694527"/>
            <a:ext cx="488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0..*</a:t>
            </a:r>
            <a:endParaRPr lang="zh-CN" altLang="en-US" sz="11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8112147-D5C1-0D4A-4BE8-374997BACE50}"/>
              </a:ext>
            </a:extLst>
          </p:cNvPr>
          <p:cNvSpPr txBox="1"/>
          <p:nvPr/>
        </p:nvSpPr>
        <p:spPr>
          <a:xfrm>
            <a:off x="5587457" y="1696989"/>
            <a:ext cx="16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9445A2D-EC41-0E75-E47A-107E266F84AE}"/>
              </a:ext>
            </a:extLst>
          </p:cNvPr>
          <p:cNvSpPr txBox="1"/>
          <p:nvPr/>
        </p:nvSpPr>
        <p:spPr>
          <a:xfrm>
            <a:off x="5976236" y="1695206"/>
            <a:ext cx="488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0..*</a:t>
            </a:r>
            <a:endParaRPr lang="zh-CN" altLang="en-US" sz="11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5C9F4C-1891-9C94-BFFB-5DAA1B807ABB}"/>
              </a:ext>
            </a:extLst>
          </p:cNvPr>
          <p:cNvSpPr txBox="1"/>
          <p:nvPr/>
        </p:nvSpPr>
        <p:spPr>
          <a:xfrm>
            <a:off x="8307324" y="1696989"/>
            <a:ext cx="16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EDC8EFF-E7A0-9A75-42D4-95B950AC7988}"/>
              </a:ext>
            </a:extLst>
          </p:cNvPr>
          <p:cNvSpPr txBox="1"/>
          <p:nvPr/>
        </p:nvSpPr>
        <p:spPr>
          <a:xfrm>
            <a:off x="8574945" y="1702567"/>
            <a:ext cx="447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0..*</a:t>
            </a:r>
            <a:endParaRPr lang="zh-CN" altLang="en-US" sz="11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9DAA241-53ED-6FF9-1AEF-A7E421395C0F}"/>
              </a:ext>
            </a:extLst>
          </p:cNvPr>
          <p:cNvSpPr txBox="1"/>
          <p:nvPr/>
        </p:nvSpPr>
        <p:spPr>
          <a:xfrm>
            <a:off x="9619488" y="2801630"/>
            <a:ext cx="16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A15C9C7-64D5-D20C-3C4E-F22A86AC1388}"/>
              </a:ext>
            </a:extLst>
          </p:cNvPr>
          <p:cNvSpPr txBox="1"/>
          <p:nvPr/>
        </p:nvSpPr>
        <p:spPr>
          <a:xfrm>
            <a:off x="9616335" y="3442716"/>
            <a:ext cx="447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0..*</a:t>
            </a:r>
            <a:endParaRPr lang="zh-CN" altLang="en-US" sz="11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6B9D828-5ED3-2211-1B26-52F45F3DFF03}"/>
              </a:ext>
            </a:extLst>
          </p:cNvPr>
          <p:cNvSpPr txBox="1"/>
          <p:nvPr/>
        </p:nvSpPr>
        <p:spPr>
          <a:xfrm>
            <a:off x="4588159" y="2756915"/>
            <a:ext cx="16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822D943-BDCC-8BCA-5BBD-81E31E5D03D2}"/>
              </a:ext>
            </a:extLst>
          </p:cNvPr>
          <p:cNvSpPr txBox="1"/>
          <p:nvPr/>
        </p:nvSpPr>
        <p:spPr>
          <a:xfrm>
            <a:off x="4572000" y="3426211"/>
            <a:ext cx="488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0..*</a:t>
            </a:r>
            <a:endParaRPr lang="zh-CN" altLang="en-US" sz="11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2D6C55F-539A-9F1B-31B6-89AEC962FDF1}"/>
              </a:ext>
            </a:extLst>
          </p:cNvPr>
          <p:cNvSpPr txBox="1"/>
          <p:nvPr/>
        </p:nvSpPr>
        <p:spPr>
          <a:xfrm>
            <a:off x="6988302" y="2770055"/>
            <a:ext cx="164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8759702-69D2-E07A-7491-DD4DE8DE1D53}"/>
              </a:ext>
            </a:extLst>
          </p:cNvPr>
          <p:cNvSpPr txBox="1"/>
          <p:nvPr/>
        </p:nvSpPr>
        <p:spPr>
          <a:xfrm>
            <a:off x="6974744" y="3442716"/>
            <a:ext cx="488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0..*</a:t>
            </a:r>
            <a:endParaRPr lang="zh-CN" alt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互动Q2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课堂互动问题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8630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572768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020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在超算门户项目里，类图最主要是帮助我们先讲清什么？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87121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289864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2862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系统中的核心对象及它们之间的关系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F1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675888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0332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7632" y="36667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演讲时长如何控制在 5 分钟以内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8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480560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5079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7632" y="44714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教室里同学应该坐在哪一排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状态图：看一个对象会经历哪些状态变化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" y="1527048"/>
            <a:ext cx="308152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状态图关注单个对象的生命周期：有哪些状态、在什么事件触发下发生转换。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15968" y="1097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3" y="1225296"/>
            <a:ext cx="1376645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3" y="1252728"/>
            <a:ext cx="10345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和活动图的区别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43984" y="1527048"/>
            <a:ext cx="29900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活动图更像“流程”；状态图更像“某个对象现在处于什么状态”。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1097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0416" y="1225296"/>
            <a:ext cx="1533670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6136" y="1252728"/>
            <a:ext cx="1380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在本项目里最适合画谁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00416" y="1527048"/>
            <a:ext cx="331012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最适合画“资源申请单”或“作业单”的状态变化。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1056132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93008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关键理解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9921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如果老师问“这张申请单现在走到哪一步了”，状态图会比其他图更直接。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项目状态图：资源申请单从草稿到可使用的生命周期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25880" y="2670048"/>
            <a:ext cx="1078992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764792" y="2472033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填写完成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084" y="2675408"/>
            <a:ext cx="594518" cy="3784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154522" y="2446493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提交申请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V="1">
            <a:off x="4676054" y="1911096"/>
            <a:ext cx="1115148" cy="758952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792717" y="1979676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审核通过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35692" y="2862072"/>
            <a:ext cx="1765108" cy="676656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33628" y="2899830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审核驳回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45682" y="1801368"/>
            <a:ext cx="777240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65492" y="1581912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开通账号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74482" y="1801368"/>
            <a:ext cx="829054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209481" y="1572768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配额生效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H="1">
            <a:off x="4996092" y="3552444"/>
            <a:ext cx="1377276" cy="599168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 18"/>
          <p:cNvSpPr/>
          <p:nvPr/>
        </p:nvSpPr>
        <p:spPr>
          <a:xfrm>
            <a:off x="5646420" y="3915997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补充材料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93592" y="3396878"/>
            <a:ext cx="640080" cy="16459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B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重新提交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578608"/>
            <a:ext cx="201168" cy="201168"/>
          </a:xfrm>
          <a:prstGeom prst="ellipse">
            <a:avLst/>
          </a:prstGeom>
          <a:solidFill>
            <a:srgbClr val="142B6F"/>
          </a:solidFill>
          <a:ln w="12700">
            <a:solidFill>
              <a:srgbClr val="142B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75720" y="1664208"/>
            <a:ext cx="219456" cy="21945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42B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21440" y="1709928"/>
            <a:ext cx="128016" cy="128016"/>
          </a:xfrm>
          <a:prstGeom prst="ellipse">
            <a:avLst/>
          </a:prstGeom>
          <a:solidFill>
            <a:srgbClr val="142B6F"/>
          </a:solidFill>
          <a:ln w="12700">
            <a:solidFill>
              <a:srgbClr val="142B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" y="2679192"/>
            <a:ext cx="301752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1065713" y="1801368"/>
            <a:ext cx="410007" cy="0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" y="2446493"/>
            <a:ext cx="731520" cy="493775"/>
          </a:xfrm>
          <a:prstGeom prst="roundRect">
            <a:avLst>
              <a:gd name="adj" fmla="val 14815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538" y="2588224"/>
            <a:ext cx="795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2404556" y="2441763"/>
            <a:ext cx="795528" cy="447269"/>
          </a:xfrm>
          <a:prstGeom prst="roundRect">
            <a:avLst>
              <a:gd name="adj" fmla="val 14815"/>
            </a:avLst>
          </a:prstGeom>
          <a:solidFill>
            <a:srgbClr val="F1EAFE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260604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已提交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3804062" y="2447754"/>
            <a:ext cx="862531" cy="441278"/>
          </a:xfrm>
          <a:prstGeom prst="roundRect">
            <a:avLst>
              <a:gd name="adj" fmla="val 14815"/>
            </a:avLst>
          </a:prstGeom>
          <a:solidFill>
            <a:srgbClr val="FEF3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260604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待审核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5791202" y="1599964"/>
            <a:ext cx="1554480" cy="493776"/>
          </a:xfrm>
          <a:prstGeom prst="roundRect">
            <a:avLst>
              <a:gd name="adj" fmla="val 14815"/>
            </a:avLst>
          </a:prstGeom>
          <a:solidFill>
            <a:srgbClr val="E8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18634" y="17647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审批通过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6400800" y="3291840"/>
            <a:ext cx="1554480" cy="493776"/>
          </a:xfrm>
          <a:prstGeom prst="roundRect">
            <a:avLst>
              <a:gd name="adj" fmla="val 14815"/>
            </a:avLst>
          </a:prstGeom>
          <a:solidFill>
            <a:srgbClr val="FDECEC"/>
          </a:solidFill>
          <a:ln w="15240">
            <a:solidFill>
              <a:srgbClr val="E548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438144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审批驳回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8122922" y="1568196"/>
            <a:ext cx="1051560" cy="480060"/>
          </a:xfrm>
          <a:prstGeom prst="roundRect">
            <a:avLst>
              <a:gd name="adj" fmla="val 14815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174650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账号已开通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10014153" y="1554480"/>
            <a:ext cx="1051560" cy="493776"/>
          </a:xfrm>
          <a:prstGeom prst="roundRect">
            <a:avLst>
              <a:gd name="adj" fmla="val 14815"/>
            </a:avLst>
          </a:prstGeom>
          <a:solidFill>
            <a:srgbClr val="E8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38535" y="1742247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可提交作业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3833332" y="4089102"/>
            <a:ext cx="1162760" cy="480060"/>
          </a:xfrm>
          <a:prstGeom prst="roundRect">
            <a:avLst>
              <a:gd name="adj" fmla="val 14815"/>
            </a:avLst>
          </a:prstGeom>
          <a:solidFill>
            <a:srgbClr val="F1EAFE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62121" y="423390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修改后重提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914400" y="5577840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状态图强调的是“申请单对象”本身的状态变化，而不是整条业务流程上的所有参与者。</a:t>
            </a:r>
            <a:endParaRPr lang="en-US" sz="108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8C770B69-626D-2580-1EA4-1E7FEB98BCCE}"/>
              </a:ext>
            </a:extLst>
          </p:cNvPr>
          <p:cNvSpPr/>
          <p:nvPr/>
        </p:nvSpPr>
        <p:spPr>
          <a:xfrm flipV="1">
            <a:off x="4218852" y="2889032"/>
            <a:ext cx="0" cy="1197628"/>
          </a:xfrm>
          <a:prstGeom prst="line">
            <a:avLst/>
          </a:prstGeom>
          <a:noFill/>
          <a:ln w="15240">
            <a:solidFill>
              <a:srgbClr val="142B6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互动Q3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课堂互动问题 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8630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572768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020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如果老师追问“申请单当前处于什么阶段”，哪一种图最直接？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87121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289864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2862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状态图，因为它展示单个对象的状态变化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F1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675888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0332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7632" y="36667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部署图，因为它展示服务器节点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8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480560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5079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7632" y="44714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参考文献页，因为它展示资料来源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顺序图：把消息交互按时间顺序讲清楚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" y="1527048"/>
            <a:ext cx="29900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顺序图是一种交互图，强调对象之间消息发生的先后顺序。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10972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225296"/>
            <a:ext cx="1449166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3" y="1252728"/>
            <a:ext cx="12899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适合本项目的场景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52544" y="1527048"/>
            <a:ext cx="31729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用户提交申请后，前端、申请服务、审批服务、通知服务如何一步步配合。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0972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1225296"/>
            <a:ext cx="1271962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1252728"/>
            <a:ext cx="105597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它帮助讲什么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91856" y="1527048"/>
            <a:ext cx="32186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帮助说明接口调用、职责分工、系统响应链路。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10561320" cy="1719072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93008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一句区分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9966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顺序图看“时间顺序”，协作图看“对象网络”；二者都讲交互，但关注点不同。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项目顺序图：资源申请提交后的服务交互顺序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0" y="1097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19786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0" y="1444752"/>
            <a:ext cx="0" cy="38404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097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19786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门户前端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1444752"/>
            <a:ext cx="0" cy="38404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97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19786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申请服务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1444752"/>
            <a:ext cx="0" cy="38404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1097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19786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审批服务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1444752"/>
            <a:ext cx="0" cy="38404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097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7072" y="119786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1444752"/>
            <a:ext cx="0" cy="38404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87000" y="1097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14432" y="1197864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通知服务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835640" y="1444752"/>
            <a:ext cx="0" cy="38404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1874520"/>
            <a:ext cx="1828800" cy="0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691640" y="1709928"/>
            <a:ext cx="1737360" cy="1280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填写并提交申请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331720"/>
            <a:ext cx="187452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520440" y="2167128"/>
            <a:ext cx="1783080" cy="1280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创建申请单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2788920"/>
            <a:ext cx="182880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394960" y="2624328"/>
            <a:ext cx="1737360" cy="1280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生成审批任务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78040" y="3246120"/>
            <a:ext cx="192024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223760" y="2916936"/>
            <a:ext cx="1828800" cy="29260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</a:t>
            </a:r>
            <a:r>
              <a:rPr lang="zh-CN" altLang="en-US" sz="800" dirty="0"/>
              <a:t>推送审批任务 </a:t>
            </a:r>
            <a:r>
              <a:rPr lang="en-US" altLang="zh-CN" sz="800" dirty="0"/>
              <a:t>/ </a:t>
            </a:r>
            <a:r>
              <a:rPr lang="zh-CN" altLang="en-US" sz="800" dirty="0"/>
              <a:t>请求审批处理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7178040" y="3703319"/>
            <a:ext cx="1920240" cy="1"/>
          </a:xfrm>
          <a:prstGeom prst="line">
            <a:avLst/>
          </a:prstGeom>
          <a:noFill/>
          <a:ln w="15240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315200" y="3503098"/>
            <a:ext cx="1645920" cy="1280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返回处理结果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14400" y="5577840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顺序图适合把“谁先调用谁、返回什么结果”解释清楚，因此非常适合讲接口与服务边界。</a:t>
            </a:r>
            <a:endParaRPr lang="en-US" sz="1080" dirty="0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51F5740F-D1A1-5C64-D45D-05F45FC59005}"/>
              </a:ext>
            </a:extLst>
          </p:cNvPr>
          <p:cNvSpPr/>
          <p:nvPr/>
        </p:nvSpPr>
        <p:spPr>
          <a:xfrm>
            <a:off x="7198640" y="4268776"/>
            <a:ext cx="363700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FAAE99F0-A500-9776-5AB1-1E19B481CEA8}"/>
              </a:ext>
            </a:extLst>
          </p:cNvPr>
          <p:cNvSpPr/>
          <p:nvPr/>
        </p:nvSpPr>
        <p:spPr>
          <a:xfrm>
            <a:off x="7383780" y="4104183"/>
            <a:ext cx="1645920" cy="1280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000" dirty="0"/>
              <a:t>6. </a:t>
            </a:r>
            <a:r>
              <a:rPr lang="zh-CN" altLang="en-US" sz="1000" dirty="0"/>
              <a:t>发送结果通知</a:t>
            </a:r>
            <a:endParaRPr lang="en-US" sz="950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53757AEE-A94E-22DF-5830-569DA72C79A3}"/>
              </a:ext>
            </a:extLst>
          </p:cNvPr>
          <p:cNvSpPr/>
          <p:nvPr/>
        </p:nvSpPr>
        <p:spPr>
          <a:xfrm flipH="1">
            <a:off x="1645920" y="5084060"/>
            <a:ext cx="9189718" cy="71675"/>
          </a:xfrm>
          <a:prstGeom prst="line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6787590A-038D-6C01-6232-800EFECA071A}"/>
              </a:ext>
            </a:extLst>
          </p:cNvPr>
          <p:cNvSpPr/>
          <p:nvPr/>
        </p:nvSpPr>
        <p:spPr>
          <a:xfrm>
            <a:off x="7269480" y="4890555"/>
            <a:ext cx="1645920" cy="1280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000" dirty="0"/>
              <a:t>7. </a:t>
            </a:r>
            <a:r>
              <a:rPr lang="zh-CN" altLang="en-US" sz="1000" dirty="0"/>
              <a:t>邮件</a:t>
            </a:r>
            <a:r>
              <a:rPr lang="en-US" altLang="zh-CN" sz="1000" dirty="0"/>
              <a:t>/</a:t>
            </a:r>
            <a:r>
              <a:rPr lang="zh-CN" altLang="en-US" sz="1000" dirty="0"/>
              <a:t>站内信通知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协作图：用对象网络展示“谁和谁协同工作”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" y="1527048"/>
            <a:ext cx="29900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协作图（Communication / Collaboration Diagram）同样属于交互图，但更强调对象之间的组织关系。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10972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225296"/>
            <a:ext cx="1184306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252728"/>
            <a:ext cx="1037686" cy="12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和顺序图的关系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52544" y="1527048"/>
            <a:ext cx="31729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它们表达的是同一类场景；顺序图更强调时间轴，协作图更强调对象网络与消息编号。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0972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1225296"/>
            <a:ext cx="1265656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5" y="1252728"/>
            <a:ext cx="106858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为什么还要讲它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91856" y="1527048"/>
            <a:ext cx="32186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因为有些同学更容易从“谁跟谁连起来”理解系统协作，而不是先看时间轴。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10561320" cy="1719072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93008"/>
            <a:ext cx="950976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859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课堂提醒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9966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顺序图和协作图不是互相否定，而是同一业务场景的两种观察角度。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项目协作图：同一申请场景下的对象协作网络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 flipV="1">
            <a:off x="2358994" y="1931748"/>
            <a:ext cx="0" cy="1346534"/>
          </a:xfrm>
          <a:prstGeom prst="line">
            <a:avLst/>
          </a:prstGeom>
          <a:noFill/>
          <a:ln w="1651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253595" y="2345200"/>
            <a:ext cx="1005840" cy="1922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1:提交申请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189680" y="1696212"/>
            <a:ext cx="1397408" cy="0"/>
          </a:xfrm>
          <a:prstGeom prst="line">
            <a:avLst/>
          </a:prstGeom>
          <a:noFill/>
          <a:ln w="1651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19020" y="1396588"/>
            <a:ext cx="818230" cy="2329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2:创建申请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 flipV="1">
            <a:off x="5821527" y="1750682"/>
            <a:ext cx="1406647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83597" y="1477938"/>
            <a:ext cx="818230" cy="2329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3:派发审批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736933" y="1842516"/>
            <a:ext cx="1696369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08999" y="1970532"/>
            <a:ext cx="952237" cy="225447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4:</a:t>
            </a:r>
            <a:r>
              <a:rPr lang="zh-CN" altLang="en-US" sz="1000" dirty="0"/>
              <a:t>请求审批处理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8736932" y="1540764"/>
            <a:ext cx="1696370" cy="0"/>
          </a:xfrm>
          <a:prstGeom prst="line">
            <a:avLst/>
          </a:prstGeom>
          <a:noFill/>
          <a:ln w="16510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076366" y="1175830"/>
            <a:ext cx="1017507" cy="2945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000" dirty="0"/>
              <a:t>5: </a:t>
            </a:r>
            <a:r>
              <a:rPr lang="zh-CN" altLang="en-US" sz="1000" dirty="0"/>
              <a:t>返回处理结果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846820" y="4764024"/>
            <a:ext cx="0" cy="0"/>
          </a:xfrm>
          <a:prstGeom prst="line">
            <a:avLst/>
          </a:prstGeom>
          <a:noFill/>
          <a:ln w="1651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52661" y="2432541"/>
            <a:ext cx="829893" cy="344948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6:发送通知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718283" y="3278282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EAF1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3147" y="3459348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申请人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699207" y="1447038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1EAFE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71775" y="1622666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门户前端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87087" y="1488895"/>
            <a:ext cx="1234440" cy="445061"/>
          </a:xfrm>
          <a:prstGeom prst="roundRect">
            <a:avLst>
              <a:gd name="adj" fmla="val 11538"/>
            </a:avLst>
          </a:prstGeom>
          <a:solidFill>
            <a:srgbClr val="FEF3D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8262" y="1664681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申请服务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228174" y="1495044"/>
            <a:ext cx="1508760" cy="475488"/>
          </a:xfrm>
          <a:prstGeom prst="roundRect">
            <a:avLst>
              <a:gd name="adj" fmla="val 11538"/>
            </a:avLst>
          </a:prstGeom>
          <a:solidFill>
            <a:srgbClr val="E8F7EE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5606" y="1650492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审批服务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0433304" y="1476756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DECEC"/>
          </a:solidFill>
          <a:ln w="15240">
            <a:solidFill>
              <a:srgbClr val="E548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60736" y="1647181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310628" y="3186524"/>
            <a:ext cx="1508760" cy="567245"/>
          </a:xfrm>
          <a:prstGeom prst="roundRect">
            <a:avLst>
              <a:gd name="adj" fmla="val 11538"/>
            </a:avLst>
          </a:prstGeom>
          <a:solidFill>
            <a:srgbClr val="E7FAFD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8060" y="3388010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通知服务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14400" y="5559552"/>
            <a:ext cx="10195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协作图比顺序图更像“对象关系网”，因此适合讲协同关系与消息编号。</a:t>
            </a:r>
            <a:endParaRPr lang="en-US" sz="108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2E8F4962-789C-16DC-9877-4DB5B8DEB074}"/>
              </a:ext>
            </a:extLst>
          </p:cNvPr>
          <p:cNvSpPr/>
          <p:nvPr/>
        </p:nvSpPr>
        <p:spPr>
          <a:xfrm>
            <a:off x="8040416" y="1979676"/>
            <a:ext cx="0" cy="1179734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A113AD2E-B85E-07DC-69D1-F9BBF3B3F535}"/>
              </a:ext>
            </a:extLst>
          </p:cNvPr>
          <p:cNvSpPr/>
          <p:nvPr/>
        </p:nvSpPr>
        <p:spPr>
          <a:xfrm flipH="1">
            <a:off x="3025873" y="3527064"/>
            <a:ext cx="4257321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5B65EDB-8202-4FE1-DA58-1C32A8B83A3B}"/>
              </a:ext>
            </a:extLst>
          </p:cNvPr>
          <p:cNvSpPr/>
          <p:nvPr/>
        </p:nvSpPr>
        <p:spPr>
          <a:xfrm>
            <a:off x="5246677" y="3275762"/>
            <a:ext cx="1366823" cy="171195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000" dirty="0"/>
              <a:t>7: </a:t>
            </a:r>
            <a:r>
              <a:rPr lang="zh-CN" altLang="en-US" sz="1000" dirty="0"/>
              <a:t>邮件</a:t>
            </a:r>
            <a:r>
              <a:rPr lang="en-US" altLang="zh-CN" sz="1000" dirty="0"/>
              <a:t>/</a:t>
            </a:r>
            <a:r>
              <a:rPr lang="zh-CN" altLang="en-US" sz="1000" dirty="0"/>
              <a:t>站内信通知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互动Q4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课堂互动问题 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8630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572768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020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下面哪种说法最能区分“顺序图”和“协作图”？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87121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289864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2862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顺序图更看时间顺序，协作图更看对象之间的协作网络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F1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675888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0332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7632" y="36667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顺序图主要看数据库，协作图主要看页面美观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8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480560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5079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7632" y="44714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二者完全重复，没有任何区别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部署图：说明系统最终运行在什么节点与环境上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097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225296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527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" y="1527048"/>
            <a:ext cx="29900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部署图展示运行时节点配置，以及组件或服务部署在哪些节点上。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10972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1EA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225296"/>
            <a:ext cx="1348267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3" y="1252728"/>
            <a:ext cx="117011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本项目里最重要的点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52544" y="1527048"/>
            <a:ext cx="31729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门户层不是算力资源层；中间还要有业务服务层与数据支撑层。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0972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8F7E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5" y="1225296"/>
            <a:ext cx="1423311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1252728"/>
            <a:ext cx="1106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它帮助讲什么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91856" y="1527048"/>
            <a:ext cx="321868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帮助讲清浏览器、Web层、业务服务、调度器、数据库之间的部署与连接。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10561320" cy="1719072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93008"/>
            <a:ext cx="932688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20440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一句提醒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9966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部署图回答的是“系统怎么运行”，不是“用户怎么使用”。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项目部署图：门户、业务服务与超算资源的运行分层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91640" y="2743200"/>
            <a:ext cx="1623060" cy="0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423160" y="2407237"/>
            <a:ext cx="891540" cy="21945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74920" y="2743200"/>
            <a:ext cx="128016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97780" y="2321630"/>
            <a:ext cx="1152144" cy="339274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 / </a:t>
            </a:r>
            <a:r>
              <a:rPr lang="zh-CN" altLang="en-US" sz="900" dirty="0">
                <a:solidFill>
                  <a:srgbClr val="8B5C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消息通信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V="1">
            <a:off x="8183880" y="2194560"/>
            <a:ext cx="10515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971046" y="1696212"/>
            <a:ext cx="1515854" cy="42976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调度 / 文件 / 监控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29016" y="4136872"/>
            <a:ext cx="1106424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924301" y="3708997"/>
            <a:ext cx="1515854" cy="35661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SQL / 日志 / 统计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276" y="1817766"/>
            <a:ext cx="1804416" cy="1787806"/>
          </a:xfrm>
          <a:prstGeom prst="cube">
            <a:avLst/>
          </a:prstGeom>
          <a:solidFill>
            <a:srgbClr val="EAF1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937583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 / 用户端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1895" y="2295144"/>
            <a:ext cx="1298448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注册登录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申请提交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作业查看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337560" y="1828800"/>
            <a:ext cx="1737360" cy="1737360"/>
          </a:xfrm>
          <a:prstGeom prst="cube">
            <a:avLst/>
          </a:prstGeom>
          <a:solidFill>
            <a:srgbClr val="F1EAFE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193852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 Web 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82696" y="2287183"/>
            <a:ext cx="1481328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前端页面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权限展示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消息通知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55080" y="1417320"/>
            <a:ext cx="1828800" cy="3337560"/>
          </a:xfrm>
          <a:prstGeom prst="cube">
            <a:avLst/>
          </a:prstGeom>
          <a:solidFill>
            <a:srgbClr val="FEF3D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152704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业务服务层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71260" y="2214503"/>
            <a:ext cx="1572768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申请服务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审批服务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作业服务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账单/工单服务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256776" y="1020029"/>
            <a:ext cx="2011680" cy="1691640"/>
          </a:xfrm>
          <a:prstGeom prst="cube">
            <a:avLst/>
          </a:prstGeom>
          <a:solidFill>
            <a:srgbClr val="E8F7EE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1124713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超算资源 / 调度器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28760" y="1500089"/>
            <a:ext cx="1755648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集群节点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队列系统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运行监控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235440" y="3154680"/>
            <a:ext cx="2011680" cy="1600200"/>
          </a:xfrm>
          <a:prstGeom prst="cube">
            <a:avLst/>
          </a:prstGeom>
          <a:solidFill>
            <a:srgbClr val="EAF1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0304" y="326440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 / 日志 / 统计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235440" y="3592804"/>
            <a:ext cx="1755648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用户数据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申请记录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账单报表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68680" y="562356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部署图的重点：门户层、业务服务层和超算资源层分开表达，才能把系统运行结构讲清楚。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0424160" y="56235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引注：[8][9]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六种图如何形成一条完整的建模链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600200" cy="2057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1792224"/>
            <a:ext cx="310896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8196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1488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56032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先看角色和功能边界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331720" y="2624328"/>
            <a:ext cx="320040" cy="0"/>
          </a:xfrm>
          <a:prstGeom prst="line">
            <a:avLst/>
          </a:prstGeom>
          <a:noFill/>
          <a:ln w="1651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51760" y="1600200"/>
            <a:ext cx="1600200" cy="2057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792224"/>
            <a:ext cx="310896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8196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4912" y="21488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256032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再看对象和关系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251960" y="2624328"/>
            <a:ext cx="320040" cy="0"/>
          </a:xfrm>
          <a:prstGeom prst="line">
            <a:avLst/>
          </a:prstGeom>
          <a:noFill/>
          <a:ln w="1651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1600200"/>
            <a:ext cx="1600200" cy="2057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1792224"/>
            <a:ext cx="310896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18196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5152" y="21488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1728" y="256032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再看关键对象的生命周期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172200" y="2624328"/>
            <a:ext cx="320040" cy="0"/>
          </a:xfrm>
          <a:prstGeom prst="line">
            <a:avLst/>
          </a:prstGeom>
          <a:noFill/>
          <a:ln w="1651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1600200"/>
            <a:ext cx="1600200" cy="2057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67728" y="1792224"/>
            <a:ext cx="310896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18196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65392" y="21488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01968" y="256032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再看时间顺序上的服务交互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092440" y="2624328"/>
            <a:ext cx="320040" cy="0"/>
          </a:xfrm>
          <a:prstGeom prst="line">
            <a:avLst/>
          </a:prstGeom>
          <a:noFill/>
          <a:ln w="1651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0" y="1600200"/>
            <a:ext cx="1600200" cy="2057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7780">
            <a:solidFill>
              <a:srgbClr val="E548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7968" y="1792224"/>
            <a:ext cx="310896" cy="201168"/>
          </a:xfrm>
          <a:prstGeom prst="roundRect">
            <a:avLst>
              <a:gd name="adj" fmla="val 36364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33688" y="18196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85632" y="21488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22208" y="256032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再看对象协作网络与消息编号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10012680" y="2624328"/>
            <a:ext cx="320040" cy="0"/>
          </a:xfrm>
          <a:prstGeom prst="line">
            <a:avLst/>
          </a:prstGeom>
          <a:noFill/>
          <a:ln w="1651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332720" y="1600200"/>
            <a:ext cx="1600200" cy="2057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778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08208" y="1792224"/>
            <a:ext cx="310896" cy="201168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53928" y="1819656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405872" y="214884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42448" y="256032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最后看系统运行在什么节点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868680" y="4251960"/>
            <a:ext cx="103327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4572000"/>
            <a:ext cx="9966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结论：这 6 种图不是互相替代，而是从“需求边界—对象结构—状态变化—交互过程—运行部署”逐层把同一个项目讲完整。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互动Q5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课堂互动问题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8630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5240">
            <a:solidFill>
              <a:srgbClr val="D6D9E0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572768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00200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96596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如果是课程项目汇报，你觉得最合理的使用方式是什么？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2871216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289864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27632" y="2862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6 种图都孤立地画出来，不需要互相关联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F1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675888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703320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27632" y="366674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按“角色—对象—状态—交互—部署”的链路把同一项目讲完整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E8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480560"/>
            <a:ext cx="384048" cy="201168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50799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7632" y="447141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只讲参考文献，不讲图本身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组内成员分工与演示安排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115568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298448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25880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吴易骏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29968" y="1234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总体结构与统稿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3977640" y="12344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负责本次 UML基础I 专题逻辑、整体页序、演示收束。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68680" y="2048256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F1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231136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58568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肖泓宇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29968" y="2167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资料与引用核查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3977640" y="2167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 UML 基础定义、文献来源、引用页和规范检查。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68680" y="2980944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FEF3D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163824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191256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蒋长麟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29968" y="3099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结构图建模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3977640" y="309981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负责用例图、类图、部署图与项目匹配设计。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68680" y="3913632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E8F7EE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09651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123944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陈许恺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29968" y="40325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行为与交互图建模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3977640" y="40325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负责状态图、顺序图、协作图及讲述逻辑。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68680" y="4846320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EAF1FF"/>
          </a:solidFill>
          <a:ln w="13970">
            <a:solidFill>
              <a:srgbClr val="2F6B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" y="5029200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056632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王涛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29968" y="4965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互动设计与答疑准备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3977640" y="496519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负责互动问题设置、页面整合、美化和现场补充。</a:t>
            </a:r>
            <a:endParaRPr lang="en-US" sz="11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组内成员评分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" y="96012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评分说明：采用 5 分制。5 = 完成突出，4 = 按时完成，3 = 基本完成，2 = 参与较少，1 = 未完成。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187452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08176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姓名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2743200" y="1325880"/>
            <a:ext cx="288036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408176"/>
            <a:ext cx="2825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主要任务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669280" y="1325880"/>
            <a:ext cx="219456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6712" y="1408176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完成情况说明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863840" y="1325880"/>
            <a:ext cx="132588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140817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自评分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372600" y="1325880"/>
            <a:ext cx="1508760" cy="384048"/>
          </a:xfrm>
          <a:prstGeom prst="rect">
            <a:avLst/>
          </a:prstGeom>
          <a:solidFill>
            <a:srgbClr val="142B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1408176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组评分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22960" y="1709928"/>
            <a:ext cx="18745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1709928"/>
            <a:ext cx="2880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709928"/>
            <a:ext cx="21945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1709928"/>
            <a:ext cx="1325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1709928"/>
            <a:ext cx="1508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1965960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吴易骏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798064" y="1856232"/>
            <a:ext cx="27706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总体结构与统稿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24144" y="1856232"/>
            <a:ext cx="2084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完成主题结构整合与收尾检查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7882128" y="196596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390888" y="1965960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4.9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22960" y="2459736"/>
            <a:ext cx="187452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2459736"/>
            <a:ext cx="288036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2459736"/>
            <a:ext cx="219456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2459736"/>
            <a:ext cx="132588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72600" y="2459736"/>
            <a:ext cx="150876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2715768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肖泓宇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2798064" y="2606040"/>
            <a:ext cx="27706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资料与引用核查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24144" y="2606040"/>
            <a:ext cx="2084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完成概念校核、参考文献与引注复核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7882128" y="271576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390888" y="271576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4.9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822960" y="3209544"/>
            <a:ext cx="18745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3209544"/>
            <a:ext cx="2880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3209544"/>
            <a:ext cx="21945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3209544"/>
            <a:ext cx="1325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72600" y="3209544"/>
            <a:ext cx="1508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" y="3465576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蒋长麟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2798064" y="3355848"/>
            <a:ext cx="27706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结构图建模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24144" y="3355848"/>
            <a:ext cx="2084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完成用例图、类图、部署图设计</a:t>
            </a:r>
            <a:endParaRPr lang="en-US" sz="1010" dirty="0"/>
          </a:p>
        </p:txBody>
      </p:sp>
      <p:sp>
        <p:nvSpPr>
          <p:cNvPr id="46" name="Text 44"/>
          <p:cNvSpPr/>
          <p:nvPr/>
        </p:nvSpPr>
        <p:spPr>
          <a:xfrm>
            <a:off x="7882128" y="346557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9390888" y="3465576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822960" y="3959352"/>
            <a:ext cx="187452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3959352"/>
            <a:ext cx="288036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3959352"/>
            <a:ext cx="219456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0" y="3959352"/>
            <a:ext cx="132588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3959352"/>
            <a:ext cx="1508760" cy="749808"/>
          </a:xfrm>
          <a:prstGeom prst="rect">
            <a:avLst/>
          </a:prstGeom>
          <a:solidFill>
            <a:srgbClr val="F9FAFB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" y="4215384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陈许恺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2798064" y="4105656"/>
            <a:ext cx="27706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行为与交互图建模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724144" y="4105656"/>
            <a:ext cx="2084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完成状态图、顺序图、协作图设计</a:t>
            </a:r>
            <a:endParaRPr lang="en-US" sz="1010" dirty="0"/>
          </a:p>
        </p:txBody>
      </p:sp>
      <p:sp>
        <p:nvSpPr>
          <p:cNvPr id="56" name="Text 54"/>
          <p:cNvSpPr/>
          <p:nvPr/>
        </p:nvSpPr>
        <p:spPr>
          <a:xfrm>
            <a:off x="7882128" y="4215384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20" dirty="0"/>
          </a:p>
        </p:txBody>
      </p:sp>
      <p:sp>
        <p:nvSpPr>
          <p:cNvPr id="57" name="Text 55"/>
          <p:cNvSpPr/>
          <p:nvPr/>
        </p:nvSpPr>
        <p:spPr>
          <a:xfrm>
            <a:off x="9390888" y="4215384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822960" y="4709160"/>
            <a:ext cx="18745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4709160"/>
            <a:ext cx="2880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9280" y="4709160"/>
            <a:ext cx="21945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63840" y="4709160"/>
            <a:ext cx="13258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72600" y="4709160"/>
            <a:ext cx="1508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9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9536" y="4965192"/>
            <a:ext cx="1801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王涛</a:t>
            </a:r>
            <a:endParaRPr lang="en-US" sz="1120" dirty="0"/>
          </a:p>
        </p:txBody>
      </p:sp>
      <p:sp>
        <p:nvSpPr>
          <p:cNvPr id="64" name="Text 62"/>
          <p:cNvSpPr/>
          <p:nvPr/>
        </p:nvSpPr>
        <p:spPr>
          <a:xfrm>
            <a:off x="2798064" y="4855464"/>
            <a:ext cx="27706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互动设计与答疑准备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724144" y="4855464"/>
            <a:ext cx="2084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完成互动题、排版整合与答疑准备</a:t>
            </a:r>
            <a:endParaRPr lang="en-US" sz="1010" dirty="0"/>
          </a:p>
        </p:txBody>
      </p:sp>
      <p:sp>
        <p:nvSpPr>
          <p:cNvPr id="66" name="Text 64"/>
          <p:cNvSpPr/>
          <p:nvPr/>
        </p:nvSpPr>
        <p:spPr>
          <a:xfrm>
            <a:off x="7882128" y="496519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20" dirty="0"/>
          </a:p>
        </p:txBody>
      </p:sp>
      <p:sp>
        <p:nvSpPr>
          <p:cNvPr id="67" name="Text 65"/>
          <p:cNvSpPr/>
          <p:nvPr/>
        </p:nvSpPr>
        <p:spPr>
          <a:xfrm>
            <a:off x="9390888" y="4965192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</a:t>
            </a:r>
            <a:endParaRPr lang="en-US" sz="11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参考文献与资料来源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256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10561320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3970">
            <a:solidFill>
              <a:srgbClr val="D6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234440"/>
            <a:ext cx="10012680" cy="4526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OMG. UML 2.5.1 About-UML. https://www.omg.org/spec/UML/2.5.1/About-UML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Visual Paradigm. What is Use Case Diagram?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 Visual Paradigm. What is Class Diagram?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[4] Visual Paradigm. What is State Machine Diagram?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[5] Visual Paradigm. What is Sequence Diagram?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[6] Visual Paradigm. What is Communication Diagram?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[7] Visual Paradigm. What is Deployment Diagram?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[8] Barcelona Supercomputing Center 数据中心图片（EOSC 新闻页引图）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[9] TACC Analysis Portal 文档与截图：https://docs.tacc.utexas.edu/tutorials/TAP/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829800" y="58704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本页即参考文献页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谢谢大家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058400" y="62636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2401</Words>
  <Application>Microsoft Office PowerPoint</Application>
  <PresentationFormat>宽屏</PresentationFormat>
  <Paragraphs>533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UML基础I：用例图、类图、状态图、顺序图、协作图、部署图</dc:title>
  <dc:subject>UML基础I：结合超算中心运营管理门户网站</dc:subject>
  <dc:creator>OpenAI</dc:creator>
  <cp:lastModifiedBy>YIJUN WU</cp:lastModifiedBy>
  <cp:revision>4</cp:revision>
  <dcterms:created xsi:type="dcterms:W3CDTF">2026-04-02T07:04:59Z</dcterms:created>
  <dcterms:modified xsi:type="dcterms:W3CDTF">2026-04-03T02:31:55Z</dcterms:modified>
</cp:coreProperties>
</file>